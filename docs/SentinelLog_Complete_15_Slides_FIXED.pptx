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9"/>
    <p:sldId id="267" r:id="rId20"/>
    <p:sldId id="268" r:id="rId21"/>
    <p:sldId id="269" r:id="rId22"/>
    <p:sldId id="270" r:id="rId23"/>
  </p:sldIdLst>
  <p:notesMasterIdLst>
    <p:notesMasterId r:id="rId12"/>
  </p:notesMasterIdLst>
  <p:sldSz cx="12191695" cy="6858000"/>
  <p:notesSz cx="6858000" cy="12191695"/>
  <p:embeddedFontLst>
    <p:embeddedFont>
      <p:font typeface="Arimo"/>
      <p:regular r:id="rId201314"/>
    </p:embeddedFont>
    <p:embeddedFont>
      <p:font typeface="Arimo Bold"/>
      <p:regular r:id="rId2013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01314" Type="http://schemas.openxmlformats.org/officeDocument/2006/relationships/font" Target="fonts/201314.fntdata"/><Relationship Id="rId201315" Type="http://schemas.openxmlformats.org/officeDocument/2006/relationships/font" Target="fonts/2013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SentinelLog as an open, extensible detection engineering project authored by Debraj Dutta. Emphasize that the focus is bridging raw authentication logs and structured, triage-ready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failure of traditional raw log triage. Highlight why single lines of syslog don't convey intent, and how distributed or multi-account behavior goes unseen without stateful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5 pillars of the tool. Emphasize that SentinelLog is an engineering foundation designed to be read, tested, and modified by detection engineers and SOC analysts.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data flow from left to right. Emphasize that the parser decouples format-specific logging quirks from the detection rules, making the engine resilient to underlying log transport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rows to demonstrate how diverse input representations map to a clean dataclass. Emphasize that decoupling log parsing from detection rules is a core tenet of modern detection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stateless log analysis with stateful stream correlation. Make it clear that contextual correlation is what allows the engine to distinguish routine user error from genuine attack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AUTH-001. Point out the exact threshold: 5 failures within 300 seconds for the exact same source IP and target username. Clarify that this is categorized as Medium severity because it is an investigation signal, not automated proof of malice.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AUTH-002 as a classic defense against horizontal password spraying. Highlight that single-account thresholds completely miss this technique because each account only experiences a single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AUTH-003. Emphasize that while single successes generate zero alert volume in typical SIEMs, pairing a success with its immediately preceding cluster of failures is one of the highest-fidelity indicators of compromised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final deliverable. Point to the structured alert containing the exact synthetic IP 192.0.2.10 and metadata. Close with the GitHub repository link and credit Debraj Dutta.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hyperlink" Target="https://gamma.app/?utm_source=made-with-gamma" TargetMode="External"/><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hyperlink" Target="https://gamma.app/?utm_source=made-with-gamma" TargetMode="External"/><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pic>
        <p:nvPicPr>
          <p:cNvPr id="3"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FFFFF"/>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320767" y="2313186"/>
            <a:ext cx="50799" cy="1538883"/>
          </a:xfrm>
          <a:prstGeom prst="rect">
            <a:avLst/>
          </a:prstGeom>
          <a:solidFill>
            <a:srgbClr val="C0102F"/>
          </a:solidFill>
          <a:ln/>
        </p:spPr>
        <p:txBody>
          <a:bodyPr/>
          <a:p/>
        </p:txBody>
      </p:sp>
      <p:sp>
        <p:nvSpPr>
          <p:cNvPr id="3" name="Text 1"/>
          <p:cNvSpPr/>
          <p:nvPr/>
        </p:nvSpPr>
        <p:spPr>
          <a:xfrm>
            <a:off x="1625559" y="2338586"/>
            <a:ext cx="5755536"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FFFFFF"/>
                </a:solidFill>
                <a:latin typeface="Arimo Bold" pitchFamily="34" charset="0"/>
                <a:ea typeface="Arimo Bold" pitchFamily="34" charset="-122"/>
                <a:cs typeface="Arimo Bold" pitchFamily="34" charset="-120"/>
              </a:rPr>
              <a:t>DEFENSIVE AUTHENTICATION MONITORING &amp; DETECTION ENGINEERING</a:t>
            </a:r>
            <a:endParaRPr lang="en-US" sz="950" dirty="0"/>
          </a:p>
        </p:txBody>
      </p:sp>
      <p:sp>
        <p:nvSpPr>
          <p:cNvPr id="4" name="Text 2"/>
          <p:cNvSpPr/>
          <p:nvPr/>
        </p:nvSpPr>
        <p:spPr>
          <a:xfrm>
            <a:off x="1625559" y="2540496"/>
            <a:ext cx="5755536" cy="625773"/>
          </a:xfrm>
          <a:prstGeom prst="rect">
            <a:avLst/>
          </a:prstGeom>
          <a:noFill/>
          <a:ln/>
        </p:spPr>
        <p:txBody>
          <a:bodyPr wrap="none" lIns="0" tIns="0" rIns="0" bIns="0" rtlCol="0" anchor="t"/>
          <a:lstStyle/>
          <a:p>
            <a:pPr algn="l" indent="0" marL="0">
              <a:lnSpc>
                <a:spcPct val="93000"/>
              </a:lnSpc>
              <a:buNone/>
            </a:pPr>
            <a:r>
              <a:rPr lang="en-US" sz="4400" b="1" spc="-22" kern="100" dirty="0">
                <a:solidFill>
                  <a:srgbClr val="FFFFFF"/>
                </a:solidFill>
                <a:latin typeface="Arimo Bold" pitchFamily="34" charset="0"/>
                <a:ea typeface="Arimo Bold" pitchFamily="34" charset="-122"/>
                <a:cs typeface="Arimo Bold" pitchFamily="34" charset="-120"/>
              </a:rPr>
              <a:t>SentinelLog</a:t>
            </a:r>
            <a:endParaRPr lang="en-US" sz="4400" dirty="0"/>
          </a:p>
        </p:txBody>
      </p:sp>
      <p:sp>
        <p:nvSpPr>
          <p:cNvPr id="5" name="Text 3"/>
          <p:cNvSpPr/>
          <p:nvPr/>
        </p:nvSpPr>
        <p:spPr>
          <a:xfrm>
            <a:off x="1625559" y="3305969"/>
            <a:ext cx="5755536" cy="495300"/>
          </a:xfrm>
          <a:prstGeom prst="rect">
            <a:avLst/>
          </a:prstGeom>
          <a:noFill/>
          <a:ln/>
        </p:spPr>
        <p:txBody>
          <a:bodyPr wrap="square" lIns="0" tIns="0" rIns="0" bIns="0" rtlCol="0" anchor="t">
            <a:normAutofit/>
          </a:bodyPr>
          <a:lstStyle/>
          <a:p>
            <a:pPr algn="l" indent="0" marL="0">
              <a:lnSpc>
                <a:spcPct val="108000"/>
              </a:lnSpc>
              <a:buNone/>
            </a:pPr>
            <a:r>
              <a:rPr lang="en-US" sz="1500" dirty="0">
                <a:solidFill>
                  <a:srgbClr val="FFFFFF"/>
                </a:solidFill>
                <a:latin typeface="Arimo" pitchFamily="34" charset="0"/>
                <a:ea typeface="Arimo" pitchFamily="34" charset="-122"/>
                <a:cs typeface="Arimo" pitchFamily="34" charset="-120"/>
              </a:rPr>
              <a:t>From raw authentication telemetry to actionable, structured security signals.</a:t>
            </a:r>
            <a:endParaRPr lang="en-US" sz="1500" dirty="0"/>
          </a:p>
        </p:txBody>
      </p:sp>
      <p:sp>
        <p:nvSpPr>
          <p:cNvPr id="6" name="Text 4"/>
          <p:cNvSpPr/>
          <p:nvPr/>
        </p:nvSpPr>
        <p:spPr>
          <a:xfrm>
            <a:off x="1320767" y="4156869"/>
            <a:ext cx="6568315" cy="214610"/>
          </a:xfrm>
          <a:prstGeom prst="rect">
            <a:avLst/>
          </a:prstGeom>
          <a:noFill/>
          <a:ln/>
        </p:spPr>
        <p:txBody>
          <a:bodyPr wrap="none" lIns="0" tIns="0" rIns="0" bIns="0" rtlCol="0" anchor="t"/>
          <a:lstStyle/>
          <a:p>
            <a:pPr algn="l" indent="0" marL="0">
              <a:lnSpc>
                <a:spcPct val="108000"/>
              </a:lnSpc>
              <a:buNone/>
            </a:pPr>
            <a:r>
              <a:rPr lang="en-US" sz="1300" spc="13" kern="100" dirty="0">
                <a:solidFill>
                  <a:srgbClr val="FFFFFF"/>
                </a:solidFill>
                <a:latin typeface="Arimo" pitchFamily="34" charset="0"/>
                <a:ea typeface="Arimo" pitchFamily="34" charset="-122"/>
                <a:cs typeface="Arimo" pitchFamily="34" charset="-120"/>
              </a:rPr>
              <a:t>Python 3.11+ · Rule Engine · Audit Pipeline · Security Operations</a:t>
            </a:r>
            <a:endParaRPr lang="en-US" sz="1300" dirty="0"/>
          </a:p>
        </p:txBody>
      </p:sp>
      <p:sp>
        <p:nvSpPr>
          <p:cNvPr id="7" name="Text 5"/>
          <p:cNvSpPr/>
          <p:nvPr/>
        </p:nvSpPr>
        <p:spPr>
          <a:xfrm>
            <a:off x="1320767" y="5516265"/>
            <a:ext cx="6568315" cy="173335"/>
          </a:xfrm>
          <a:prstGeom prst="rect">
            <a:avLst/>
          </a:prstGeom>
          <a:noFill/>
          <a:ln/>
        </p:spPr>
        <p:txBody>
          <a:bodyPr wrap="none" lIns="0" tIns="0" rIns="0" bIns="0" rtlCol="0" anchor="t"/>
          <a:lstStyle/>
          <a:p>
            <a:pPr algn="l" indent="0" marL="0">
              <a:lnSpc>
                <a:spcPct val="108000"/>
              </a:lnSpc>
              <a:buNone/>
            </a:pPr>
            <a:r>
              <a:rPr lang="en-US" sz="1050" dirty="0">
                <a:solidFill>
                  <a:srgbClr val="FFFFFF"/>
                </a:solidFill>
                <a:latin typeface="Arimo" pitchFamily="34" charset="0"/>
                <a:ea typeface="Arimo" pitchFamily="34" charset="-122"/>
                <a:cs typeface="Arimo" pitchFamily="34" charset="-120"/>
              </a:rPr>
              <a:t>Project Architecture &amp; Detection Strategy · Authored by Debraj Dutta</a:t>
            </a:r>
            <a:endParaRPr lang="en-US" sz="1050" dirty="0"/>
          </a:p>
        </p:txBody>
      </p:sp>
      <p:sp>
        <p:nvSpPr>
          <p:cNvPr id="8" name="Shape 6"/>
          <p:cNvSpPr/>
          <p:nvPr/>
        </p:nvSpPr>
        <p:spPr>
          <a:xfrm>
            <a:off x="8346172" y="5295305"/>
            <a:ext cx="3032744" cy="902295"/>
          </a:xfrm>
          <a:prstGeom prst="rect">
            <a:avLst/>
          </a:prstGeom>
          <a:noFill/>
          <a:ln w="6350">
            <a:solidFill>
              <a:srgbClr val="E6EBF1"/>
            </a:solidFill>
            <a:prstDash val="solid"/>
          </a:ln>
        </p:spPr>
        <p:txBody>
          <a:bodyPr/>
          <a:p/>
        </p:txBody>
      </p:sp>
      <p:sp>
        <p:nvSpPr>
          <p:cNvPr id="9" name="Text 7"/>
          <p:cNvSpPr/>
          <p:nvPr/>
        </p:nvSpPr>
        <p:spPr>
          <a:xfrm>
            <a:off x="8346172" y="5504855"/>
            <a:ext cx="3032744" cy="182860"/>
          </a:xfrm>
          <a:prstGeom prst="rect">
            <a:avLst/>
          </a:prstGeom>
          <a:noFill/>
          <a:ln/>
        </p:spPr>
        <p:txBody>
          <a:bodyPr wrap="none" lIns="0" tIns="0" rIns="0" bIns="0" rtlCol="0" anchor="t"/>
          <a:lstStyle/>
          <a:p>
            <a:pPr algn="ctr" indent="0" marL="0">
              <a:lnSpc>
                <a:spcPct val="100000"/>
              </a:lnSpc>
              <a:buNone/>
            </a:pPr>
            <a:r>
              <a:rPr lang="en-US" sz="1200" b="1" spc="96" kern="100" dirty="0">
                <a:solidFill>
                  <a:srgbClr val="FFFFFF"/>
                </a:solidFill>
                <a:latin typeface="Arimo Bold" pitchFamily="34" charset="0"/>
                <a:ea typeface="Arimo Bold" pitchFamily="34" charset="-122"/>
                <a:cs typeface="Arimo Bold" pitchFamily="34" charset="-120"/>
              </a:rPr>
              <a:t>SENTINELLOG ENGINE</a:t>
            </a:r>
            <a:endParaRPr lang="en-US" sz="1200" dirty="0"/>
          </a:p>
        </p:txBody>
      </p:sp>
      <p:sp>
        <p:nvSpPr>
          <p:cNvPr id="10" name="Text 8"/>
          <p:cNvSpPr/>
          <p:nvPr/>
        </p:nvSpPr>
        <p:spPr>
          <a:xfrm>
            <a:off x="8346172" y="5814715"/>
            <a:ext cx="3032744" cy="173335"/>
          </a:xfrm>
          <a:prstGeom prst="rect">
            <a:avLst/>
          </a:prstGeom>
          <a:noFill/>
          <a:ln/>
        </p:spPr>
        <p:txBody>
          <a:bodyPr wrap="none" lIns="0" tIns="0" rIns="0" bIns="0" rtlCol="0" anchor="t"/>
          <a:lstStyle/>
          <a:p>
            <a:pPr algn="ctr" indent="0" marL="0">
              <a:lnSpc>
                <a:spcPct val="108000"/>
              </a:lnSpc>
              <a:buNone/>
            </a:pPr>
            <a:r>
              <a:rPr lang="en-US" sz="1050" dirty="0">
                <a:solidFill>
                  <a:srgbClr val="FFFFFF"/>
                </a:solidFill>
                <a:latin typeface="Arimo" pitchFamily="34" charset="0"/>
                <a:ea typeface="Arimo" pitchFamily="34" charset="-122"/>
                <a:cs typeface="Arimo" pitchFamily="34" charset="-120"/>
              </a:rPr>
              <a:t>AUTH-001 · AUTH-002 · AUTH-003</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1057374"/>
            <a:ext cx="12191695" cy="6350"/>
          </a:xfrm>
          <a:prstGeom prst="rect">
            <a:avLst/>
          </a:prstGeom>
          <a:solidFill>
            <a:srgbClr val="D5DAE0"/>
          </a:solidFill>
          <a:ln/>
        </p:spPr>
        <p:txBody>
          <a:bodyPr/>
          <a:p/>
        </p:txBody>
      </p:sp>
      <p:sp>
        <p:nvSpPr>
          <p:cNvPr id="3" name="Text 1"/>
          <p:cNvSpPr/>
          <p:nvPr/>
        </p:nvSpPr>
        <p:spPr>
          <a:xfrm>
            <a:off x="507987" y="330200"/>
            <a:ext cx="11683708"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THE TELEMETRY BOTTLENECK</a:t>
            </a:r>
            <a:endParaRPr lang="en-US" sz="950" dirty="0"/>
          </a:p>
        </p:txBody>
      </p:sp>
      <p:sp>
        <p:nvSpPr>
          <p:cNvPr id="4" name="Text 2"/>
          <p:cNvSpPr/>
          <p:nvPr/>
        </p:nvSpPr>
        <p:spPr>
          <a:xfrm>
            <a:off x="507987" y="532110"/>
            <a:ext cx="11175720" cy="398264"/>
          </a:xfrm>
          <a:prstGeom prst="rect">
            <a:avLst/>
          </a:prstGeom>
          <a:noFill/>
          <a:ln/>
        </p:spPr>
        <p:txBody>
          <a:bodyPr wrap="none" lIns="0" tIns="0" rIns="0" bIns="0" rtlCol="0" anchor="t"/>
          <a:lstStyle/>
          <a:p>
            <a:pPr algn="l" indent="0" marL="0">
              <a:lnSpc>
                <a:spcPct val="93000"/>
              </a:lnSpc>
              <a:buNone/>
            </a:pPr>
            <a:r>
              <a:rPr lang="en-US" sz="2800" b="1" spc="-14" kern="100" dirty="0">
                <a:solidFill>
                  <a:srgbClr val="0B1F3A"/>
                </a:solidFill>
                <a:latin typeface="Arimo Bold" pitchFamily="34" charset="0"/>
                <a:ea typeface="Arimo Bold" pitchFamily="34" charset="-122"/>
                <a:cs typeface="Arimo Bold" pitchFamily="34" charset="-120"/>
              </a:rPr>
              <a:t>Authentication logs contain the signal — but not the story</a:t>
            </a:r>
            <a:endParaRPr lang="en-US" sz="2800" dirty="0"/>
          </a:p>
        </p:txBody>
      </p:sp>
      <p:sp>
        <p:nvSpPr>
          <p:cNvPr id="5" name="Text 3"/>
          <p:cNvSpPr/>
          <p:nvPr/>
        </p:nvSpPr>
        <p:spPr>
          <a:xfrm>
            <a:off x="507987" y="1266924"/>
            <a:ext cx="11683708" cy="214610"/>
          </a:xfrm>
          <a:prstGeom prst="rect">
            <a:avLst/>
          </a:prstGeom>
          <a:noFill/>
          <a:ln/>
        </p:spPr>
        <p:txBody>
          <a:bodyPr wrap="none" lIns="0" tIns="0" rIns="0" bIns="0" rtlCol="0" anchor="t"/>
          <a:lstStyle/>
          <a:p>
            <a:pPr algn="l" indent="0" marL="0">
              <a:lnSpc>
                <a:spcPct val="108000"/>
              </a:lnSpc>
              <a:buNone/>
            </a:pPr>
            <a:r>
              <a:rPr lang="en-US" sz="1300" i="1" dirty="0">
                <a:solidFill>
                  <a:srgbClr val="2B2F36"/>
                </a:solidFill>
                <a:latin typeface="Arimo" pitchFamily="34" charset="0"/>
                <a:ea typeface="Arimo" pitchFamily="34" charset="-122"/>
                <a:cs typeface="Arimo" pitchFamily="34" charset="-120"/>
              </a:rPr>
              <a:t>Isolated log lines capture discrete authorization outcomes but obscure temporal patterns, distributed spray attempts, and session intent.</a:t>
            </a:r>
            <a:endParaRPr lang="en-US" sz="1300" dirty="0"/>
          </a:p>
        </p:txBody>
      </p:sp>
      <p:sp>
        <p:nvSpPr>
          <p:cNvPr id="6" name="Shape 4"/>
          <p:cNvSpPr/>
          <p:nvPr/>
        </p:nvSpPr>
        <p:spPr>
          <a:xfrm>
            <a:off x="507987" y="1608534"/>
            <a:ext cx="2565336" cy="1786037"/>
          </a:xfrm>
          <a:prstGeom prst="rect">
            <a:avLst/>
          </a:prstGeom>
          <a:noFill/>
          <a:ln w="6350">
            <a:solidFill>
              <a:srgbClr val="D5DAE0"/>
            </a:solidFill>
            <a:prstDash val="solid"/>
          </a:ln>
          <a:effectLst>
            <a:outerShdw sx="100000" sy="100000" kx="0" ky="0" algn="bl" rotWithShape="0" blurRad="30480" dist="11430" dir="5400000">
              <a:srgbClr val="0b1f3a">
                <a:alpha val="1000"/>
              </a:srgbClr>
            </a:outerShdw>
          </a:effectLst>
        </p:spPr>
        <p:txBody>
          <a:bodyPr/>
          <a:p/>
        </p:txBody>
      </p:sp>
      <p:sp>
        <p:nvSpPr>
          <p:cNvPr id="7" name="Text 5"/>
          <p:cNvSpPr/>
          <p:nvPr/>
        </p:nvSpPr>
        <p:spPr>
          <a:xfrm>
            <a:off x="717532" y="1792684"/>
            <a:ext cx="2355791"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STAGE 01 · INGESTION</a:t>
            </a:r>
            <a:endParaRPr lang="en-US" sz="950" dirty="0"/>
          </a:p>
        </p:txBody>
      </p:sp>
      <p:sp>
        <p:nvSpPr>
          <p:cNvPr id="8" name="Text 6"/>
          <p:cNvSpPr/>
          <p:nvPr/>
        </p:nvSpPr>
        <p:spPr>
          <a:xfrm>
            <a:off x="717532" y="1994595"/>
            <a:ext cx="2146246" cy="206375"/>
          </a:xfrm>
          <a:prstGeom prst="rect">
            <a:avLst/>
          </a:prstGeom>
          <a:noFill/>
          <a:ln/>
        </p:spPr>
        <p:txBody>
          <a:bodyPr wrap="none" lIns="0" tIns="0" rIns="0" bIns="0" rtlCol="0" anchor="t"/>
          <a:lstStyle/>
          <a:p>
            <a:pPr algn="l" indent="0" marL="0">
              <a:lnSpc>
                <a:spcPct val="104000"/>
              </a:lnSpc>
              <a:buNone/>
            </a:pPr>
            <a:r>
              <a:rPr lang="en-US" sz="1300" b="1" dirty="0">
                <a:solidFill>
                  <a:srgbClr val="0B1F3A"/>
                </a:solidFill>
                <a:latin typeface="Arimo Bold" pitchFamily="34" charset="0"/>
                <a:ea typeface="Arimo Bold" pitchFamily="34" charset="-122"/>
                <a:cs typeface="Arimo Bold" pitchFamily="34" charset="-120"/>
              </a:rPr>
              <a:t>Raw Authentication Events</a:t>
            </a:r>
            <a:endParaRPr lang="en-US" sz="1300" dirty="0"/>
          </a:p>
        </p:txBody>
      </p:sp>
      <p:sp>
        <p:nvSpPr>
          <p:cNvPr id="9" name="Text 7"/>
          <p:cNvSpPr/>
          <p:nvPr/>
        </p:nvSpPr>
        <p:spPr>
          <a:xfrm>
            <a:off x="717532" y="2302570"/>
            <a:ext cx="2146246" cy="907852"/>
          </a:xfrm>
          <a:prstGeom prst="rect">
            <a:avLst/>
          </a:prstGeom>
          <a:noFill/>
          <a:ln/>
        </p:spPr>
        <p:txBody>
          <a:bodyPr wrap="square" lIns="0" tIns="0" rIns="0" bIns="0" rtlCol="0" anchor="t">
            <a:normAutofit/>
          </a:bodyPr>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Fragmented timestamps, differing syslog schemas, and variable IP formats arrive from Linux hosts, IAM gateways, and internal services.</a:t>
            </a:r>
            <a:endParaRPr lang="en-US" sz="1100" dirty="0"/>
          </a:p>
        </p:txBody>
      </p:sp>
      <p:sp>
        <p:nvSpPr>
          <p:cNvPr id="10" name="Shape 8"/>
          <p:cNvSpPr/>
          <p:nvPr/>
        </p:nvSpPr>
        <p:spPr>
          <a:xfrm>
            <a:off x="3378115" y="1608534"/>
            <a:ext cx="2565336" cy="1786037"/>
          </a:xfrm>
          <a:prstGeom prst="rect">
            <a:avLst/>
          </a:prstGeom>
          <a:noFill/>
          <a:ln w="6350">
            <a:solidFill>
              <a:srgbClr val="D5DAE0"/>
            </a:solidFill>
            <a:prstDash val="solid"/>
          </a:ln>
          <a:effectLst>
            <a:outerShdw sx="100000" sy="100000" kx="0" ky="0" algn="bl" rotWithShape="0" blurRad="30480" dist="11430" dir="5400000">
              <a:srgbClr val="0b1f3a">
                <a:alpha val="1000"/>
              </a:srgbClr>
            </a:outerShdw>
          </a:effectLst>
        </p:spPr>
        <p:txBody>
          <a:bodyPr/>
          <a:p/>
        </p:txBody>
      </p:sp>
      <p:sp>
        <p:nvSpPr>
          <p:cNvPr id="11" name="Text 9"/>
          <p:cNvSpPr/>
          <p:nvPr/>
        </p:nvSpPr>
        <p:spPr>
          <a:xfrm>
            <a:off x="3587660" y="1792684"/>
            <a:ext cx="2355791"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STAGE 02 · VOLUME</a:t>
            </a:r>
            <a:endParaRPr lang="en-US" sz="950" dirty="0"/>
          </a:p>
        </p:txBody>
      </p:sp>
      <p:sp>
        <p:nvSpPr>
          <p:cNvPr id="12" name="Text 10"/>
          <p:cNvSpPr/>
          <p:nvPr/>
        </p:nvSpPr>
        <p:spPr>
          <a:xfrm>
            <a:off x="3587660" y="1994595"/>
            <a:ext cx="2146246" cy="206375"/>
          </a:xfrm>
          <a:prstGeom prst="rect">
            <a:avLst/>
          </a:prstGeom>
          <a:noFill/>
          <a:ln/>
        </p:spPr>
        <p:txBody>
          <a:bodyPr wrap="none" lIns="0" tIns="0" rIns="0" bIns="0" rtlCol="0" anchor="t"/>
          <a:lstStyle/>
          <a:p>
            <a:pPr algn="l" indent="0" marL="0">
              <a:lnSpc>
                <a:spcPct val="104000"/>
              </a:lnSpc>
              <a:buNone/>
            </a:pPr>
            <a:r>
              <a:rPr lang="en-US" sz="1300" b="1" dirty="0">
                <a:solidFill>
                  <a:srgbClr val="0B1F3A"/>
                </a:solidFill>
                <a:latin typeface="Arimo Bold" pitchFamily="34" charset="0"/>
                <a:ea typeface="Arimo Bold" pitchFamily="34" charset="-122"/>
                <a:cs typeface="Arimo Bold" pitchFamily="34" charset="-120"/>
              </a:rPr>
              <a:t>High-Noise Environments</a:t>
            </a:r>
            <a:endParaRPr lang="en-US" sz="1300" dirty="0"/>
          </a:p>
        </p:txBody>
      </p:sp>
      <p:sp>
        <p:nvSpPr>
          <p:cNvPr id="13" name="Text 11"/>
          <p:cNvSpPr/>
          <p:nvPr/>
        </p:nvSpPr>
        <p:spPr>
          <a:xfrm>
            <a:off x="3587660" y="2302570"/>
            <a:ext cx="2146246" cy="726281"/>
          </a:xfrm>
          <a:prstGeom prst="rect">
            <a:avLst/>
          </a:prstGeom>
          <a:noFill/>
          <a:ln/>
        </p:spPr>
        <p:txBody>
          <a:bodyPr wrap="square" lIns="0" tIns="0" rIns="0" bIns="0" rtlCol="0" anchor="t">
            <a:normAutofit/>
          </a:bodyPr>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Routine typos, batch jobs, and automated service retries produce tens of thousands of harmless single-line failures daily.</a:t>
            </a:r>
            <a:endParaRPr lang="en-US" sz="1100" dirty="0"/>
          </a:p>
        </p:txBody>
      </p:sp>
      <p:sp>
        <p:nvSpPr>
          <p:cNvPr id="14" name="Shape 12"/>
          <p:cNvSpPr/>
          <p:nvPr/>
        </p:nvSpPr>
        <p:spPr>
          <a:xfrm>
            <a:off x="6248244" y="1608534"/>
            <a:ext cx="2565336" cy="1786037"/>
          </a:xfrm>
          <a:prstGeom prst="rect">
            <a:avLst/>
          </a:prstGeom>
          <a:noFill/>
          <a:ln w="6350">
            <a:solidFill>
              <a:srgbClr val="D5DAE0"/>
            </a:solidFill>
            <a:prstDash val="solid"/>
          </a:ln>
          <a:effectLst>
            <a:outerShdw sx="100000" sy="100000" kx="0" ky="0" algn="bl" rotWithShape="0" blurRad="30480" dist="11430" dir="5400000">
              <a:srgbClr val="0b1f3a">
                <a:alpha val="1000"/>
              </a:srgbClr>
            </a:outerShdw>
          </a:effectLst>
        </p:spPr>
        <p:txBody>
          <a:bodyPr/>
          <a:p/>
        </p:txBody>
      </p:sp>
      <p:sp>
        <p:nvSpPr>
          <p:cNvPr id="15" name="Text 13"/>
          <p:cNvSpPr/>
          <p:nvPr/>
        </p:nvSpPr>
        <p:spPr>
          <a:xfrm>
            <a:off x="6457788" y="1792684"/>
            <a:ext cx="2355791"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STAGE 03 · VISIBILITY</a:t>
            </a:r>
            <a:endParaRPr lang="en-US" sz="950" dirty="0"/>
          </a:p>
        </p:txBody>
      </p:sp>
      <p:sp>
        <p:nvSpPr>
          <p:cNvPr id="16" name="Text 14"/>
          <p:cNvSpPr/>
          <p:nvPr/>
        </p:nvSpPr>
        <p:spPr>
          <a:xfrm>
            <a:off x="6457788" y="1994595"/>
            <a:ext cx="2146246" cy="206375"/>
          </a:xfrm>
          <a:prstGeom prst="rect">
            <a:avLst/>
          </a:prstGeom>
          <a:noFill/>
          <a:ln/>
        </p:spPr>
        <p:txBody>
          <a:bodyPr wrap="none" lIns="0" tIns="0" rIns="0" bIns="0" rtlCol="0" anchor="t"/>
          <a:lstStyle/>
          <a:p>
            <a:pPr algn="l" indent="0" marL="0">
              <a:lnSpc>
                <a:spcPct val="104000"/>
              </a:lnSpc>
              <a:buNone/>
            </a:pPr>
            <a:r>
              <a:rPr lang="en-US" sz="1300" b="1" dirty="0">
                <a:solidFill>
                  <a:srgbClr val="0B1F3A"/>
                </a:solidFill>
                <a:latin typeface="Arimo Bold" pitchFamily="34" charset="0"/>
                <a:ea typeface="Arimo Bold" pitchFamily="34" charset="-122"/>
                <a:cs typeface="Arimo Bold" pitchFamily="34" charset="-120"/>
              </a:rPr>
              <a:t>Missed Relationships</a:t>
            </a:r>
            <a:endParaRPr lang="en-US" sz="1300" dirty="0"/>
          </a:p>
        </p:txBody>
      </p:sp>
      <p:sp>
        <p:nvSpPr>
          <p:cNvPr id="17" name="Text 15"/>
          <p:cNvSpPr/>
          <p:nvPr/>
        </p:nvSpPr>
        <p:spPr>
          <a:xfrm>
            <a:off x="6457788" y="2302570"/>
            <a:ext cx="2146246" cy="726281"/>
          </a:xfrm>
          <a:prstGeom prst="rect">
            <a:avLst/>
          </a:prstGeom>
          <a:noFill/>
          <a:ln/>
        </p:spPr>
        <p:txBody>
          <a:bodyPr wrap="square" lIns="0" tIns="0" rIns="0" bIns="0" rtlCol="0" anchor="t">
            <a:normAutofit/>
          </a:bodyPr>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Cross-account spraying and slow brute force escape single-line grep commands and stateless metric alerts without stateful correlation.</a:t>
            </a:r>
            <a:endParaRPr lang="en-US" sz="1100" dirty="0"/>
          </a:p>
        </p:txBody>
      </p:sp>
      <p:sp>
        <p:nvSpPr>
          <p:cNvPr id="18" name="Shape 16"/>
          <p:cNvSpPr/>
          <p:nvPr/>
        </p:nvSpPr>
        <p:spPr>
          <a:xfrm>
            <a:off x="9118372" y="1608534"/>
            <a:ext cx="2565336" cy="1786037"/>
          </a:xfrm>
          <a:prstGeom prst="rect">
            <a:avLst/>
          </a:prstGeom>
          <a:solidFill>
            <a:srgbClr val="F2F4F6"/>
          </a:solidFill>
          <a:ln/>
        </p:spPr>
        <p:txBody>
          <a:bodyPr/>
          <a:p/>
        </p:txBody>
      </p:sp>
      <p:sp>
        <p:nvSpPr>
          <p:cNvPr id="19" name="Shape 17"/>
          <p:cNvSpPr/>
          <p:nvPr/>
        </p:nvSpPr>
        <p:spPr>
          <a:xfrm>
            <a:off x="9118372" y="1608534"/>
            <a:ext cx="38099" cy="1786037"/>
          </a:xfrm>
          <a:prstGeom prst="rect">
            <a:avLst/>
          </a:prstGeom>
          <a:solidFill>
            <a:srgbClr val="C0102F"/>
          </a:solidFill>
          <a:ln/>
        </p:spPr>
        <p:txBody>
          <a:bodyPr/>
          <a:p/>
        </p:txBody>
      </p:sp>
      <p:sp>
        <p:nvSpPr>
          <p:cNvPr id="20" name="Text 18"/>
          <p:cNvSpPr/>
          <p:nvPr/>
        </p:nvSpPr>
        <p:spPr>
          <a:xfrm>
            <a:off x="9359666" y="1786334"/>
            <a:ext cx="2324042"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2B2F36"/>
                </a:solidFill>
                <a:latin typeface="Arimo Bold" pitchFamily="34" charset="0"/>
                <a:ea typeface="Arimo Bold" pitchFamily="34" charset="-122"/>
                <a:cs typeface="Arimo Bold" pitchFamily="34" charset="-120"/>
              </a:rPr>
              <a:t>STAGE 04 · CONSEQUENCE</a:t>
            </a:r>
            <a:endParaRPr lang="en-US" sz="950" dirty="0"/>
          </a:p>
        </p:txBody>
      </p:sp>
      <p:sp>
        <p:nvSpPr>
          <p:cNvPr id="21" name="Text 19"/>
          <p:cNvSpPr/>
          <p:nvPr/>
        </p:nvSpPr>
        <p:spPr>
          <a:xfrm>
            <a:off x="9359666" y="1988245"/>
            <a:ext cx="2120847" cy="206375"/>
          </a:xfrm>
          <a:prstGeom prst="rect">
            <a:avLst/>
          </a:prstGeom>
          <a:noFill/>
          <a:ln/>
        </p:spPr>
        <p:txBody>
          <a:bodyPr wrap="none" lIns="0" tIns="0" rIns="0" bIns="0" rtlCol="0" anchor="t"/>
          <a:lstStyle/>
          <a:p>
            <a:pPr algn="l" indent="0" marL="0">
              <a:lnSpc>
                <a:spcPct val="104000"/>
              </a:lnSpc>
              <a:buNone/>
            </a:pPr>
            <a:r>
              <a:rPr lang="en-US" sz="1300" b="1" dirty="0">
                <a:solidFill>
                  <a:srgbClr val="2B2F36"/>
                </a:solidFill>
                <a:latin typeface="Arimo Bold" pitchFamily="34" charset="0"/>
                <a:ea typeface="Arimo Bold" pitchFamily="34" charset="-122"/>
                <a:cs typeface="Arimo Bold" pitchFamily="34" charset="-120"/>
              </a:rPr>
              <a:t>Cumulative Security Risk</a:t>
            </a:r>
            <a:endParaRPr lang="en-US" sz="1300" dirty="0"/>
          </a:p>
        </p:txBody>
      </p:sp>
      <p:sp>
        <p:nvSpPr>
          <p:cNvPr id="22" name="Text 20"/>
          <p:cNvSpPr/>
          <p:nvPr/>
        </p:nvSpPr>
        <p:spPr>
          <a:xfrm>
            <a:off x="9359666" y="2296220"/>
            <a:ext cx="2120847" cy="726281"/>
          </a:xfrm>
          <a:prstGeom prst="rect">
            <a:avLst/>
          </a:prstGeom>
          <a:noFill/>
          <a:ln/>
        </p:spPr>
        <p:txBody>
          <a:bodyPr wrap="square" lIns="0" tIns="0" rIns="0" bIns="0" rtlCol="0" anchor="t">
            <a:normAutofit/>
          </a:bodyPr>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Legitimate credential stuffing and successful compromise after brute force go unnoticed until post-incident forensics.</a:t>
            </a:r>
            <a:endParaRPr lang="en-US" sz="1100" dirty="0"/>
          </a:p>
        </p:txBody>
      </p:sp>
      <p:sp>
        <p:nvSpPr>
          <p:cNvPr id="23" name="Shape 21"/>
          <p:cNvSpPr/>
          <p:nvPr/>
        </p:nvSpPr>
        <p:spPr>
          <a:xfrm>
            <a:off x="507987" y="3521571"/>
            <a:ext cx="5879060" cy="1131491"/>
          </a:xfrm>
          <a:prstGeom prst="rect">
            <a:avLst/>
          </a:prstGeom>
          <a:solidFill>
            <a:srgbClr val="F2F4F6"/>
          </a:solidFill>
          <a:ln/>
        </p:spPr>
        <p:txBody>
          <a:bodyPr/>
          <a:p/>
        </p:txBody>
      </p:sp>
      <p:sp>
        <p:nvSpPr>
          <p:cNvPr id="24" name="Shape 22"/>
          <p:cNvSpPr/>
          <p:nvPr/>
        </p:nvSpPr>
        <p:spPr>
          <a:xfrm>
            <a:off x="507987" y="3521571"/>
            <a:ext cx="38099" cy="1131491"/>
          </a:xfrm>
          <a:prstGeom prst="rect">
            <a:avLst/>
          </a:prstGeom>
          <a:solidFill>
            <a:srgbClr val="0B1F3A"/>
          </a:solidFill>
          <a:ln/>
        </p:spPr>
        <p:txBody>
          <a:bodyPr/>
          <a:p/>
        </p:txBody>
      </p:sp>
      <p:sp>
        <p:nvSpPr>
          <p:cNvPr id="25" name="Text 23"/>
          <p:cNvSpPr/>
          <p:nvPr/>
        </p:nvSpPr>
        <p:spPr>
          <a:xfrm>
            <a:off x="774681" y="3673971"/>
            <a:ext cx="5383772" cy="429220"/>
          </a:xfrm>
          <a:prstGeom prst="rect">
            <a:avLst/>
          </a:prstGeom>
          <a:noFill/>
          <a:ln/>
        </p:spPr>
        <p:txBody>
          <a:bodyPr wrap="square" lIns="0" tIns="0" rIns="0" bIns="0" rtlCol="0" anchor="t">
            <a:normAutofit/>
          </a:bodyPr>
          <a:lstStyle/>
          <a:p>
            <a:pPr algn="l" indent="0" marL="0">
              <a:lnSpc>
                <a:spcPct val="108000"/>
              </a:lnSpc>
              <a:buNone/>
            </a:pPr>
            <a:r>
              <a:rPr lang="en-US" sz="1300" b="1" dirty="0">
                <a:solidFill>
                  <a:srgbClr val="2B2F36"/>
                </a:solidFill>
                <a:latin typeface="Arimo Bold" pitchFamily="34" charset="0"/>
                <a:ea typeface="Arimo Bold" pitchFamily="34" charset="-122"/>
                <a:cs typeface="Arimo Bold" pitchFamily="34" charset="-120"/>
              </a:rPr>
              <a:t>Manual triage of stateless auth logs causes triage fatigue and extended dwell time.</a:t>
            </a:r>
            <a:endParaRPr lang="en-US" sz="1300" dirty="0"/>
          </a:p>
        </p:txBody>
      </p:sp>
      <p:sp>
        <p:nvSpPr>
          <p:cNvPr id="26" name="Text 24"/>
          <p:cNvSpPr/>
          <p:nvPr/>
        </p:nvSpPr>
        <p:spPr>
          <a:xfrm>
            <a:off x="774681" y="4153991"/>
            <a:ext cx="5383772" cy="346670"/>
          </a:xfrm>
          <a:prstGeom prst="rect">
            <a:avLst/>
          </a:prstGeom>
          <a:noFill/>
          <a:ln/>
        </p:spPr>
        <p:txBody>
          <a:bodyPr wrap="square" lIns="0" tIns="0" rIns="0" bIns="0" rtlCol="0" anchor="t">
            <a:normAutofit/>
          </a:bodyPr>
          <a:lstStyle/>
          <a:p>
            <a:pPr algn="l" indent="0" marL="0">
              <a:lnSpc>
                <a:spcPct val="108000"/>
              </a:lnSpc>
              <a:buNone/>
            </a:pPr>
            <a:r>
              <a:rPr lang="en-US" sz="1050" dirty="0">
                <a:solidFill>
                  <a:srgbClr val="2B2F36"/>
                </a:solidFill>
                <a:latin typeface="Arimo" pitchFamily="34" charset="0"/>
                <a:ea typeface="Arimo" pitchFamily="34" charset="-122"/>
                <a:cs typeface="Arimo" pitchFamily="34" charset="-120"/>
              </a:rPr>
              <a:t>Security analysts require context-enriched event streams rather than raw, isolated log records.</a:t>
            </a:r>
            <a:endParaRPr lang="en-US" sz="1050" dirty="0"/>
          </a:p>
        </p:txBody>
      </p:sp>
      <p:sp>
        <p:nvSpPr>
          <p:cNvPr id="27" name="Shape 25"/>
          <p:cNvSpPr/>
          <p:nvPr/>
        </p:nvSpPr>
        <p:spPr>
          <a:xfrm>
            <a:off x="6539344" y="3521571"/>
            <a:ext cx="5144363" cy="1131491"/>
          </a:xfrm>
          <a:prstGeom prst="rect">
            <a:avLst/>
          </a:prstGeom>
          <a:noFill/>
          <a:ln w="6350">
            <a:solidFill>
              <a:srgbClr val="D5DAE0"/>
            </a:solidFill>
            <a:prstDash val="solid"/>
          </a:ln>
          <a:effectLst>
            <a:outerShdw sx="100000" sy="100000" kx="0" ky="0" algn="bl" rotWithShape="0" blurRad="30480" dist="11430" dir="5400000">
              <a:srgbClr val="0b1f3a">
                <a:alpha val="1000"/>
              </a:srgbClr>
            </a:outerShdw>
          </a:effectLst>
        </p:spPr>
        <p:txBody>
          <a:bodyPr/>
          <a:p/>
        </p:txBody>
      </p:sp>
      <p:sp>
        <p:nvSpPr>
          <p:cNvPr id="28" name="Text 26"/>
          <p:cNvSpPr/>
          <p:nvPr/>
        </p:nvSpPr>
        <p:spPr>
          <a:xfrm>
            <a:off x="6774288" y="3680321"/>
            <a:ext cx="4909419"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OPERATIONAL CHALLENGE</a:t>
            </a:r>
            <a:endParaRPr lang="en-US" sz="950" dirty="0"/>
          </a:p>
        </p:txBody>
      </p:sp>
      <p:sp>
        <p:nvSpPr>
          <p:cNvPr id="29" name="Text 27"/>
          <p:cNvSpPr/>
          <p:nvPr/>
        </p:nvSpPr>
        <p:spPr>
          <a:xfrm>
            <a:off x="6774288" y="3907631"/>
            <a:ext cx="4674475" cy="557411"/>
          </a:xfrm>
          <a:prstGeom prst="rect">
            <a:avLst/>
          </a:prstGeom>
          <a:noFill/>
          <a:ln/>
        </p:spPr>
        <p:txBody>
          <a:bodyPr wrap="square" lIns="0" tIns="0" rIns="0" bIns="0" rtlCol="0" anchor="t">
            <a:normAutofit/>
          </a:bodyPr>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Grepping for </a:t>
            </a:r>
            <a:pPr algn="l" indent="0" marL="0">
              <a:lnSpc>
                <a:spcPct val="108000"/>
              </a:lnSpc>
              <a:buNone/>
            </a:pPr>
            <a:r>
              <a:rPr lang="en-US" sz="1100" dirty="0">
                <a:solidFill>
                  <a:srgbClr val="2B2F36"/>
                </a:solidFill>
                <a:highlight>
                  <a:srgbClr val="F2F4F6"/>
                </a:highlight>
                <a:latin typeface="Consolas" pitchFamily="34" charset="0"/>
                <a:ea typeface="Consolas" pitchFamily="34" charset="-122"/>
                <a:cs typeface="Consolas" pitchFamily="34" charset="-120"/>
              </a:rPr>
              <a:t>sshd Failed password</a:t>
            </a:r>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 yields occurrences, not malicious intent. Analysts must manually assemble actor, temporal scope, target breadth, and final outcome.</a:t>
            </a:r>
            <a:endParaRPr lang="en-US" sz="1100" dirty="0"/>
          </a:p>
        </p:txBody>
      </p:sp>
      <p:sp>
        <p:nvSpPr>
          <p:cNvPr id="30" name="Text 28"/>
          <p:cNvSpPr/>
          <p:nvPr/>
        </p:nvSpPr>
        <p:spPr>
          <a:xfrm>
            <a:off x="507987" y="6506865"/>
            <a:ext cx="11683708" cy="173335"/>
          </a:xfrm>
          <a:prstGeom prst="rect">
            <a:avLst/>
          </a:prstGeom>
          <a:noFill/>
          <a:ln/>
        </p:spPr>
        <p:txBody>
          <a:bodyPr wrap="none" lIns="0" tIns="0" rIns="0" bIns="0" rtlCol="0" anchor="t"/>
          <a:lstStyle/>
          <a:p>
            <a:pPr algn="l" indent="0" marL="0">
              <a:lnSpc>
                <a:spcPct val="108000"/>
              </a:lnSpc>
              <a:buNone/>
            </a:pPr>
            <a:r>
              <a:rPr lang="en-US" sz="1050" dirty="0">
                <a:solidFill>
                  <a:srgbClr val="5B6573"/>
                </a:solidFill>
                <a:latin typeface="Arimo" pitchFamily="34" charset="0"/>
                <a:ea typeface="Arimo" pitchFamily="34" charset="-122"/>
                <a:cs typeface="Arimo" pitchFamily="34" charset="-120"/>
              </a:rPr>
              <a:t>Telemetry baseline: Linux OpenSSH auth.log and enterprise IAM access records.</a:t>
            </a:r>
            <a:endParaRPr lang="en-US" sz="1050" dirty="0"/>
          </a:p>
        </p:txBody>
      </p:sp>
      <p:sp>
        <p:nvSpPr>
          <p:cNvPr id="31" name="Text 29"/>
          <p:cNvSpPr/>
          <p:nvPr/>
        </p:nvSpPr>
        <p:spPr>
          <a:xfrm>
            <a:off x="507987" y="6555085"/>
            <a:ext cx="1213415" cy="148530"/>
          </a:xfrm>
          <a:prstGeom prst="rect">
            <a:avLst/>
          </a:prstGeom>
          <a:noFill/>
          <a:ln/>
        </p:spPr>
        <p:txBody>
          <a:bodyPr wrap="none" lIns="0" tIns="0" rIns="0" bIns="0" rtlCol="0" anchor="ctr"/>
          <a:lstStyle/>
          <a:p>
            <a:pPr algn="l" indent="0" marL="0">
              <a:lnSpc>
                <a:spcPct val="108000"/>
              </a:lnSpc>
              <a:buNone/>
            </a:pPr>
            <a:r>
              <a:rPr lang="en-US" sz="900" dirty="0">
                <a:solidFill>
                  <a:srgbClr val="2B2F36"/>
                </a:solidFill>
                <a:latin typeface="Arimo" pitchFamily="34" charset="0"/>
                <a:ea typeface="Arimo" pitchFamily="34" charset="-122"/>
                <a:cs typeface="Arimo" pitchFamily="34" charset="-120"/>
              </a:rPr>
              <a:t>SentinelLog</a:t>
            </a:r>
            <a:endParaRPr lang="en-US" sz="900" dirty="0"/>
          </a:p>
        </p:txBody>
      </p:sp>
      <p:sp>
        <p:nvSpPr>
          <p:cNvPr id="32" name="Text 30"/>
          <p:cNvSpPr/>
          <p:nvPr/>
        </p:nvSpPr>
        <p:spPr>
          <a:xfrm>
            <a:off x="11620209" y="6555085"/>
            <a:ext cx="571486" cy="148530"/>
          </a:xfrm>
          <a:prstGeom prst="rect">
            <a:avLst/>
          </a:prstGeom>
          <a:noFill/>
          <a:ln/>
        </p:spPr>
        <p:txBody>
          <a:bodyPr wrap="none" lIns="0" tIns="0" rIns="0" bIns="0" rtlCol="0" anchor="ctr"/>
          <a:lstStyle/>
          <a:p>
            <a:pPr algn="l" indent="0" marL="0">
              <a:lnSpc>
                <a:spcPct val="108000"/>
              </a:lnSpc>
              <a:buNone/>
            </a:pPr>
            <a:r>
              <a:rPr lang="en-US" sz="900" dirty="0">
                <a:solidFill>
                  <a:srgbClr val="2B2F36"/>
                </a:solidFill>
                <a:latin typeface="Arimo" pitchFamily="34" charset="0"/>
                <a:ea typeface="Arimo" pitchFamily="34" charset="-122"/>
                <a:cs typeface="Arimo"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7987" y="330200"/>
            <a:ext cx="11683708"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SYSTEM OBJECTIVES</a:t>
            </a:r>
            <a:endParaRPr lang="en-US" sz="950" dirty="0"/>
          </a:p>
        </p:txBody>
      </p:sp>
      <p:sp>
        <p:nvSpPr>
          <p:cNvPr id="3" name="Text 1"/>
          <p:cNvSpPr/>
          <p:nvPr/>
        </p:nvSpPr>
        <p:spPr>
          <a:xfrm>
            <a:off x="507987" y="532110"/>
            <a:ext cx="11175720" cy="398264"/>
          </a:xfrm>
          <a:prstGeom prst="rect">
            <a:avLst/>
          </a:prstGeom>
          <a:noFill/>
          <a:ln/>
        </p:spPr>
        <p:txBody>
          <a:bodyPr wrap="none" lIns="0" tIns="0" rIns="0" bIns="0" rtlCol="0" anchor="t"/>
          <a:lstStyle/>
          <a:p>
            <a:pPr algn="l" indent="0" marL="0">
              <a:lnSpc>
                <a:spcPct val="93000"/>
              </a:lnSpc>
              <a:buNone/>
            </a:pPr>
            <a:r>
              <a:rPr lang="en-US" sz="2800" b="1" spc="-14" kern="100" dirty="0">
                <a:solidFill>
                  <a:srgbClr val="0B1F3A"/>
                </a:solidFill>
                <a:latin typeface="Arimo Bold" pitchFamily="34" charset="0"/>
                <a:ea typeface="Arimo Bold" pitchFamily="34" charset="-122"/>
                <a:cs typeface="Arimo Bold" pitchFamily="34" charset="-120"/>
              </a:rPr>
              <a:t>SentinelLog turns telemetry into investigation-ready signals</a:t>
            </a:r>
            <a:endParaRPr lang="en-US" sz="2800" dirty="0"/>
          </a:p>
        </p:txBody>
      </p:sp>
      <p:sp>
        <p:nvSpPr>
          <p:cNvPr id="4" name="Shape 2"/>
          <p:cNvSpPr/>
          <p:nvPr/>
        </p:nvSpPr>
        <p:spPr>
          <a:xfrm>
            <a:off x="507987" y="1111349"/>
            <a:ext cx="11175621" cy="19050"/>
          </a:xfrm>
          <a:prstGeom prst="roundRect">
            <a:avLst>
              <a:gd name="adj" fmla="val 49999"/>
            </a:avLst>
          </a:prstGeom>
          <a:solidFill>
            <a:srgbClr val="D5DAE0"/>
          </a:solidFill>
          <a:ln/>
        </p:spPr>
        <p:txBody>
          <a:bodyPr/>
          <a:p/>
        </p:txBody>
      </p:sp>
      <p:sp>
        <p:nvSpPr>
          <p:cNvPr id="5" name="Shape 3"/>
          <p:cNvSpPr/>
          <p:nvPr/>
        </p:nvSpPr>
        <p:spPr>
          <a:xfrm>
            <a:off x="507987" y="1298674"/>
            <a:ext cx="11175720" cy="1410791"/>
          </a:xfrm>
          <a:prstGeom prst="rect">
            <a:avLst/>
          </a:prstGeom>
          <a:solidFill>
            <a:srgbClr val="0B1F3A"/>
          </a:solidFill>
          <a:ln/>
        </p:spPr>
        <p:txBody>
          <a:bodyPr/>
          <a:p/>
        </p:txBody>
      </p:sp>
      <p:sp>
        <p:nvSpPr>
          <p:cNvPr id="6" name="Text 4"/>
          <p:cNvSpPr/>
          <p:nvPr/>
        </p:nvSpPr>
        <p:spPr>
          <a:xfrm>
            <a:off x="812780" y="1476474"/>
            <a:ext cx="10870928" cy="144760"/>
          </a:xfrm>
          <a:prstGeom prst="rect">
            <a:avLst/>
          </a:prstGeom>
          <a:noFill/>
          <a:ln/>
        </p:spPr>
        <p:txBody>
          <a:bodyPr wrap="none" lIns="0" tIns="0" rIns="0" bIns="0" rtlCol="0" anchor="t"/>
          <a:lstStyle/>
          <a:p>
            <a:pPr algn="l" indent="0" marL="0">
              <a:lnSpc>
                <a:spcPct val="100000"/>
              </a:lnSpc>
              <a:buNone/>
            </a:pPr>
            <a:r>
              <a:rPr lang="en-US" sz="950" b="1" spc="95" kern="100" dirty="0">
                <a:solidFill>
                  <a:srgbClr val="FFFFFF"/>
                </a:solidFill>
                <a:latin typeface="Arimo Bold" pitchFamily="34" charset="0"/>
                <a:ea typeface="Arimo Bold" pitchFamily="34" charset="-122"/>
                <a:cs typeface="Arimo Bold" pitchFamily="34" charset="-120"/>
              </a:rPr>
              <a:t>CORE ARCHITECTURAL PROPOSITION</a:t>
            </a:r>
            <a:endParaRPr lang="en-US" sz="950" dirty="0"/>
          </a:p>
        </p:txBody>
      </p:sp>
      <p:sp>
        <p:nvSpPr>
          <p:cNvPr id="7" name="Text 5"/>
          <p:cNvSpPr/>
          <p:nvPr/>
        </p:nvSpPr>
        <p:spPr>
          <a:xfrm>
            <a:off x="812780" y="1678384"/>
            <a:ext cx="10566136" cy="853281"/>
          </a:xfrm>
          <a:prstGeom prst="rect">
            <a:avLst/>
          </a:prstGeom>
          <a:noFill/>
          <a:ln/>
        </p:spPr>
        <p:txBody>
          <a:bodyPr wrap="square" lIns="0" tIns="0" rIns="0" bIns="0" rtlCol="0" anchor="t">
            <a:normAutofit/>
          </a:bodyPr>
          <a:lstStyle/>
          <a:p>
            <a:pPr algn="l" indent="0" marL="0">
              <a:lnSpc>
                <a:spcPct val="87000"/>
              </a:lnSpc>
              <a:buNone/>
            </a:pPr>
            <a:r>
              <a:rPr lang="en-US" sz="3200" b="1" spc="-32" kern="100" dirty="0">
                <a:solidFill>
                  <a:srgbClr val="FFFFFF"/>
                </a:solidFill>
                <a:latin typeface="Arimo Bold" pitchFamily="34" charset="0"/>
                <a:ea typeface="Arimo Bold" pitchFamily="34" charset="-122"/>
                <a:cs typeface="Arimo Bold" pitchFamily="34" charset="-120"/>
              </a:rPr>
              <a:t>Deterministic parsing, stateful time-window correlation, and enriched triage payloads.</a:t>
            </a:r>
            <a:endParaRPr lang="en-US" sz="3200" dirty="0"/>
          </a:p>
        </p:txBody>
      </p:sp>
      <p:sp>
        <p:nvSpPr>
          <p:cNvPr id="8" name="Text 6"/>
          <p:cNvSpPr/>
          <p:nvPr/>
        </p:nvSpPr>
        <p:spPr>
          <a:xfrm>
            <a:off x="685783" y="2963466"/>
            <a:ext cx="1879553" cy="426641"/>
          </a:xfrm>
          <a:prstGeom prst="rect">
            <a:avLst/>
          </a:prstGeom>
          <a:noFill/>
          <a:ln/>
        </p:spPr>
        <p:txBody>
          <a:bodyPr wrap="none" lIns="0" tIns="0" rIns="0" bIns="0" rtlCol="0" anchor="t"/>
          <a:lstStyle/>
          <a:p>
            <a:pPr algn="l" indent="0" marL="0">
              <a:lnSpc>
                <a:spcPct val="87000"/>
              </a:lnSpc>
              <a:buNone/>
            </a:pPr>
            <a:r>
              <a:rPr lang="en-US" sz="3200" b="1" spc="-32" kern="100" dirty="0">
                <a:solidFill>
                  <a:srgbClr val="0B1F3A"/>
                </a:solidFill>
                <a:latin typeface="Arimo Bold" pitchFamily="34" charset="0"/>
                <a:ea typeface="Arimo Bold" pitchFamily="34" charset="-122"/>
                <a:cs typeface="Arimo Bold" pitchFamily="34" charset="-120"/>
              </a:rPr>
              <a:t>01</a:t>
            </a:r>
            <a:endParaRPr lang="en-US" sz="3200" dirty="0"/>
          </a:p>
        </p:txBody>
      </p:sp>
      <p:sp>
        <p:nvSpPr>
          <p:cNvPr id="9" name="Text 7"/>
          <p:cNvSpPr/>
          <p:nvPr/>
        </p:nvSpPr>
        <p:spPr>
          <a:xfrm>
            <a:off x="685783" y="3472656"/>
            <a:ext cx="1879553" cy="206375"/>
          </a:xfrm>
          <a:prstGeom prst="rect">
            <a:avLst/>
          </a:prstGeom>
          <a:noFill/>
          <a:ln/>
        </p:spPr>
        <p:txBody>
          <a:bodyPr wrap="none" lIns="0" tIns="0" rIns="0" bIns="0" rtlCol="0" anchor="t"/>
          <a:lstStyle/>
          <a:p>
            <a:pPr algn="l" indent="0" marL="0">
              <a:lnSpc>
                <a:spcPct val="104000"/>
              </a:lnSpc>
              <a:buNone/>
            </a:pPr>
            <a:r>
              <a:rPr lang="en-US" sz="1300" b="1" dirty="0">
                <a:solidFill>
                  <a:srgbClr val="0B1F3A"/>
                </a:solidFill>
                <a:latin typeface="Arimo Bold" pitchFamily="34" charset="0"/>
                <a:ea typeface="Arimo Bold" pitchFamily="34" charset="-122"/>
                <a:cs typeface="Arimo Bold" pitchFamily="34" charset="-120"/>
              </a:rPr>
              <a:t>Normalize</a:t>
            </a:r>
            <a:endParaRPr lang="en-US" sz="1300" dirty="0"/>
          </a:p>
        </p:txBody>
      </p:sp>
      <p:sp>
        <p:nvSpPr>
          <p:cNvPr id="10" name="Text 8"/>
          <p:cNvSpPr/>
          <p:nvPr/>
        </p:nvSpPr>
        <p:spPr>
          <a:xfrm>
            <a:off x="685783" y="3780631"/>
            <a:ext cx="1879553" cy="738981"/>
          </a:xfrm>
          <a:prstGeom prst="rect">
            <a:avLst/>
          </a:prstGeom>
          <a:noFill/>
          <a:ln/>
        </p:spPr>
        <p:txBody>
          <a:bodyPr wrap="square" lIns="0" tIns="0" rIns="0" bIns="0" rtlCol="0" anchor="t">
            <a:normAutofit/>
          </a:bodyPr>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Maps heterogeneous syslog, OpenSSH, and JSON schemas into a unified, type-safe </a:t>
            </a:r>
            <a:pPr algn="l" indent="0" marL="0">
              <a:lnSpc>
                <a:spcPct val="108000"/>
              </a:lnSpc>
              <a:buNone/>
            </a:pPr>
            <a:r>
              <a:rPr lang="en-US" sz="1100" dirty="0">
                <a:solidFill>
                  <a:srgbClr val="2B2F36"/>
                </a:solidFill>
                <a:highlight>
                  <a:srgbClr val="F2F4F6"/>
                </a:highlight>
                <a:latin typeface="Consolas" pitchFamily="34" charset="0"/>
                <a:ea typeface="Consolas" pitchFamily="34" charset="-122"/>
                <a:cs typeface="Consolas" pitchFamily="34" charset="-120"/>
              </a:rPr>
              <a:t>AuthEvent</a:t>
            </a:r>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 model.</a:t>
            </a:r>
            <a:endParaRPr lang="en-US" sz="1100" dirty="0"/>
          </a:p>
        </p:txBody>
      </p:sp>
      <p:sp>
        <p:nvSpPr>
          <p:cNvPr id="11" name="Text 9"/>
          <p:cNvSpPr/>
          <p:nvPr/>
        </p:nvSpPr>
        <p:spPr>
          <a:xfrm>
            <a:off x="2920927" y="2963466"/>
            <a:ext cx="1879553" cy="426641"/>
          </a:xfrm>
          <a:prstGeom prst="rect">
            <a:avLst/>
          </a:prstGeom>
          <a:noFill/>
          <a:ln/>
        </p:spPr>
        <p:txBody>
          <a:bodyPr wrap="none" lIns="0" tIns="0" rIns="0" bIns="0" rtlCol="0" anchor="t"/>
          <a:lstStyle/>
          <a:p>
            <a:pPr algn="l" indent="0" marL="0">
              <a:lnSpc>
                <a:spcPct val="87000"/>
              </a:lnSpc>
              <a:buNone/>
            </a:pPr>
            <a:r>
              <a:rPr lang="en-US" sz="3200" b="1" spc="-32" kern="100" dirty="0">
                <a:solidFill>
                  <a:srgbClr val="0B1F3A"/>
                </a:solidFill>
                <a:latin typeface="Arimo Bold" pitchFamily="34" charset="0"/>
                <a:ea typeface="Arimo Bold" pitchFamily="34" charset="-122"/>
                <a:cs typeface="Arimo Bold" pitchFamily="34" charset="-120"/>
              </a:rPr>
              <a:t>02</a:t>
            </a:r>
            <a:endParaRPr lang="en-US" sz="3200" dirty="0"/>
          </a:p>
        </p:txBody>
      </p:sp>
      <p:sp>
        <p:nvSpPr>
          <p:cNvPr id="12" name="Text 10"/>
          <p:cNvSpPr/>
          <p:nvPr/>
        </p:nvSpPr>
        <p:spPr>
          <a:xfrm>
            <a:off x="2920927" y="3472656"/>
            <a:ext cx="1879553" cy="206375"/>
          </a:xfrm>
          <a:prstGeom prst="rect">
            <a:avLst/>
          </a:prstGeom>
          <a:noFill/>
          <a:ln/>
        </p:spPr>
        <p:txBody>
          <a:bodyPr wrap="none" lIns="0" tIns="0" rIns="0" bIns="0" rtlCol="0" anchor="t"/>
          <a:lstStyle/>
          <a:p>
            <a:pPr algn="l" indent="0" marL="0">
              <a:lnSpc>
                <a:spcPct val="104000"/>
              </a:lnSpc>
              <a:buNone/>
            </a:pPr>
            <a:r>
              <a:rPr lang="en-US" sz="1300" b="1" dirty="0">
                <a:solidFill>
                  <a:srgbClr val="0B1F3A"/>
                </a:solidFill>
                <a:latin typeface="Arimo Bold" pitchFamily="34" charset="0"/>
                <a:ea typeface="Arimo Bold" pitchFamily="34" charset="-122"/>
                <a:cs typeface="Arimo Bold" pitchFamily="34" charset="-120"/>
              </a:rPr>
              <a:t>Correlate</a:t>
            </a:r>
            <a:endParaRPr lang="en-US" sz="1300" dirty="0"/>
          </a:p>
        </p:txBody>
      </p:sp>
      <p:sp>
        <p:nvSpPr>
          <p:cNvPr id="13" name="Text 11"/>
          <p:cNvSpPr/>
          <p:nvPr/>
        </p:nvSpPr>
        <p:spPr>
          <a:xfrm>
            <a:off x="2920927" y="3780631"/>
            <a:ext cx="1879553" cy="726281"/>
          </a:xfrm>
          <a:prstGeom prst="rect">
            <a:avLst/>
          </a:prstGeom>
          <a:noFill/>
          <a:ln/>
        </p:spPr>
        <p:txBody>
          <a:bodyPr wrap="square" lIns="0" tIns="0" rIns="0" bIns="0" rtlCol="0" anchor="t">
            <a:normAutofit/>
          </a:bodyPr>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Aggregates records within sliding temporal windows grouped by composite keys (IP, username, service).</a:t>
            </a:r>
            <a:endParaRPr lang="en-US" sz="1100" dirty="0"/>
          </a:p>
        </p:txBody>
      </p:sp>
      <p:sp>
        <p:nvSpPr>
          <p:cNvPr id="14" name="Text 12"/>
          <p:cNvSpPr/>
          <p:nvPr/>
        </p:nvSpPr>
        <p:spPr>
          <a:xfrm>
            <a:off x="5156071" y="2963466"/>
            <a:ext cx="1879553" cy="426641"/>
          </a:xfrm>
          <a:prstGeom prst="rect">
            <a:avLst/>
          </a:prstGeom>
          <a:noFill/>
          <a:ln/>
        </p:spPr>
        <p:txBody>
          <a:bodyPr wrap="none" lIns="0" tIns="0" rIns="0" bIns="0" rtlCol="0" anchor="t"/>
          <a:lstStyle/>
          <a:p>
            <a:pPr algn="l" indent="0" marL="0">
              <a:lnSpc>
                <a:spcPct val="87000"/>
              </a:lnSpc>
              <a:buNone/>
            </a:pPr>
            <a:r>
              <a:rPr lang="en-US" sz="3200" b="1" spc="-32" kern="100" dirty="0">
                <a:solidFill>
                  <a:srgbClr val="0B1F3A"/>
                </a:solidFill>
                <a:latin typeface="Arimo Bold" pitchFamily="34" charset="0"/>
                <a:ea typeface="Arimo Bold" pitchFamily="34" charset="-122"/>
                <a:cs typeface="Arimo Bold" pitchFamily="34" charset="-120"/>
              </a:rPr>
              <a:t>03</a:t>
            </a:r>
            <a:endParaRPr lang="en-US" sz="3200" dirty="0"/>
          </a:p>
        </p:txBody>
      </p:sp>
      <p:sp>
        <p:nvSpPr>
          <p:cNvPr id="15" name="Text 13"/>
          <p:cNvSpPr/>
          <p:nvPr/>
        </p:nvSpPr>
        <p:spPr>
          <a:xfrm>
            <a:off x="5156071" y="3472656"/>
            <a:ext cx="1879553" cy="206375"/>
          </a:xfrm>
          <a:prstGeom prst="rect">
            <a:avLst/>
          </a:prstGeom>
          <a:noFill/>
          <a:ln/>
        </p:spPr>
        <p:txBody>
          <a:bodyPr wrap="none" lIns="0" tIns="0" rIns="0" bIns="0" rtlCol="0" anchor="t"/>
          <a:lstStyle/>
          <a:p>
            <a:pPr algn="l" indent="0" marL="0">
              <a:lnSpc>
                <a:spcPct val="104000"/>
              </a:lnSpc>
              <a:buNone/>
            </a:pPr>
            <a:r>
              <a:rPr lang="en-US" sz="1300" b="1" dirty="0">
                <a:solidFill>
                  <a:srgbClr val="0B1F3A"/>
                </a:solidFill>
                <a:latin typeface="Arimo Bold" pitchFamily="34" charset="0"/>
                <a:ea typeface="Arimo Bold" pitchFamily="34" charset="-122"/>
                <a:cs typeface="Arimo Bold" pitchFamily="34" charset="-120"/>
              </a:rPr>
              <a:t>Detect</a:t>
            </a:r>
            <a:endParaRPr lang="en-US" sz="1300" dirty="0"/>
          </a:p>
        </p:txBody>
      </p:sp>
      <p:sp>
        <p:nvSpPr>
          <p:cNvPr id="16" name="Text 14"/>
          <p:cNvSpPr/>
          <p:nvPr/>
        </p:nvSpPr>
        <p:spPr>
          <a:xfrm>
            <a:off x="5156071" y="3780631"/>
            <a:ext cx="1879553" cy="907852"/>
          </a:xfrm>
          <a:prstGeom prst="rect">
            <a:avLst/>
          </a:prstGeom>
          <a:noFill/>
          <a:ln/>
        </p:spPr>
        <p:txBody>
          <a:bodyPr wrap="square" lIns="0" tIns="0" rIns="0" bIns="0" rtlCol="0" anchor="t">
            <a:normAutofit/>
          </a:bodyPr>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Executes deterministic logic across event sequences to surface spraying, brute force, and anomalous follow-up success.</a:t>
            </a:r>
            <a:endParaRPr lang="en-US" sz="1100" dirty="0"/>
          </a:p>
        </p:txBody>
      </p:sp>
      <p:sp>
        <p:nvSpPr>
          <p:cNvPr id="17" name="Text 15"/>
          <p:cNvSpPr/>
          <p:nvPr/>
        </p:nvSpPr>
        <p:spPr>
          <a:xfrm>
            <a:off x="7391215" y="2963466"/>
            <a:ext cx="1879553" cy="426641"/>
          </a:xfrm>
          <a:prstGeom prst="rect">
            <a:avLst/>
          </a:prstGeom>
          <a:noFill/>
          <a:ln/>
        </p:spPr>
        <p:txBody>
          <a:bodyPr wrap="none" lIns="0" tIns="0" rIns="0" bIns="0" rtlCol="0" anchor="t"/>
          <a:lstStyle/>
          <a:p>
            <a:pPr algn="l" indent="0" marL="0">
              <a:lnSpc>
                <a:spcPct val="87000"/>
              </a:lnSpc>
              <a:buNone/>
            </a:pPr>
            <a:r>
              <a:rPr lang="en-US" sz="3200" b="1" spc="-32" kern="100" dirty="0">
                <a:solidFill>
                  <a:srgbClr val="0B1F3A"/>
                </a:solidFill>
                <a:latin typeface="Arimo Bold" pitchFamily="34" charset="0"/>
                <a:ea typeface="Arimo Bold" pitchFamily="34" charset="-122"/>
                <a:cs typeface="Arimo Bold" pitchFamily="34" charset="-120"/>
              </a:rPr>
              <a:t>04</a:t>
            </a:r>
            <a:endParaRPr lang="en-US" sz="3200" dirty="0"/>
          </a:p>
        </p:txBody>
      </p:sp>
      <p:sp>
        <p:nvSpPr>
          <p:cNvPr id="18" name="Text 16"/>
          <p:cNvSpPr/>
          <p:nvPr/>
        </p:nvSpPr>
        <p:spPr>
          <a:xfrm>
            <a:off x="7391215" y="3472656"/>
            <a:ext cx="1879553" cy="206375"/>
          </a:xfrm>
          <a:prstGeom prst="rect">
            <a:avLst/>
          </a:prstGeom>
          <a:noFill/>
          <a:ln/>
        </p:spPr>
        <p:txBody>
          <a:bodyPr wrap="none" lIns="0" tIns="0" rIns="0" bIns="0" rtlCol="0" anchor="t"/>
          <a:lstStyle/>
          <a:p>
            <a:pPr algn="l" indent="0" marL="0">
              <a:lnSpc>
                <a:spcPct val="104000"/>
              </a:lnSpc>
              <a:buNone/>
            </a:pPr>
            <a:r>
              <a:rPr lang="en-US" sz="1300" b="1" dirty="0">
                <a:solidFill>
                  <a:srgbClr val="0B1F3A"/>
                </a:solidFill>
                <a:latin typeface="Arimo Bold" pitchFamily="34" charset="0"/>
                <a:ea typeface="Arimo Bold" pitchFamily="34" charset="-122"/>
                <a:cs typeface="Arimo Bold" pitchFamily="34" charset="-120"/>
              </a:rPr>
              <a:t>Emit</a:t>
            </a:r>
            <a:endParaRPr lang="en-US" sz="1300" dirty="0"/>
          </a:p>
        </p:txBody>
      </p:sp>
      <p:sp>
        <p:nvSpPr>
          <p:cNvPr id="19" name="Text 17"/>
          <p:cNvSpPr/>
          <p:nvPr/>
        </p:nvSpPr>
        <p:spPr>
          <a:xfrm>
            <a:off x="7391215" y="3780631"/>
            <a:ext cx="1879553" cy="920552"/>
          </a:xfrm>
          <a:prstGeom prst="rect">
            <a:avLst/>
          </a:prstGeom>
          <a:noFill/>
          <a:ln/>
        </p:spPr>
        <p:txBody>
          <a:bodyPr wrap="square" lIns="0" tIns="0" rIns="0" bIns="0" rtlCol="0" anchor="t">
            <a:normAutofit/>
          </a:bodyPr>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Generates self-contained </a:t>
            </a:r>
            <a:pPr algn="l" indent="0" marL="0">
              <a:lnSpc>
                <a:spcPct val="108000"/>
              </a:lnSpc>
              <a:buNone/>
            </a:pPr>
            <a:r>
              <a:rPr lang="en-US" sz="1100" dirty="0">
                <a:solidFill>
                  <a:srgbClr val="2B2F36"/>
                </a:solidFill>
                <a:highlight>
                  <a:srgbClr val="F2F4F6"/>
                </a:highlight>
                <a:latin typeface="Consolas" pitchFamily="34" charset="0"/>
                <a:ea typeface="Consolas" pitchFamily="34" charset="-122"/>
                <a:cs typeface="Consolas" pitchFamily="34" charset="-120"/>
              </a:rPr>
              <a:t>SecurityAlert</a:t>
            </a:r>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 JSON payloads equipped with full forensic metadata and analyst guidance.</a:t>
            </a:r>
            <a:endParaRPr lang="en-US" sz="1100" dirty="0"/>
          </a:p>
        </p:txBody>
      </p:sp>
      <p:sp>
        <p:nvSpPr>
          <p:cNvPr id="20" name="Text 18"/>
          <p:cNvSpPr/>
          <p:nvPr/>
        </p:nvSpPr>
        <p:spPr>
          <a:xfrm>
            <a:off x="9626359" y="2963466"/>
            <a:ext cx="1879553" cy="426641"/>
          </a:xfrm>
          <a:prstGeom prst="rect">
            <a:avLst/>
          </a:prstGeom>
          <a:noFill/>
          <a:ln/>
        </p:spPr>
        <p:txBody>
          <a:bodyPr wrap="none" lIns="0" tIns="0" rIns="0" bIns="0" rtlCol="0" anchor="t"/>
          <a:lstStyle/>
          <a:p>
            <a:pPr algn="l" indent="0" marL="0">
              <a:lnSpc>
                <a:spcPct val="87000"/>
              </a:lnSpc>
              <a:buNone/>
            </a:pPr>
            <a:r>
              <a:rPr lang="en-US" sz="3200" b="1" spc="-32" kern="100" dirty="0">
                <a:solidFill>
                  <a:srgbClr val="0B1F3A"/>
                </a:solidFill>
                <a:latin typeface="Arimo Bold" pitchFamily="34" charset="0"/>
                <a:ea typeface="Arimo Bold" pitchFamily="34" charset="-122"/>
                <a:cs typeface="Arimo Bold" pitchFamily="34" charset="-120"/>
              </a:rPr>
              <a:t>05</a:t>
            </a:r>
            <a:endParaRPr lang="en-US" sz="3200" dirty="0"/>
          </a:p>
        </p:txBody>
      </p:sp>
      <p:sp>
        <p:nvSpPr>
          <p:cNvPr id="21" name="Text 19"/>
          <p:cNvSpPr/>
          <p:nvPr/>
        </p:nvSpPr>
        <p:spPr>
          <a:xfrm>
            <a:off x="9626359" y="3472656"/>
            <a:ext cx="1879553" cy="206375"/>
          </a:xfrm>
          <a:prstGeom prst="rect">
            <a:avLst/>
          </a:prstGeom>
          <a:noFill/>
          <a:ln/>
        </p:spPr>
        <p:txBody>
          <a:bodyPr wrap="none" lIns="0" tIns="0" rIns="0" bIns="0" rtlCol="0" anchor="t"/>
          <a:lstStyle/>
          <a:p>
            <a:pPr algn="l" indent="0" marL="0">
              <a:lnSpc>
                <a:spcPct val="104000"/>
              </a:lnSpc>
              <a:buNone/>
            </a:pPr>
            <a:r>
              <a:rPr lang="en-US" sz="1300" b="1" dirty="0">
                <a:solidFill>
                  <a:srgbClr val="0B1F3A"/>
                </a:solidFill>
                <a:latin typeface="Arimo Bold" pitchFamily="34" charset="0"/>
                <a:ea typeface="Arimo Bold" pitchFamily="34" charset="-122"/>
                <a:cs typeface="Arimo Bold" pitchFamily="34" charset="-120"/>
              </a:rPr>
              <a:t>Extend</a:t>
            </a:r>
            <a:endParaRPr lang="en-US" sz="1300" dirty="0"/>
          </a:p>
        </p:txBody>
      </p:sp>
      <p:sp>
        <p:nvSpPr>
          <p:cNvPr id="22" name="Text 20"/>
          <p:cNvSpPr/>
          <p:nvPr/>
        </p:nvSpPr>
        <p:spPr>
          <a:xfrm>
            <a:off x="9626359" y="3780631"/>
            <a:ext cx="1879553" cy="907852"/>
          </a:xfrm>
          <a:prstGeom prst="rect">
            <a:avLst/>
          </a:prstGeom>
          <a:noFill/>
          <a:ln/>
        </p:spPr>
        <p:txBody>
          <a:bodyPr wrap="square" lIns="0" tIns="0" rIns="0" bIns="0" rtlCol="0" anchor="t">
            <a:normAutofit/>
          </a:bodyPr>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Modular Python engine enables engineers to add bespoke detection rules and parsers in under 50 lines of code.</a:t>
            </a:r>
            <a:endParaRPr lang="en-US" sz="1100" dirty="0"/>
          </a:p>
        </p:txBody>
      </p:sp>
      <p:sp>
        <p:nvSpPr>
          <p:cNvPr id="23" name="Shape 21"/>
          <p:cNvSpPr/>
          <p:nvPr/>
        </p:nvSpPr>
        <p:spPr>
          <a:xfrm>
            <a:off x="507987" y="5224363"/>
            <a:ext cx="11175720" cy="683220"/>
          </a:xfrm>
          <a:prstGeom prst="rect">
            <a:avLst/>
          </a:prstGeom>
          <a:solidFill>
            <a:srgbClr val="F2F4F6"/>
          </a:solidFill>
          <a:ln/>
        </p:spPr>
        <p:txBody>
          <a:bodyPr/>
          <a:p/>
        </p:txBody>
      </p:sp>
      <p:sp>
        <p:nvSpPr>
          <p:cNvPr id="24" name="Shape 22"/>
          <p:cNvSpPr/>
          <p:nvPr/>
        </p:nvSpPr>
        <p:spPr>
          <a:xfrm>
            <a:off x="507987" y="5224363"/>
            <a:ext cx="38099" cy="683220"/>
          </a:xfrm>
          <a:prstGeom prst="rect">
            <a:avLst/>
          </a:prstGeom>
          <a:solidFill>
            <a:srgbClr val="C0102F"/>
          </a:solidFill>
          <a:ln/>
        </p:spPr>
        <p:txBody>
          <a:bodyPr/>
          <a:p/>
        </p:txBody>
      </p:sp>
      <p:sp>
        <p:nvSpPr>
          <p:cNvPr id="25" name="Text 23"/>
          <p:cNvSpPr/>
          <p:nvPr/>
        </p:nvSpPr>
        <p:spPr>
          <a:xfrm>
            <a:off x="749281" y="5351363"/>
            <a:ext cx="10731232" cy="429220"/>
          </a:xfrm>
          <a:prstGeom prst="rect">
            <a:avLst/>
          </a:prstGeom>
          <a:noFill/>
          <a:ln/>
        </p:spPr>
        <p:txBody>
          <a:bodyPr wrap="square" lIns="0" tIns="0" rIns="0" bIns="0" rtlCol="0" anchor="t">
            <a:normAutofit/>
          </a:bodyPr>
          <a:lstStyle/>
          <a:p>
            <a:pPr algn="l" indent="0" marL="0">
              <a:lnSpc>
                <a:spcPct val="108000"/>
              </a:lnSpc>
              <a:buNone/>
            </a:pPr>
            <a:r>
              <a:rPr lang="en-US" sz="1300" b="1" dirty="0">
                <a:solidFill>
                  <a:srgbClr val="2B2F36"/>
                </a:solidFill>
                <a:latin typeface="Arimo Bold" pitchFamily="34" charset="0"/>
                <a:ea typeface="Arimo Bold" pitchFamily="34" charset="-122"/>
                <a:cs typeface="Arimo Bold" pitchFamily="34" charset="-120"/>
              </a:rPr>
              <a:t>Explicit boundary:</a:t>
            </a:r>
            <a:pPr algn="l" indent="0" marL="0">
              <a:lnSpc>
                <a:spcPct val="108000"/>
              </a:lnSpc>
              <a:buNone/>
            </a:pPr>
            <a:r>
              <a:rPr lang="en-US" sz="1300" dirty="0">
                <a:solidFill>
                  <a:srgbClr val="2B2F36"/>
                </a:solidFill>
                <a:latin typeface="Arimo" pitchFamily="34" charset="0"/>
                <a:ea typeface="Arimo" pitchFamily="34" charset="-122"/>
                <a:cs typeface="Arimo" pitchFamily="34" charset="-120"/>
              </a:rPr>
              <a:t> SentinelLog produces investigation signals for defensive analysts, not automated blocks or unverified accusations of malicious compromise.</a:t>
            </a:r>
            <a:endParaRPr lang="en-US" sz="1300" dirty="0"/>
          </a:p>
        </p:txBody>
      </p:sp>
      <p:sp>
        <p:nvSpPr>
          <p:cNvPr id="26" name="Text 24"/>
          <p:cNvSpPr/>
          <p:nvPr/>
        </p:nvSpPr>
        <p:spPr>
          <a:xfrm>
            <a:off x="507987" y="6329164"/>
            <a:ext cx="11683708" cy="173335"/>
          </a:xfrm>
          <a:prstGeom prst="rect">
            <a:avLst/>
          </a:prstGeom>
          <a:noFill/>
          <a:ln/>
        </p:spPr>
        <p:txBody>
          <a:bodyPr wrap="none" lIns="0" tIns="0" rIns="0" bIns="0" rtlCol="0" anchor="t"/>
          <a:lstStyle/>
          <a:p>
            <a:pPr algn="l" indent="0" marL="0">
              <a:lnSpc>
                <a:spcPct val="108000"/>
              </a:lnSpc>
              <a:buNone/>
            </a:pPr>
            <a:r>
              <a:rPr lang="en-US" sz="1050" dirty="0">
                <a:solidFill>
                  <a:srgbClr val="5B6573"/>
                </a:solidFill>
                <a:latin typeface="Arimo" pitchFamily="34" charset="0"/>
                <a:ea typeface="Arimo" pitchFamily="34" charset="-122"/>
                <a:cs typeface="Arimo" pitchFamily="34" charset="-120"/>
              </a:rPr>
              <a:t>SentinelLog v0.1.0 Specification · Designed for SOC Analyst Workflows &amp; Security Engineering</a:t>
            </a:r>
            <a:endParaRPr lang="en-US" sz="1050" dirty="0"/>
          </a:p>
        </p:txBody>
      </p:sp>
      <p:sp>
        <p:nvSpPr>
          <p:cNvPr id="27" name="Shape 25"/>
          <p:cNvSpPr/>
          <p:nvPr/>
        </p:nvSpPr>
        <p:spPr>
          <a:xfrm>
            <a:off x="2736782" y="2861866"/>
            <a:ext cx="12700" cy="1940917"/>
          </a:xfrm>
          <a:prstGeom prst="rect">
            <a:avLst/>
          </a:prstGeom>
          <a:solidFill>
            <a:srgbClr val="D5DAE0"/>
          </a:solidFill>
          <a:ln/>
        </p:spPr>
        <p:txBody>
          <a:bodyPr/>
          <a:p/>
        </p:txBody>
      </p:sp>
      <p:sp>
        <p:nvSpPr>
          <p:cNvPr id="28" name="Shape 26"/>
          <p:cNvSpPr/>
          <p:nvPr/>
        </p:nvSpPr>
        <p:spPr>
          <a:xfrm>
            <a:off x="4971926" y="2861866"/>
            <a:ext cx="12700" cy="1940917"/>
          </a:xfrm>
          <a:prstGeom prst="rect">
            <a:avLst/>
          </a:prstGeom>
          <a:solidFill>
            <a:srgbClr val="D5DAE0"/>
          </a:solidFill>
          <a:ln/>
        </p:spPr>
        <p:txBody>
          <a:bodyPr/>
          <a:p/>
        </p:txBody>
      </p:sp>
      <p:sp>
        <p:nvSpPr>
          <p:cNvPr id="29" name="Shape 27"/>
          <p:cNvSpPr/>
          <p:nvPr/>
        </p:nvSpPr>
        <p:spPr>
          <a:xfrm>
            <a:off x="7207070" y="2861866"/>
            <a:ext cx="12700" cy="1940917"/>
          </a:xfrm>
          <a:prstGeom prst="rect">
            <a:avLst/>
          </a:prstGeom>
          <a:solidFill>
            <a:srgbClr val="D5DAE0"/>
          </a:solidFill>
          <a:ln/>
        </p:spPr>
        <p:txBody>
          <a:bodyPr/>
          <a:p/>
        </p:txBody>
      </p:sp>
      <p:sp>
        <p:nvSpPr>
          <p:cNvPr id="30" name="Shape 28"/>
          <p:cNvSpPr/>
          <p:nvPr/>
        </p:nvSpPr>
        <p:spPr>
          <a:xfrm>
            <a:off x="9442214" y="2861866"/>
            <a:ext cx="12700" cy="1940917"/>
          </a:xfrm>
          <a:prstGeom prst="rect">
            <a:avLst/>
          </a:prstGeom>
          <a:solidFill>
            <a:srgbClr val="D5DAE0"/>
          </a:solidFill>
          <a:ln/>
        </p:spPr>
        <p:txBody>
          <a:bodyPr/>
          <a:p/>
        </p:txBody>
      </p:sp>
      <p:sp>
        <p:nvSpPr>
          <p:cNvPr id="31" name="Text 29"/>
          <p:cNvSpPr/>
          <p:nvPr/>
        </p:nvSpPr>
        <p:spPr>
          <a:xfrm>
            <a:off x="507987" y="6555085"/>
            <a:ext cx="1213415" cy="148530"/>
          </a:xfrm>
          <a:prstGeom prst="rect">
            <a:avLst/>
          </a:prstGeom>
          <a:noFill/>
          <a:ln/>
        </p:spPr>
        <p:txBody>
          <a:bodyPr wrap="none" lIns="0" tIns="0" rIns="0" bIns="0" rtlCol="0" anchor="ctr"/>
          <a:lstStyle/>
          <a:p>
            <a:pPr algn="l" indent="0" marL="0">
              <a:lnSpc>
                <a:spcPct val="108000"/>
              </a:lnSpc>
              <a:buNone/>
            </a:pPr>
            <a:r>
              <a:rPr lang="en-US" sz="900" dirty="0">
                <a:solidFill>
                  <a:srgbClr val="2B2F36"/>
                </a:solidFill>
                <a:latin typeface="Arimo" pitchFamily="34" charset="0"/>
                <a:ea typeface="Arimo" pitchFamily="34" charset="-122"/>
                <a:cs typeface="Arimo" pitchFamily="34" charset="-120"/>
              </a:rPr>
              <a:t>SentinelLog</a:t>
            </a:r>
            <a:endParaRPr lang="en-US" sz="900" dirty="0"/>
          </a:p>
        </p:txBody>
      </p:sp>
      <p:sp>
        <p:nvSpPr>
          <p:cNvPr id="32" name="Text 30"/>
          <p:cNvSpPr/>
          <p:nvPr/>
        </p:nvSpPr>
        <p:spPr>
          <a:xfrm>
            <a:off x="11620209" y="6555085"/>
            <a:ext cx="571486" cy="148530"/>
          </a:xfrm>
          <a:prstGeom prst="rect">
            <a:avLst/>
          </a:prstGeom>
          <a:noFill/>
          <a:ln/>
        </p:spPr>
        <p:txBody>
          <a:bodyPr wrap="none" lIns="0" tIns="0" rIns="0" bIns="0" rtlCol="0" anchor="ctr"/>
          <a:lstStyle/>
          <a:p>
            <a:pPr algn="l" indent="0" marL="0">
              <a:lnSpc>
                <a:spcPct val="108000"/>
              </a:lnSpc>
              <a:buNone/>
            </a:pPr>
            <a:r>
              <a:rPr lang="en-US" sz="900" dirty="0">
                <a:solidFill>
                  <a:srgbClr val="2B2F36"/>
                </a:solidFill>
                <a:latin typeface="Arimo" pitchFamily="34" charset="0"/>
                <a:ea typeface="Arimo" pitchFamily="34" charset="-122"/>
                <a:cs typeface="Arimo"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7987" y="508000"/>
            <a:ext cx="11683708"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PIPELINE ARCHITECTURE</a:t>
            </a:r>
            <a:endParaRPr lang="en-US" sz="950" dirty="0"/>
          </a:p>
        </p:txBody>
      </p:sp>
      <p:sp>
        <p:nvSpPr>
          <p:cNvPr id="3" name="Text 1"/>
          <p:cNvSpPr/>
          <p:nvPr/>
        </p:nvSpPr>
        <p:spPr>
          <a:xfrm>
            <a:off x="507987" y="709910"/>
            <a:ext cx="11175720" cy="398264"/>
          </a:xfrm>
          <a:prstGeom prst="rect">
            <a:avLst/>
          </a:prstGeom>
          <a:noFill/>
          <a:ln/>
        </p:spPr>
        <p:txBody>
          <a:bodyPr wrap="none" lIns="0" tIns="0" rIns="0" bIns="0" rtlCol="0" anchor="t"/>
          <a:lstStyle/>
          <a:p>
            <a:pPr algn="l" indent="0" marL="0">
              <a:lnSpc>
                <a:spcPct val="93000"/>
              </a:lnSpc>
              <a:buNone/>
            </a:pPr>
            <a:r>
              <a:rPr lang="en-US" sz="2800" b="1" spc="-14" kern="100" dirty="0">
                <a:solidFill>
                  <a:srgbClr val="0B1F3A"/>
                </a:solidFill>
                <a:latin typeface="Arimo Bold" pitchFamily="34" charset="0"/>
                <a:ea typeface="Arimo Bold" pitchFamily="34" charset="-122"/>
                <a:cs typeface="Arimo Bold" pitchFamily="34" charset="-120"/>
              </a:rPr>
              <a:t>A compact pipeline from log line to alert</a:t>
            </a:r>
            <a:endParaRPr lang="en-US" sz="2800" dirty="0"/>
          </a:p>
        </p:txBody>
      </p:sp>
      <p:sp>
        <p:nvSpPr>
          <p:cNvPr id="4" name="Shape 2"/>
          <p:cNvSpPr/>
          <p:nvPr/>
        </p:nvSpPr>
        <p:spPr>
          <a:xfrm>
            <a:off x="507987" y="1289149"/>
            <a:ext cx="11175621" cy="19050"/>
          </a:xfrm>
          <a:prstGeom prst="roundRect">
            <a:avLst>
              <a:gd name="adj" fmla="val 49999"/>
            </a:avLst>
          </a:prstGeom>
          <a:solidFill>
            <a:srgbClr val="D5DAE0"/>
          </a:solidFill>
          <a:ln/>
        </p:spPr>
        <p:txBody>
          <a:bodyPr/>
          <a:p/>
        </p:txBody>
      </p:sp>
      <p:sp>
        <p:nvSpPr>
          <p:cNvPr id="5" name="Shape 3"/>
          <p:cNvSpPr/>
          <p:nvPr/>
        </p:nvSpPr>
        <p:spPr>
          <a:xfrm>
            <a:off x="507987" y="1476474"/>
            <a:ext cx="2679633" cy="2413496"/>
          </a:xfrm>
          <a:prstGeom prst="rect">
            <a:avLst/>
          </a:prstGeom>
          <a:noFill/>
          <a:ln w="6350">
            <a:solidFill>
              <a:srgbClr val="D5DAE0"/>
            </a:solidFill>
            <a:prstDash val="solid"/>
          </a:ln>
          <a:effectLst>
            <a:outerShdw sx="100000" sy="100000" kx="0" ky="0" algn="bl" rotWithShape="0" blurRad="30480" dist="11430" dir="5400000">
              <a:srgbClr val="0b1f3a">
                <a:alpha val="1000"/>
              </a:srgbClr>
            </a:outerShdw>
          </a:effectLst>
        </p:spPr>
        <p:txBody>
          <a:bodyPr/>
          <a:p/>
        </p:txBody>
      </p:sp>
      <p:sp>
        <p:nvSpPr>
          <p:cNvPr id="6" name="Text 4"/>
          <p:cNvSpPr/>
          <p:nvPr/>
        </p:nvSpPr>
        <p:spPr>
          <a:xfrm>
            <a:off x="742931" y="1711424"/>
            <a:ext cx="2444689"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STAGE 1 · INGEST</a:t>
            </a:r>
            <a:endParaRPr lang="en-US" sz="950" dirty="0"/>
          </a:p>
        </p:txBody>
      </p:sp>
      <p:sp>
        <p:nvSpPr>
          <p:cNvPr id="7" name="Text 5"/>
          <p:cNvSpPr/>
          <p:nvPr/>
        </p:nvSpPr>
        <p:spPr>
          <a:xfrm>
            <a:off x="742931" y="1913334"/>
            <a:ext cx="2209745" cy="206375"/>
          </a:xfrm>
          <a:prstGeom prst="rect">
            <a:avLst/>
          </a:prstGeom>
          <a:noFill/>
          <a:ln/>
        </p:spPr>
        <p:txBody>
          <a:bodyPr wrap="none" lIns="0" tIns="0" rIns="0" bIns="0" rtlCol="0" anchor="t"/>
          <a:lstStyle/>
          <a:p>
            <a:pPr algn="l" indent="0" marL="0">
              <a:lnSpc>
                <a:spcPct val="104000"/>
              </a:lnSpc>
              <a:buNone/>
            </a:pPr>
            <a:r>
              <a:rPr lang="en-US" sz="1300" b="1" dirty="0">
                <a:solidFill>
                  <a:srgbClr val="0B1F3A"/>
                </a:solidFill>
                <a:latin typeface="Arimo Bold" pitchFamily="34" charset="0"/>
                <a:ea typeface="Arimo Bold" pitchFamily="34" charset="-122"/>
                <a:cs typeface="Arimo Bold" pitchFamily="34" charset="-120"/>
              </a:rPr>
              <a:t>Log Telemetry</a:t>
            </a:r>
            <a:endParaRPr lang="en-US" sz="1300" dirty="0"/>
          </a:p>
        </p:txBody>
      </p:sp>
      <p:sp>
        <p:nvSpPr>
          <p:cNvPr id="8" name="Text 6"/>
          <p:cNvSpPr/>
          <p:nvPr/>
        </p:nvSpPr>
        <p:spPr>
          <a:xfrm>
            <a:off x="742931" y="2221309"/>
            <a:ext cx="2209745" cy="1149251"/>
          </a:xfrm>
          <a:prstGeom prst="rect">
            <a:avLst/>
          </a:prstGeom>
          <a:noFill/>
          <a:ln/>
        </p:spPr>
        <p:txBody>
          <a:bodyPr wrap="square" lIns="0" tIns="0" rIns="0" bIns="0" rtlCol="0" anchor="t">
            <a:normAutofit/>
          </a:bodyPr>
          <a:lstStyle/>
          <a:p>
            <a:pPr algn="l" marL="264160" indent="-264160">
              <a:lnSpc>
                <a:spcPct val="108000"/>
              </a:lnSpc>
              <a:buSzPct val="100000"/>
              <a:buChar char="•"/>
            </a:pPr>
            <a:r>
              <a:rPr lang="en-US" sz="1300" dirty="0">
                <a:solidFill>
                  <a:srgbClr val="2B2F36"/>
                </a:solidFill>
                <a:latin typeface="Arimo" pitchFamily="34" charset="0"/>
                <a:ea typeface="Arimo" pitchFamily="34" charset="-122"/>
                <a:cs typeface="Arimo" pitchFamily="34" charset="-120"/>
              </a:rPr>
              <a:t>OpenSSH </a:t>
            </a:r>
            <a:pPr algn="l" marL="264160" indent="-264160">
              <a:lnSpc>
                <a:spcPct val="108000"/>
              </a:lnSpc>
              <a:buSzPct val="100000"/>
              <a:buChar char="•"/>
            </a:pPr>
            <a:r>
              <a:rPr lang="en-US" sz="1300" dirty="0">
                <a:solidFill>
                  <a:srgbClr val="2B2F36"/>
                </a:solidFill>
                <a:highlight>
                  <a:srgbClr val="F2F4F6"/>
                </a:highlight>
                <a:latin typeface="Consolas" pitchFamily="34" charset="0"/>
                <a:ea typeface="Consolas" pitchFamily="34" charset="-122"/>
                <a:cs typeface="Consolas" pitchFamily="34" charset="-120"/>
              </a:rPr>
              <a:t>/var/log/auth.log</a:t>
            </a:r>
            <a:endParaRPr lang="en-US" sz="1300" dirty="0"/>
          </a:p>
          <a:p>
            <a:pPr algn="l" marL="264160" indent="-264160">
              <a:lnSpc>
                <a:spcPct val="108000"/>
              </a:lnSpc>
              <a:buSzPct val="100000"/>
              <a:buChar char="•"/>
            </a:pPr>
            <a:r>
              <a:rPr lang="en-US" sz="1300" dirty="0">
                <a:solidFill>
                  <a:srgbClr val="2B2F36"/>
                </a:solidFill>
                <a:latin typeface="Arimo" pitchFamily="34" charset="0"/>
                <a:ea typeface="Arimo" pitchFamily="34" charset="-122"/>
                <a:cs typeface="Arimo" pitchFamily="34" charset="-120"/>
              </a:rPr>
              <a:t>SentinelLog standard JSON</a:t>
            </a:r>
            <a:endParaRPr lang="en-US" sz="1300" dirty="0"/>
          </a:p>
          <a:p>
            <a:pPr algn="l" marL="264160" indent="-264160">
              <a:lnSpc>
                <a:spcPct val="108000"/>
              </a:lnSpc>
              <a:buSzPct val="100000"/>
              <a:buChar char="•"/>
            </a:pPr>
            <a:r>
              <a:rPr lang="en-US" sz="1300" dirty="0">
                <a:solidFill>
                  <a:srgbClr val="2B2F36"/>
                </a:solidFill>
                <a:latin typeface="Arimo" pitchFamily="34" charset="0"/>
                <a:ea typeface="Arimo" pitchFamily="34" charset="-122"/>
                <a:cs typeface="Arimo" pitchFamily="34" charset="-120"/>
              </a:rPr>
              <a:t>Syslog daemon streams</a:t>
            </a:r>
            <a:endParaRPr lang="en-US" sz="1300" dirty="0"/>
          </a:p>
        </p:txBody>
      </p:sp>
      <p:sp>
        <p:nvSpPr>
          <p:cNvPr id="9" name="Text 7"/>
          <p:cNvSpPr/>
          <p:nvPr/>
        </p:nvSpPr>
        <p:spPr>
          <a:xfrm>
            <a:off x="742931" y="3453110"/>
            <a:ext cx="2444689" cy="173335"/>
          </a:xfrm>
          <a:prstGeom prst="rect">
            <a:avLst/>
          </a:prstGeom>
          <a:noFill/>
          <a:ln/>
        </p:spPr>
        <p:txBody>
          <a:bodyPr wrap="none" lIns="0" tIns="0" rIns="0" bIns="0" rtlCol="0" anchor="t"/>
          <a:lstStyle/>
          <a:p>
            <a:pPr algn="l" indent="0" marL="0">
              <a:lnSpc>
                <a:spcPct val="108000"/>
              </a:lnSpc>
              <a:buNone/>
            </a:pPr>
            <a:r>
              <a:rPr lang="en-US" sz="1050" b="1" dirty="0">
                <a:solidFill>
                  <a:srgbClr val="5B6573"/>
                </a:solidFill>
                <a:latin typeface="Arimo Bold" pitchFamily="34" charset="0"/>
                <a:ea typeface="Arimo Bold" pitchFamily="34" charset="-122"/>
                <a:cs typeface="Arimo Bold" pitchFamily="34" charset="-120"/>
              </a:rPr>
              <a:t>Input Interface:</a:t>
            </a:r>
            <a:pPr algn="l" indent="0" marL="0">
              <a:lnSpc>
                <a:spcPct val="108000"/>
              </a:lnSpc>
              <a:buNone/>
            </a:pPr>
            <a:r>
              <a:rPr lang="en-US" sz="1050" dirty="0">
                <a:solidFill>
                  <a:srgbClr val="5B6573"/>
                </a:solidFill>
                <a:latin typeface="Arimo" pitchFamily="34" charset="0"/>
                <a:ea typeface="Arimo" pitchFamily="34" charset="-122"/>
                <a:cs typeface="Arimo" pitchFamily="34" charset="-120"/>
              </a:rPr>
              <a:t> File / STDIN</a:t>
            </a:r>
            <a:endParaRPr lang="en-US" sz="1050" dirty="0"/>
          </a:p>
        </p:txBody>
      </p:sp>
      <p:sp>
        <p:nvSpPr>
          <p:cNvPr id="10" name="Shape 8"/>
          <p:cNvSpPr/>
          <p:nvPr/>
        </p:nvSpPr>
        <p:spPr>
          <a:xfrm>
            <a:off x="3340016" y="1476474"/>
            <a:ext cx="2679633" cy="2413496"/>
          </a:xfrm>
          <a:prstGeom prst="rect">
            <a:avLst/>
          </a:prstGeom>
          <a:noFill/>
          <a:ln w="6350">
            <a:solidFill>
              <a:srgbClr val="D5DAE0"/>
            </a:solidFill>
            <a:prstDash val="solid"/>
          </a:ln>
          <a:effectLst>
            <a:outerShdw sx="100000" sy="100000" kx="0" ky="0" algn="bl" rotWithShape="0" blurRad="30480" dist="11430" dir="5400000">
              <a:srgbClr val="0b1f3a">
                <a:alpha val="1000"/>
              </a:srgbClr>
            </a:outerShdw>
          </a:effectLst>
        </p:spPr>
        <p:txBody>
          <a:bodyPr/>
          <a:p/>
        </p:txBody>
      </p:sp>
      <p:sp>
        <p:nvSpPr>
          <p:cNvPr id="11" name="Text 9"/>
          <p:cNvSpPr/>
          <p:nvPr/>
        </p:nvSpPr>
        <p:spPr>
          <a:xfrm>
            <a:off x="3574961" y="1711424"/>
            <a:ext cx="2444689"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STAGE 2 · PARSE</a:t>
            </a:r>
            <a:endParaRPr lang="en-US" sz="950" dirty="0"/>
          </a:p>
        </p:txBody>
      </p:sp>
      <p:sp>
        <p:nvSpPr>
          <p:cNvPr id="12" name="Text 10"/>
          <p:cNvSpPr/>
          <p:nvPr/>
        </p:nvSpPr>
        <p:spPr>
          <a:xfrm>
            <a:off x="3574961" y="1913334"/>
            <a:ext cx="2209745" cy="206375"/>
          </a:xfrm>
          <a:prstGeom prst="rect">
            <a:avLst/>
          </a:prstGeom>
          <a:noFill/>
          <a:ln/>
        </p:spPr>
        <p:txBody>
          <a:bodyPr wrap="none" lIns="0" tIns="0" rIns="0" bIns="0" rtlCol="0" anchor="t"/>
          <a:lstStyle/>
          <a:p>
            <a:pPr algn="l" indent="0" marL="0">
              <a:lnSpc>
                <a:spcPct val="104000"/>
              </a:lnSpc>
              <a:buNone/>
            </a:pPr>
            <a:r>
              <a:rPr lang="en-US" sz="1300" b="1" dirty="0">
                <a:solidFill>
                  <a:srgbClr val="0B1F3A"/>
                </a:solidFill>
                <a:latin typeface="Arimo Bold" pitchFamily="34" charset="0"/>
                <a:ea typeface="Arimo Bold" pitchFamily="34" charset="-122"/>
                <a:cs typeface="Arimo Bold" pitchFamily="34" charset="-120"/>
              </a:rPr>
              <a:t>Event Normalizer</a:t>
            </a:r>
            <a:endParaRPr lang="en-US" sz="1300" dirty="0"/>
          </a:p>
        </p:txBody>
      </p:sp>
      <p:sp>
        <p:nvSpPr>
          <p:cNvPr id="13" name="Text 11"/>
          <p:cNvSpPr/>
          <p:nvPr/>
        </p:nvSpPr>
        <p:spPr>
          <a:xfrm>
            <a:off x="3574961" y="2221309"/>
            <a:ext cx="2209745" cy="934641"/>
          </a:xfrm>
          <a:prstGeom prst="rect">
            <a:avLst/>
          </a:prstGeom>
          <a:noFill/>
          <a:ln/>
        </p:spPr>
        <p:txBody>
          <a:bodyPr wrap="square" lIns="0" tIns="0" rIns="0" bIns="0" rtlCol="0" anchor="t">
            <a:normAutofit/>
          </a:bodyPr>
          <a:lstStyle/>
          <a:p>
            <a:pPr algn="l" marL="264160" indent="-264160">
              <a:lnSpc>
                <a:spcPct val="108000"/>
              </a:lnSpc>
              <a:buSzPct val="100000"/>
              <a:buChar char="•"/>
            </a:pPr>
            <a:r>
              <a:rPr lang="en-US" sz="1300" dirty="0">
                <a:solidFill>
                  <a:srgbClr val="2B2F36"/>
                </a:solidFill>
                <a:latin typeface="Arimo" pitchFamily="34" charset="0"/>
                <a:ea typeface="Arimo" pitchFamily="34" charset="-122"/>
                <a:cs typeface="Arimo" pitchFamily="34" charset="-120"/>
              </a:rPr>
              <a:t>Regex &amp; token extraction</a:t>
            </a:r>
            <a:endParaRPr lang="en-US" sz="1300" dirty="0"/>
          </a:p>
          <a:p>
            <a:pPr algn="l" marL="264160" indent="-264160">
              <a:lnSpc>
                <a:spcPct val="108000"/>
              </a:lnSpc>
              <a:buSzPct val="100000"/>
              <a:buChar char="•"/>
            </a:pPr>
            <a:r>
              <a:rPr lang="en-US" sz="1300" dirty="0">
                <a:solidFill>
                  <a:srgbClr val="2B2F36"/>
                </a:solidFill>
                <a:latin typeface="Arimo" pitchFamily="34" charset="0"/>
                <a:ea typeface="Arimo" pitchFamily="34" charset="-122"/>
                <a:cs typeface="Arimo" pitchFamily="34" charset="-120"/>
              </a:rPr>
              <a:t>Timestamp canonicalization</a:t>
            </a:r>
            <a:endParaRPr lang="en-US" sz="1300" dirty="0"/>
          </a:p>
          <a:p>
            <a:pPr algn="l" marL="264160" indent="-264160">
              <a:lnSpc>
                <a:spcPct val="108000"/>
              </a:lnSpc>
              <a:buSzPct val="100000"/>
              <a:buChar char="•"/>
            </a:pPr>
            <a:r>
              <a:rPr lang="en-US" sz="1300" dirty="0">
                <a:solidFill>
                  <a:srgbClr val="2B2F36"/>
                </a:solidFill>
                <a:latin typeface="Arimo" pitchFamily="34" charset="0"/>
                <a:ea typeface="Arimo" pitchFamily="34" charset="-122"/>
                <a:cs typeface="Arimo" pitchFamily="34" charset="-120"/>
              </a:rPr>
              <a:t>Yields typed </a:t>
            </a:r>
            <a:pPr algn="l" marL="264160" indent="-264160">
              <a:lnSpc>
                <a:spcPct val="108000"/>
              </a:lnSpc>
              <a:buSzPct val="100000"/>
              <a:buChar char="•"/>
            </a:pPr>
            <a:r>
              <a:rPr lang="en-US" sz="1300" dirty="0">
                <a:solidFill>
                  <a:srgbClr val="2B2F36"/>
                </a:solidFill>
                <a:highlight>
                  <a:srgbClr val="F2F4F6"/>
                </a:highlight>
                <a:latin typeface="Consolas" pitchFamily="34" charset="0"/>
                <a:ea typeface="Consolas" pitchFamily="34" charset="-122"/>
                <a:cs typeface="Consolas" pitchFamily="34" charset="-120"/>
              </a:rPr>
              <a:t>AuthEvent</a:t>
            </a:r>
            <a:endParaRPr lang="en-US" sz="1300" dirty="0"/>
          </a:p>
        </p:txBody>
      </p:sp>
      <p:sp>
        <p:nvSpPr>
          <p:cNvPr id="14" name="Text 12"/>
          <p:cNvSpPr/>
          <p:nvPr/>
        </p:nvSpPr>
        <p:spPr>
          <a:xfrm>
            <a:off x="3574961" y="3238500"/>
            <a:ext cx="2444689" cy="173335"/>
          </a:xfrm>
          <a:prstGeom prst="rect">
            <a:avLst/>
          </a:prstGeom>
          <a:noFill/>
          <a:ln/>
        </p:spPr>
        <p:txBody>
          <a:bodyPr wrap="none" lIns="0" tIns="0" rIns="0" bIns="0" rtlCol="0" anchor="t"/>
          <a:lstStyle/>
          <a:p>
            <a:pPr algn="l" indent="0" marL="0">
              <a:lnSpc>
                <a:spcPct val="108000"/>
              </a:lnSpc>
              <a:buNone/>
            </a:pPr>
            <a:r>
              <a:rPr lang="en-US" sz="1050" b="1" dirty="0">
                <a:solidFill>
                  <a:srgbClr val="5B6573"/>
                </a:solidFill>
                <a:latin typeface="Arimo Bold" pitchFamily="34" charset="0"/>
                <a:ea typeface="Arimo Bold" pitchFamily="34" charset="-122"/>
                <a:cs typeface="Arimo Bold" pitchFamily="34" charset="-120"/>
              </a:rPr>
              <a:t>Artifact:</a:t>
            </a:r>
            <a:pPr algn="l" indent="0" marL="0">
              <a:lnSpc>
                <a:spcPct val="108000"/>
              </a:lnSpc>
              <a:buNone/>
            </a:pPr>
            <a:r>
              <a:rPr lang="en-US" sz="1050" dirty="0">
                <a:solidFill>
                  <a:srgbClr val="5B6573"/>
                </a:solidFill>
                <a:latin typeface="Arimo" pitchFamily="34" charset="0"/>
                <a:ea typeface="Arimo" pitchFamily="34" charset="-122"/>
                <a:cs typeface="Arimo" pitchFamily="34" charset="-120"/>
              </a:rPr>
              <a:t> Dataclass Model</a:t>
            </a:r>
            <a:endParaRPr lang="en-US" sz="1050" dirty="0"/>
          </a:p>
        </p:txBody>
      </p:sp>
      <p:sp>
        <p:nvSpPr>
          <p:cNvPr id="15" name="Shape 13"/>
          <p:cNvSpPr/>
          <p:nvPr/>
        </p:nvSpPr>
        <p:spPr>
          <a:xfrm>
            <a:off x="6172046" y="1476474"/>
            <a:ext cx="2679633" cy="2413496"/>
          </a:xfrm>
          <a:prstGeom prst="rect">
            <a:avLst/>
          </a:prstGeom>
          <a:noFill/>
          <a:ln w="6350">
            <a:solidFill>
              <a:srgbClr val="D5DAE0"/>
            </a:solidFill>
            <a:prstDash val="solid"/>
          </a:ln>
          <a:effectLst>
            <a:outerShdw sx="100000" sy="100000" kx="0" ky="0" algn="bl" rotWithShape="0" blurRad="30480" dist="11430" dir="5400000">
              <a:srgbClr val="0b1f3a">
                <a:alpha val="1000"/>
              </a:srgbClr>
            </a:outerShdw>
          </a:effectLst>
        </p:spPr>
        <p:txBody>
          <a:bodyPr/>
          <a:p/>
        </p:txBody>
      </p:sp>
      <p:sp>
        <p:nvSpPr>
          <p:cNvPr id="16" name="Text 14"/>
          <p:cNvSpPr/>
          <p:nvPr/>
        </p:nvSpPr>
        <p:spPr>
          <a:xfrm>
            <a:off x="6406990" y="1711424"/>
            <a:ext cx="2444689"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STAGE 3 · EVALUATE</a:t>
            </a:r>
            <a:endParaRPr lang="en-US" sz="950" dirty="0"/>
          </a:p>
        </p:txBody>
      </p:sp>
      <p:sp>
        <p:nvSpPr>
          <p:cNvPr id="17" name="Text 15"/>
          <p:cNvSpPr/>
          <p:nvPr/>
        </p:nvSpPr>
        <p:spPr>
          <a:xfrm>
            <a:off x="6406990" y="1913334"/>
            <a:ext cx="2209745" cy="206375"/>
          </a:xfrm>
          <a:prstGeom prst="rect">
            <a:avLst/>
          </a:prstGeom>
          <a:noFill/>
          <a:ln/>
        </p:spPr>
        <p:txBody>
          <a:bodyPr wrap="none" lIns="0" tIns="0" rIns="0" bIns="0" rtlCol="0" anchor="t"/>
          <a:lstStyle/>
          <a:p>
            <a:pPr algn="l" indent="0" marL="0">
              <a:lnSpc>
                <a:spcPct val="104000"/>
              </a:lnSpc>
              <a:buNone/>
            </a:pPr>
            <a:r>
              <a:rPr lang="en-US" sz="1300" b="1" dirty="0">
                <a:solidFill>
                  <a:srgbClr val="0B1F3A"/>
                </a:solidFill>
                <a:latin typeface="Arimo Bold" pitchFamily="34" charset="0"/>
                <a:ea typeface="Arimo Bold" pitchFamily="34" charset="-122"/>
                <a:cs typeface="Arimo Bold" pitchFamily="34" charset="-120"/>
              </a:rPr>
              <a:t>Detection Engine</a:t>
            </a:r>
            <a:endParaRPr lang="en-US" sz="1300" dirty="0"/>
          </a:p>
        </p:txBody>
      </p:sp>
      <p:sp>
        <p:nvSpPr>
          <p:cNvPr id="18" name="Text 16"/>
          <p:cNvSpPr/>
          <p:nvPr/>
        </p:nvSpPr>
        <p:spPr>
          <a:xfrm>
            <a:off x="6406990" y="2221309"/>
            <a:ext cx="2209745" cy="1177826"/>
          </a:xfrm>
          <a:prstGeom prst="rect">
            <a:avLst/>
          </a:prstGeom>
          <a:noFill/>
          <a:ln/>
        </p:spPr>
        <p:txBody>
          <a:bodyPr wrap="square" lIns="0" tIns="0" rIns="0" bIns="0" rtlCol="0" anchor="t">
            <a:normAutofit/>
          </a:bodyPr>
          <a:lstStyle/>
          <a:p>
            <a:pPr algn="l" marL="264160" indent="-264160">
              <a:lnSpc>
                <a:spcPct val="108000"/>
              </a:lnSpc>
              <a:buSzPct val="100000"/>
              <a:buChar char="•"/>
            </a:pPr>
            <a:r>
              <a:rPr lang="en-US" sz="1300" dirty="0">
                <a:solidFill>
                  <a:srgbClr val="2B2F36"/>
                </a:solidFill>
                <a:latin typeface="Arimo" pitchFamily="34" charset="0"/>
                <a:ea typeface="Arimo" pitchFamily="34" charset="-122"/>
                <a:cs typeface="Arimo" pitchFamily="34" charset="-120"/>
              </a:rPr>
              <a:t>Sliding memory windows</a:t>
            </a:r>
            <a:endParaRPr lang="en-US" sz="1300" dirty="0"/>
          </a:p>
          <a:p>
            <a:pPr algn="l" marL="264160" indent="-264160">
              <a:lnSpc>
                <a:spcPct val="108000"/>
              </a:lnSpc>
              <a:buSzPct val="100000"/>
              <a:buChar char="•"/>
            </a:pPr>
            <a:r>
              <a:rPr lang="en-US" sz="1300" dirty="0">
                <a:solidFill>
                  <a:srgbClr val="2B2F36"/>
                </a:solidFill>
                <a:latin typeface="Arimo" pitchFamily="34" charset="0"/>
                <a:ea typeface="Arimo" pitchFamily="34" charset="-122"/>
                <a:cs typeface="Arimo" pitchFamily="34" charset="-120"/>
              </a:rPr>
              <a:t>AUTH-001 (Single target)</a:t>
            </a:r>
            <a:endParaRPr lang="en-US" sz="1300" dirty="0"/>
          </a:p>
          <a:p>
            <a:pPr algn="l" marL="264160" indent="-264160">
              <a:lnSpc>
                <a:spcPct val="108000"/>
              </a:lnSpc>
              <a:buSzPct val="100000"/>
              <a:buChar char="•"/>
            </a:pPr>
            <a:r>
              <a:rPr lang="en-US" sz="1300" dirty="0">
                <a:solidFill>
                  <a:srgbClr val="2B2F36"/>
                </a:solidFill>
                <a:latin typeface="Arimo" pitchFamily="34" charset="0"/>
                <a:ea typeface="Arimo" pitchFamily="34" charset="-122"/>
                <a:cs typeface="Arimo" pitchFamily="34" charset="-120"/>
              </a:rPr>
              <a:t>AUTH-002 (Spray pattern)</a:t>
            </a:r>
            <a:endParaRPr lang="en-US" sz="1300" dirty="0"/>
          </a:p>
          <a:p>
            <a:pPr algn="l" marL="264160" indent="-264160">
              <a:lnSpc>
                <a:spcPct val="108000"/>
              </a:lnSpc>
              <a:buSzPct val="100000"/>
              <a:buChar char="•"/>
            </a:pPr>
            <a:r>
              <a:rPr lang="en-US" sz="1300" dirty="0">
                <a:solidFill>
                  <a:srgbClr val="2B2F36"/>
                </a:solidFill>
                <a:latin typeface="Arimo" pitchFamily="34" charset="0"/>
                <a:ea typeface="Arimo" pitchFamily="34" charset="-122"/>
                <a:cs typeface="Arimo" pitchFamily="34" charset="-120"/>
              </a:rPr>
              <a:t>AUTH-003 (Compromise clue)</a:t>
            </a:r>
            <a:endParaRPr lang="en-US" sz="1300" dirty="0"/>
          </a:p>
        </p:txBody>
      </p:sp>
      <p:sp>
        <p:nvSpPr>
          <p:cNvPr id="19" name="Text 17"/>
          <p:cNvSpPr/>
          <p:nvPr/>
        </p:nvSpPr>
        <p:spPr>
          <a:xfrm>
            <a:off x="6406990" y="3481685"/>
            <a:ext cx="2444689" cy="173335"/>
          </a:xfrm>
          <a:prstGeom prst="rect">
            <a:avLst/>
          </a:prstGeom>
          <a:noFill/>
          <a:ln/>
        </p:spPr>
        <p:txBody>
          <a:bodyPr wrap="none" lIns="0" tIns="0" rIns="0" bIns="0" rtlCol="0" anchor="t"/>
          <a:lstStyle/>
          <a:p>
            <a:pPr algn="l" indent="0" marL="0">
              <a:lnSpc>
                <a:spcPct val="108000"/>
              </a:lnSpc>
              <a:buNone/>
            </a:pPr>
            <a:r>
              <a:rPr lang="en-US" sz="1050" b="1" dirty="0">
                <a:solidFill>
                  <a:srgbClr val="5B6573"/>
                </a:solidFill>
                <a:latin typeface="Arimo Bold" pitchFamily="34" charset="0"/>
                <a:ea typeface="Arimo Bold" pitchFamily="34" charset="-122"/>
                <a:cs typeface="Arimo Bold" pitchFamily="34" charset="-120"/>
              </a:rPr>
              <a:t>Engine:</a:t>
            </a:r>
            <a:pPr algn="l" indent="0" marL="0">
              <a:lnSpc>
                <a:spcPct val="108000"/>
              </a:lnSpc>
              <a:buNone/>
            </a:pPr>
            <a:r>
              <a:rPr lang="en-US" sz="1050" dirty="0">
                <a:solidFill>
                  <a:srgbClr val="5B6573"/>
                </a:solidFill>
                <a:latin typeface="Arimo" pitchFamily="34" charset="0"/>
                <a:ea typeface="Arimo" pitchFamily="34" charset="-122"/>
                <a:cs typeface="Arimo" pitchFamily="34" charset="-120"/>
              </a:rPr>
              <a:t> Rule Registry</a:t>
            </a:r>
            <a:endParaRPr lang="en-US" sz="1050" dirty="0"/>
          </a:p>
        </p:txBody>
      </p:sp>
      <p:sp>
        <p:nvSpPr>
          <p:cNvPr id="20" name="Shape 18"/>
          <p:cNvSpPr/>
          <p:nvPr/>
        </p:nvSpPr>
        <p:spPr>
          <a:xfrm>
            <a:off x="9004075" y="1476474"/>
            <a:ext cx="2679633" cy="2413496"/>
          </a:xfrm>
          <a:prstGeom prst="rect">
            <a:avLst/>
          </a:prstGeom>
          <a:solidFill>
            <a:srgbClr val="F2F4F6"/>
          </a:solidFill>
          <a:ln/>
        </p:spPr>
        <p:txBody>
          <a:bodyPr/>
          <a:p/>
        </p:txBody>
      </p:sp>
      <p:sp>
        <p:nvSpPr>
          <p:cNvPr id="21" name="Shape 19"/>
          <p:cNvSpPr/>
          <p:nvPr/>
        </p:nvSpPr>
        <p:spPr>
          <a:xfrm>
            <a:off x="9004075" y="1476474"/>
            <a:ext cx="38099" cy="2413496"/>
          </a:xfrm>
          <a:prstGeom prst="rect">
            <a:avLst/>
          </a:prstGeom>
          <a:solidFill>
            <a:srgbClr val="C0102F"/>
          </a:solidFill>
          <a:ln/>
        </p:spPr>
        <p:txBody>
          <a:bodyPr/>
          <a:p/>
        </p:txBody>
      </p:sp>
      <p:sp>
        <p:nvSpPr>
          <p:cNvPr id="22" name="Text 20"/>
          <p:cNvSpPr/>
          <p:nvPr/>
        </p:nvSpPr>
        <p:spPr>
          <a:xfrm>
            <a:off x="9270768" y="1705074"/>
            <a:ext cx="2412940"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2B2F36"/>
                </a:solidFill>
                <a:latin typeface="Arimo Bold" pitchFamily="34" charset="0"/>
                <a:ea typeface="Arimo Bold" pitchFamily="34" charset="-122"/>
                <a:cs typeface="Arimo Bold" pitchFamily="34" charset="-120"/>
              </a:rPr>
              <a:t>STAGE 4 · OUTPUT</a:t>
            </a:r>
            <a:endParaRPr lang="en-US" sz="950" dirty="0"/>
          </a:p>
        </p:txBody>
      </p:sp>
      <p:sp>
        <p:nvSpPr>
          <p:cNvPr id="23" name="Text 21"/>
          <p:cNvSpPr/>
          <p:nvPr/>
        </p:nvSpPr>
        <p:spPr>
          <a:xfrm>
            <a:off x="9270768" y="1906984"/>
            <a:ext cx="2184345" cy="206375"/>
          </a:xfrm>
          <a:prstGeom prst="rect">
            <a:avLst/>
          </a:prstGeom>
          <a:noFill/>
          <a:ln/>
        </p:spPr>
        <p:txBody>
          <a:bodyPr wrap="none" lIns="0" tIns="0" rIns="0" bIns="0" rtlCol="0" anchor="t"/>
          <a:lstStyle/>
          <a:p>
            <a:pPr algn="l" indent="0" marL="0">
              <a:lnSpc>
                <a:spcPct val="104000"/>
              </a:lnSpc>
              <a:buNone/>
            </a:pPr>
            <a:r>
              <a:rPr lang="en-US" sz="1300" b="1" dirty="0">
                <a:solidFill>
                  <a:srgbClr val="2B2F36"/>
                </a:solidFill>
                <a:latin typeface="Arimo Bold" pitchFamily="34" charset="0"/>
                <a:ea typeface="Arimo Bold" pitchFamily="34" charset="-122"/>
                <a:cs typeface="Arimo Bold" pitchFamily="34" charset="-120"/>
              </a:rPr>
              <a:t>Security Alert</a:t>
            </a:r>
            <a:endParaRPr lang="en-US" sz="1300" dirty="0"/>
          </a:p>
        </p:txBody>
      </p:sp>
      <p:sp>
        <p:nvSpPr>
          <p:cNvPr id="24" name="Text 22"/>
          <p:cNvSpPr/>
          <p:nvPr/>
        </p:nvSpPr>
        <p:spPr>
          <a:xfrm>
            <a:off x="9270768" y="2214959"/>
            <a:ext cx="2184345" cy="928291"/>
          </a:xfrm>
          <a:prstGeom prst="rect">
            <a:avLst/>
          </a:prstGeom>
          <a:noFill/>
          <a:ln/>
        </p:spPr>
        <p:txBody>
          <a:bodyPr wrap="square" lIns="0" tIns="0" rIns="0" bIns="0" rtlCol="0" anchor="t">
            <a:normAutofit/>
          </a:bodyPr>
          <a:lstStyle/>
          <a:p>
            <a:pPr algn="l" marL="264160" indent="-264160">
              <a:lnSpc>
                <a:spcPct val="108000"/>
              </a:lnSpc>
              <a:buSzPct val="100000"/>
              <a:buChar char="•"/>
            </a:pPr>
            <a:r>
              <a:rPr lang="en-US" sz="1300" dirty="0">
                <a:solidFill>
                  <a:srgbClr val="2B2F36"/>
                </a:solidFill>
                <a:latin typeface="Arimo" pitchFamily="34" charset="0"/>
                <a:ea typeface="Arimo" pitchFamily="34" charset="-122"/>
                <a:cs typeface="Arimo" pitchFamily="34" charset="-120"/>
              </a:rPr>
              <a:t>Severity &amp; confidence tag</a:t>
            </a:r>
            <a:endParaRPr lang="en-US" sz="1300" dirty="0"/>
          </a:p>
          <a:p>
            <a:pPr algn="l" marL="264160" indent="-264160">
              <a:lnSpc>
                <a:spcPct val="108000"/>
              </a:lnSpc>
              <a:buSzPct val="100000"/>
              <a:buChar char="•"/>
            </a:pPr>
            <a:r>
              <a:rPr lang="en-US" sz="1300" dirty="0">
                <a:solidFill>
                  <a:srgbClr val="2B2F36"/>
                </a:solidFill>
                <a:latin typeface="Arimo" pitchFamily="34" charset="0"/>
                <a:ea typeface="Arimo" pitchFamily="34" charset="-122"/>
                <a:cs typeface="Arimo" pitchFamily="34" charset="-120"/>
              </a:rPr>
              <a:t>Contextual event trace</a:t>
            </a:r>
            <a:endParaRPr lang="en-US" sz="1300" dirty="0"/>
          </a:p>
          <a:p>
            <a:pPr algn="l" marL="264160" indent="-264160">
              <a:lnSpc>
                <a:spcPct val="108000"/>
              </a:lnSpc>
              <a:buSzPct val="100000"/>
              <a:buChar char="•"/>
            </a:pPr>
            <a:r>
              <a:rPr lang="en-US" sz="1300" dirty="0">
                <a:solidFill>
                  <a:srgbClr val="2B2F36"/>
                </a:solidFill>
                <a:latin typeface="Arimo" pitchFamily="34" charset="0"/>
                <a:ea typeface="Arimo" pitchFamily="34" charset="-122"/>
                <a:cs typeface="Arimo" pitchFamily="34" charset="-120"/>
              </a:rPr>
              <a:t>Terminal CLI / SIEM JSON</a:t>
            </a:r>
            <a:endParaRPr lang="en-US" sz="1300" dirty="0"/>
          </a:p>
        </p:txBody>
      </p:sp>
      <p:sp>
        <p:nvSpPr>
          <p:cNvPr id="25" name="Text 23"/>
          <p:cNvSpPr/>
          <p:nvPr/>
        </p:nvSpPr>
        <p:spPr>
          <a:xfrm>
            <a:off x="9270768" y="3194050"/>
            <a:ext cx="2412940" cy="173335"/>
          </a:xfrm>
          <a:prstGeom prst="rect">
            <a:avLst/>
          </a:prstGeom>
          <a:noFill/>
          <a:ln/>
        </p:spPr>
        <p:txBody>
          <a:bodyPr wrap="none" lIns="0" tIns="0" rIns="0" bIns="0" rtlCol="0" anchor="t"/>
          <a:lstStyle/>
          <a:p>
            <a:pPr algn="l" indent="0" marL="0">
              <a:lnSpc>
                <a:spcPct val="108000"/>
              </a:lnSpc>
              <a:buNone/>
            </a:pPr>
            <a:r>
              <a:rPr lang="en-US" sz="1050" b="1" dirty="0">
                <a:solidFill>
                  <a:srgbClr val="2B2F36"/>
                </a:solidFill>
                <a:latin typeface="Arimo Bold" pitchFamily="34" charset="0"/>
                <a:ea typeface="Arimo Bold" pitchFamily="34" charset="-122"/>
                <a:cs typeface="Arimo Bold" pitchFamily="34" charset="-120"/>
              </a:rPr>
              <a:t>Target:</a:t>
            </a:r>
            <a:pPr algn="l" indent="0" marL="0">
              <a:lnSpc>
                <a:spcPct val="108000"/>
              </a:lnSpc>
              <a:buNone/>
            </a:pPr>
            <a:r>
              <a:rPr lang="en-US" sz="1050" dirty="0">
                <a:solidFill>
                  <a:srgbClr val="2B2F36"/>
                </a:solidFill>
                <a:latin typeface="Arimo" pitchFamily="34" charset="0"/>
                <a:ea typeface="Arimo" pitchFamily="34" charset="-122"/>
                <a:cs typeface="Arimo" pitchFamily="34" charset="-120"/>
              </a:rPr>
              <a:t> SOC Triage Queue</a:t>
            </a:r>
            <a:endParaRPr lang="en-US" sz="1050" dirty="0"/>
          </a:p>
        </p:txBody>
      </p:sp>
      <p:sp>
        <p:nvSpPr>
          <p:cNvPr id="26" name="Shape 24"/>
          <p:cNvSpPr/>
          <p:nvPr/>
        </p:nvSpPr>
        <p:spPr>
          <a:xfrm>
            <a:off x="507987" y="4016970"/>
            <a:ext cx="7348850" cy="1101030"/>
          </a:xfrm>
          <a:prstGeom prst="rect">
            <a:avLst/>
          </a:prstGeom>
          <a:noFill/>
          <a:ln w="6350">
            <a:solidFill>
              <a:srgbClr val="D5DAE0"/>
            </a:solidFill>
            <a:prstDash val="solid"/>
          </a:ln>
          <a:effectLst>
            <a:outerShdw sx="100000" sy="100000" kx="0" ky="0" algn="bl" rotWithShape="0" blurRad="30480" dist="11430" dir="5400000">
              <a:srgbClr val="0b1f3a">
                <a:alpha val="1000"/>
              </a:srgbClr>
            </a:outerShdw>
          </a:effectLst>
        </p:spPr>
        <p:txBody>
          <a:bodyPr/>
          <a:p/>
        </p:txBody>
      </p:sp>
      <p:sp>
        <p:nvSpPr>
          <p:cNvPr id="27" name="Text 25"/>
          <p:cNvSpPr/>
          <p:nvPr/>
        </p:nvSpPr>
        <p:spPr>
          <a:xfrm>
            <a:off x="742931" y="4251920"/>
            <a:ext cx="7113906"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EXECUTION MODEL</a:t>
            </a:r>
            <a:endParaRPr lang="en-US" sz="950" dirty="0"/>
          </a:p>
        </p:txBody>
      </p:sp>
      <p:sp>
        <p:nvSpPr>
          <p:cNvPr id="28" name="Text 26"/>
          <p:cNvSpPr/>
          <p:nvPr/>
        </p:nvSpPr>
        <p:spPr>
          <a:xfrm>
            <a:off x="742931" y="4479230"/>
            <a:ext cx="6878962" cy="375841"/>
          </a:xfrm>
          <a:prstGeom prst="rect">
            <a:avLst/>
          </a:prstGeom>
          <a:noFill/>
          <a:ln/>
        </p:spPr>
        <p:txBody>
          <a:bodyPr wrap="square" lIns="0" tIns="0" rIns="0" bIns="0" rtlCol="0" anchor="t">
            <a:normAutofit/>
          </a:bodyPr>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Stream-based processing ensures linear memory complexity </a:t>
            </a:r>
            <a:pPr algn="l" indent="0" marL="0">
              <a:lnSpc>
                <a:spcPct val="108000"/>
              </a:lnSpc>
              <a:buNone/>
            </a:pPr>
            <a:r>
              <a:rPr lang="en-US" sz="1100" dirty="0">
                <a:solidFill>
                  <a:srgbClr val="2B2F36"/>
                </a:solidFill>
                <a:highlight>
                  <a:srgbClr val="F2F4F6"/>
                </a:highlight>
                <a:latin typeface="Consolas" pitchFamily="34" charset="0"/>
                <a:ea typeface="Consolas" pitchFamily="34" charset="-122"/>
                <a:cs typeface="Consolas" pitchFamily="34" charset="-120"/>
              </a:rPr>
              <a:t>O(k)</a:t>
            </a:r>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 bounded by active sliding windows, preventing memory bloat during multi-gigabyte log rehydration.</a:t>
            </a:r>
            <a:endParaRPr lang="en-US" sz="1100" dirty="0"/>
          </a:p>
        </p:txBody>
      </p:sp>
      <p:sp>
        <p:nvSpPr>
          <p:cNvPr id="29" name="Shape 27"/>
          <p:cNvSpPr/>
          <p:nvPr/>
        </p:nvSpPr>
        <p:spPr>
          <a:xfrm>
            <a:off x="8009233" y="4016970"/>
            <a:ext cx="3674474" cy="1101030"/>
          </a:xfrm>
          <a:prstGeom prst="rect">
            <a:avLst/>
          </a:prstGeom>
          <a:solidFill>
            <a:srgbClr val="F2F4F6"/>
          </a:solidFill>
          <a:ln/>
        </p:spPr>
        <p:txBody>
          <a:bodyPr/>
          <a:p/>
        </p:txBody>
      </p:sp>
      <p:sp>
        <p:nvSpPr>
          <p:cNvPr id="30" name="Shape 28"/>
          <p:cNvSpPr/>
          <p:nvPr/>
        </p:nvSpPr>
        <p:spPr>
          <a:xfrm>
            <a:off x="8009233" y="4016970"/>
            <a:ext cx="38099" cy="1101030"/>
          </a:xfrm>
          <a:prstGeom prst="rect">
            <a:avLst/>
          </a:prstGeom>
          <a:solidFill>
            <a:srgbClr val="0B1F3A"/>
          </a:solidFill>
          <a:ln/>
        </p:spPr>
        <p:txBody>
          <a:bodyPr/>
          <a:p/>
        </p:txBody>
      </p:sp>
      <p:sp>
        <p:nvSpPr>
          <p:cNvPr id="31" name="Text 29"/>
          <p:cNvSpPr/>
          <p:nvPr/>
        </p:nvSpPr>
        <p:spPr>
          <a:xfrm>
            <a:off x="8275927" y="4245570"/>
            <a:ext cx="3179187" cy="643830"/>
          </a:xfrm>
          <a:prstGeom prst="rect">
            <a:avLst/>
          </a:prstGeom>
          <a:noFill/>
          <a:ln/>
        </p:spPr>
        <p:txBody>
          <a:bodyPr wrap="square" lIns="0" tIns="0" rIns="0" bIns="0" rtlCol="0" anchor="t">
            <a:normAutofit/>
          </a:bodyPr>
          <a:lstStyle/>
          <a:p>
            <a:pPr algn="l" indent="0" marL="0">
              <a:lnSpc>
                <a:spcPct val="108000"/>
              </a:lnSpc>
              <a:buNone/>
            </a:pPr>
            <a:r>
              <a:rPr lang="en-US" sz="1300" b="1" dirty="0">
                <a:solidFill>
                  <a:srgbClr val="2B2F36"/>
                </a:solidFill>
                <a:latin typeface="Arimo Bold" pitchFamily="34" charset="0"/>
                <a:ea typeface="Arimo Bold" pitchFamily="34" charset="-122"/>
                <a:cs typeface="Arimo Bold" pitchFamily="34" charset="-120"/>
              </a:rPr>
              <a:t>Zero External DB:</a:t>
            </a:r>
            <a:pPr algn="l" indent="0" marL="0">
              <a:lnSpc>
                <a:spcPct val="108000"/>
              </a:lnSpc>
              <a:buNone/>
            </a:pPr>
            <a:r>
              <a:rPr lang="en-US" sz="1300" dirty="0">
                <a:solidFill>
                  <a:srgbClr val="2B2F36"/>
                </a:solidFill>
                <a:latin typeface="Arimo" pitchFamily="34" charset="0"/>
                <a:ea typeface="Arimo" pitchFamily="34" charset="-122"/>
                <a:cs typeface="Arimo" pitchFamily="34" charset="-120"/>
              </a:rPr>
              <a:t> Self-contained Python runtime executes locally without heavyweight daemon dependencies.</a:t>
            </a:r>
            <a:endParaRPr lang="en-US" sz="1300" dirty="0"/>
          </a:p>
        </p:txBody>
      </p:sp>
      <p:sp>
        <p:nvSpPr>
          <p:cNvPr id="32" name="Text 30"/>
          <p:cNvSpPr/>
          <p:nvPr/>
        </p:nvSpPr>
        <p:spPr>
          <a:xfrm>
            <a:off x="507987" y="6176665"/>
            <a:ext cx="11683708" cy="173335"/>
          </a:xfrm>
          <a:prstGeom prst="rect">
            <a:avLst/>
          </a:prstGeom>
          <a:noFill/>
          <a:ln/>
        </p:spPr>
        <p:txBody>
          <a:bodyPr wrap="none" lIns="0" tIns="0" rIns="0" bIns="0" rtlCol="0" anchor="t"/>
          <a:lstStyle/>
          <a:p>
            <a:pPr algn="l" indent="0" marL="0">
              <a:lnSpc>
                <a:spcPct val="108000"/>
              </a:lnSpc>
              <a:buNone/>
            </a:pPr>
            <a:r>
              <a:rPr lang="en-US" sz="1050" dirty="0">
                <a:solidFill>
                  <a:srgbClr val="5B6573"/>
                </a:solidFill>
                <a:latin typeface="Arimo" pitchFamily="34" charset="0"/>
                <a:ea typeface="Arimo" pitchFamily="34" charset="-122"/>
                <a:cs typeface="Arimo" pitchFamily="34" charset="-120"/>
              </a:rPr>
              <a:t>Architecture Schema · SentinelLog Core Engine</a:t>
            </a:r>
            <a:endParaRPr lang="en-US" sz="1050" dirty="0"/>
          </a:p>
        </p:txBody>
      </p:sp>
      <p:sp>
        <p:nvSpPr>
          <p:cNvPr id="33" name="Text 31"/>
          <p:cNvSpPr/>
          <p:nvPr/>
        </p:nvSpPr>
        <p:spPr>
          <a:xfrm>
            <a:off x="507987" y="6555085"/>
            <a:ext cx="1213415" cy="148530"/>
          </a:xfrm>
          <a:prstGeom prst="rect">
            <a:avLst/>
          </a:prstGeom>
          <a:noFill/>
          <a:ln/>
        </p:spPr>
        <p:txBody>
          <a:bodyPr wrap="none" lIns="0" tIns="0" rIns="0" bIns="0" rtlCol="0" anchor="ctr"/>
          <a:lstStyle/>
          <a:p>
            <a:pPr algn="l" indent="0" marL="0">
              <a:lnSpc>
                <a:spcPct val="108000"/>
              </a:lnSpc>
              <a:buNone/>
            </a:pPr>
            <a:r>
              <a:rPr lang="en-US" sz="900" dirty="0">
                <a:solidFill>
                  <a:srgbClr val="2B2F36"/>
                </a:solidFill>
                <a:latin typeface="Arimo" pitchFamily="34" charset="0"/>
                <a:ea typeface="Arimo" pitchFamily="34" charset="-122"/>
                <a:cs typeface="Arimo" pitchFamily="34" charset="-120"/>
              </a:rPr>
              <a:t>SentinelLog</a:t>
            </a:r>
            <a:endParaRPr lang="en-US" sz="900" dirty="0"/>
          </a:p>
        </p:txBody>
      </p:sp>
      <p:sp>
        <p:nvSpPr>
          <p:cNvPr id="34" name="Text 32"/>
          <p:cNvSpPr/>
          <p:nvPr/>
        </p:nvSpPr>
        <p:spPr>
          <a:xfrm>
            <a:off x="11620209" y="6555085"/>
            <a:ext cx="571486" cy="148530"/>
          </a:xfrm>
          <a:prstGeom prst="rect">
            <a:avLst/>
          </a:prstGeom>
          <a:noFill/>
          <a:ln/>
        </p:spPr>
        <p:txBody>
          <a:bodyPr wrap="none" lIns="0" tIns="0" rIns="0" bIns="0" rtlCol="0" anchor="ctr"/>
          <a:lstStyle/>
          <a:p>
            <a:pPr algn="l" indent="0" marL="0">
              <a:lnSpc>
                <a:spcPct val="108000"/>
              </a:lnSpc>
              <a:buNone/>
            </a:pPr>
            <a:r>
              <a:rPr lang="en-US" sz="900" dirty="0">
                <a:solidFill>
                  <a:srgbClr val="2B2F36"/>
                </a:solidFill>
                <a:latin typeface="Arimo" pitchFamily="34" charset="0"/>
                <a:ea typeface="Arimo" pitchFamily="34" charset="-122"/>
                <a:cs typeface="Arimo"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7987" y="330200"/>
            <a:ext cx="11683708"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DATA NORMALIZATION</a:t>
            </a:r>
            <a:endParaRPr lang="en-US" sz="950" dirty="0"/>
          </a:p>
        </p:txBody>
      </p:sp>
      <p:sp>
        <p:nvSpPr>
          <p:cNvPr id="3" name="Text 1"/>
          <p:cNvSpPr/>
          <p:nvPr/>
        </p:nvSpPr>
        <p:spPr>
          <a:xfrm>
            <a:off x="507987" y="532110"/>
            <a:ext cx="11175720" cy="398264"/>
          </a:xfrm>
          <a:prstGeom prst="rect">
            <a:avLst/>
          </a:prstGeom>
          <a:noFill/>
          <a:ln/>
        </p:spPr>
        <p:txBody>
          <a:bodyPr wrap="none" lIns="0" tIns="0" rIns="0" bIns="0" rtlCol="0" anchor="t"/>
          <a:lstStyle/>
          <a:p>
            <a:pPr algn="l" indent="0" marL="0">
              <a:lnSpc>
                <a:spcPct val="93000"/>
              </a:lnSpc>
              <a:buNone/>
            </a:pPr>
            <a:r>
              <a:rPr lang="en-US" sz="2800" b="1" spc="-14" kern="100" dirty="0">
                <a:solidFill>
                  <a:srgbClr val="0B1F3A"/>
                </a:solidFill>
                <a:latin typeface="Arimo Bold" pitchFamily="34" charset="0"/>
                <a:ea typeface="Arimo Bold" pitchFamily="34" charset="-122"/>
                <a:cs typeface="Arimo Bold" pitchFamily="34" charset="-120"/>
              </a:rPr>
              <a:t>Different inputs, one normalized event model</a:t>
            </a:r>
            <a:endParaRPr lang="en-US" sz="2800" dirty="0"/>
          </a:p>
        </p:txBody>
      </p:sp>
      <p:sp>
        <p:nvSpPr>
          <p:cNvPr id="4" name="Shape 2"/>
          <p:cNvSpPr/>
          <p:nvPr/>
        </p:nvSpPr>
        <p:spPr>
          <a:xfrm>
            <a:off x="507987" y="1111349"/>
            <a:ext cx="11175621" cy="19050"/>
          </a:xfrm>
          <a:prstGeom prst="roundRect">
            <a:avLst>
              <a:gd name="adj" fmla="val 49999"/>
            </a:avLst>
          </a:prstGeom>
          <a:solidFill>
            <a:srgbClr val="D5DAE0"/>
          </a:solidFill>
          <a:ln/>
        </p:spPr>
        <p:txBody>
          <a:bodyPr/>
          <a:p/>
        </p:txBody>
      </p:sp>
      <p:sp>
        <p:nvSpPr>
          <p:cNvPr id="5" name="Text 3"/>
          <p:cNvSpPr/>
          <p:nvPr/>
        </p:nvSpPr>
        <p:spPr>
          <a:xfrm>
            <a:off x="507987" y="1298674"/>
            <a:ext cx="11683708" cy="214610"/>
          </a:xfrm>
          <a:prstGeom prst="rect">
            <a:avLst/>
          </a:prstGeom>
          <a:noFill/>
          <a:ln/>
        </p:spPr>
        <p:txBody>
          <a:bodyPr wrap="none" lIns="0" tIns="0" rIns="0" bIns="0" rtlCol="0" anchor="t"/>
          <a:lstStyle/>
          <a:p>
            <a:pPr algn="l" indent="0" marL="0">
              <a:lnSpc>
                <a:spcPct val="108000"/>
              </a:lnSpc>
              <a:buNone/>
            </a:pPr>
            <a:r>
              <a:rPr lang="en-US" sz="1300" i="1" dirty="0">
                <a:solidFill>
                  <a:srgbClr val="2B2F36"/>
                </a:solidFill>
                <a:latin typeface="Arimo" pitchFamily="34" charset="0"/>
                <a:ea typeface="Arimo" pitchFamily="34" charset="-122"/>
                <a:cs typeface="Arimo" pitchFamily="34" charset="-120"/>
              </a:rPr>
              <a:t>The normalizer resolves semantic discrepancies between freeform syslog strings and machine-native JSON into a rigid schema.</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7987" y="1640284"/>
          <a:ext cx="11175721" cy="914400"/>
        </p:xfrm>
        <a:graphic>
          <a:graphicData uri="http://schemas.openxmlformats.org/drawingml/2006/table">
            <a:tbl>
              <a:tblPr/>
              <a:tblGrid>
                <a:gridCol w="2235104"/>
                <a:gridCol w="2793930"/>
                <a:gridCol w="2793930"/>
                <a:gridCol w="3352756"/>
              </a:tblGrid>
              <a:tr h="373351">
                <a:tc>
                  <a:txBody>
                    <a:bodyPr/>
                    <a:lstStyle/>
                    <a:p>
                      <a:pPr algn="l" indent="0" marL="0">
                        <a:buNone/>
                      </a:pPr>
                      <a:r>
                        <a:rPr lang="en-US" sz="1300" b="1" dirty="0">
                          <a:solidFill>
                            <a:srgbClr val="FFFFFF"/>
                          </a:solidFill>
                          <a:latin typeface="Arimo" pitchFamily="34" charset="0"/>
                          <a:ea typeface="Arimo" pitchFamily="34" charset="-122"/>
                          <a:cs typeface="Arimo" pitchFamily="34" charset="-120"/>
                        </a:rPr>
                        <a:t>Unified Schema Field</a:t>
                      </a:r>
                      <a:endParaRPr lang="en-US" sz="1300" dirty="0">
                        <a:latin typeface="Arimo" charset="0"/>
                        <a:ea typeface="Arimo" charset="0"/>
                        <a:cs typeface="Arimo"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0B1F3A"/>
                    </a:solidFill>
                  </a:tcPr>
                </a:tc>
                <a:tc>
                  <a:txBody>
                    <a:bodyPr/>
                    <a:lstStyle/>
                    <a:p>
                      <a:pPr algn="l" indent="0" marL="0">
                        <a:buNone/>
                      </a:pPr>
                      <a:r>
                        <a:rPr lang="en-US" sz="1300" b="1" dirty="0">
                          <a:solidFill>
                            <a:srgbClr val="FFFFFF"/>
                          </a:solidFill>
                          <a:latin typeface="Arimo" pitchFamily="34" charset="0"/>
                          <a:ea typeface="Arimo" pitchFamily="34" charset="-122"/>
                          <a:cs typeface="Arimo" pitchFamily="34" charset="-120"/>
                        </a:rPr>
                        <a:t>OpenSSH syslog (auth.log)</a:t>
                      </a:r>
                      <a:endParaRPr lang="en-US" sz="1300" dirty="0">
                        <a:latin typeface="Arimo" charset="0"/>
                        <a:ea typeface="Arimo" charset="0"/>
                        <a:cs typeface="Arimo"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0B1F3A"/>
                    </a:solidFill>
                  </a:tcPr>
                </a:tc>
                <a:tc>
                  <a:txBody>
                    <a:bodyPr/>
                    <a:lstStyle/>
                    <a:p>
                      <a:pPr algn="l" indent="0" marL="0">
                        <a:buNone/>
                      </a:pPr>
                      <a:r>
                        <a:rPr lang="en-US" sz="1300" b="1" dirty="0">
                          <a:solidFill>
                            <a:srgbClr val="FFFFFF"/>
                          </a:solidFill>
                          <a:latin typeface="Arimo" pitchFamily="34" charset="0"/>
                          <a:ea typeface="Arimo" pitchFamily="34" charset="-122"/>
                          <a:cs typeface="Arimo" pitchFamily="34" charset="-120"/>
                        </a:rPr>
                        <a:t>Native SentinelLog JSON</a:t>
                      </a:r>
                      <a:endParaRPr lang="en-US" sz="1300" dirty="0">
                        <a:latin typeface="Arimo" charset="0"/>
                        <a:ea typeface="Arimo" charset="0"/>
                        <a:cs typeface="Arimo"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0B1F3A"/>
                    </a:solidFill>
                  </a:tcPr>
                </a:tc>
                <a:tc>
                  <a:txBody>
                    <a:bodyPr/>
                    <a:lstStyle/>
                    <a:p>
                      <a:pPr algn="l" indent="0" marL="0">
                        <a:buNone/>
                      </a:pPr>
                      <a:r>
                        <a:rPr lang="en-US" sz="1300" b="1" dirty="0">
                          <a:solidFill>
                            <a:srgbClr val="FFFFFF"/>
                          </a:solidFill>
                          <a:latin typeface="Arimo" pitchFamily="34" charset="0"/>
                          <a:ea typeface="Arimo" pitchFamily="34" charset="-122"/>
                          <a:cs typeface="Arimo" pitchFamily="34" charset="-120"/>
                        </a:rPr>
                        <a:t>Field Type &amp; Normalization Rule</a:t>
                      </a:r>
                      <a:endParaRPr lang="en-US" sz="1300" dirty="0">
                        <a:latin typeface="Arimo" charset="0"/>
                        <a:ea typeface="Arimo" charset="0"/>
                        <a:cs typeface="Arimo"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0B1F3A"/>
                    </a:solidFill>
                  </a:tcPr>
                </a:tc>
              </a:tr>
              <a:tr h="379701">
                <a:tc>
                  <a:txBody>
                    <a:bodyPr/>
                    <a:lstStyle/>
                    <a:p>
                      <a:pPr algn="l" indent="0" marL="0">
                        <a:buNone/>
                      </a:pPr>
                      <a:r>
                        <a:rPr lang="en-US" sz="1300" dirty="0">
                          <a:solidFill>
                            <a:srgbClr val="2B2F36"/>
                          </a:solidFill>
                          <a:latin typeface="Consolas" pitchFamily="34" charset="0"/>
                          <a:ea typeface="Consolas" pitchFamily="34" charset="-122"/>
                          <a:cs typeface="Consolas" pitchFamily="34" charset="-120"/>
                        </a:rPr>
                        <a:t>timestamp</a:t>
                      </a:r>
                      <a:endParaRPr lang="en-US" sz="1300" dirty="0">
                        <a:latin typeface="Consolas" charset="0"/>
                        <a:ea typeface="Consolas" charset="0"/>
                        <a:cs typeface="Consolas"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tc>
                  <a:txBody>
                    <a:bodyPr/>
                    <a:lstStyle/>
                    <a:p>
                      <a:pPr algn="l" indent="0" marL="0">
                        <a:buNone/>
                      </a:pPr>
                      <a:r>
                        <a:rPr lang="en-US" sz="1100" dirty="0">
                          <a:solidFill>
                            <a:srgbClr val="2B2F36"/>
                          </a:solidFill>
                          <a:latin typeface="Consolas" pitchFamily="34" charset="0"/>
                          <a:ea typeface="Consolas" pitchFamily="34" charset="-122"/>
                          <a:cs typeface="Consolas" pitchFamily="34" charset="-120"/>
                        </a:rPr>
                        <a:t>Jan 15 10:00:00</a:t>
                      </a:r>
                      <a:endParaRPr lang="en-US" sz="1100" dirty="0">
                        <a:latin typeface="Consolas" charset="0"/>
                        <a:ea typeface="Consolas" charset="0"/>
                        <a:cs typeface="Consolas"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tc>
                  <a:txBody>
                    <a:bodyPr/>
                    <a:lstStyle/>
                    <a:p>
                      <a:pPr algn="l" indent="0" marL="0">
                        <a:buNone/>
                      </a:pPr>
                      <a:r>
                        <a:rPr lang="en-US" sz="1100" dirty="0">
                          <a:solidFill>
                            <a:srgbClr val="2B2F36"/>
                          </a:solidFill>
                          <a:latin typeface="Consolas" pitchFamily="34" charset="0"/>
                          <a:ea typeface="Consolas" pitchFamily="34" charset="-122"/>
                          <a:cs typeface="Consolas" pitchFamily="34" charset="-120"/>
                        </a:rPr>
                        <a:t>2026-01-15T10:00:00Z</a:t>
                      </a:r>
                      <a:endParaRPr lang="en-US" sz="1100" dirty="0">
                        <a:latin typeface="Consolas" charset="0"/>
                        <a:ea typeface="Consolas" charset="0"/>
                        <a:cs typeface="Consolas"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tc>
                  <a:txBody>
                    <a:bodyPr/>
                    <a:lstStyle/>
                    <a:p>
                      <a:pPr algn="l" indent="0" marL="0">
                        <a:buNone/>
                      </a:pPr>
                      <a:r>
                        <a:rPr lang="en-US" sz="1100" dirty="0">
                          <a:solidFill>
                            <a:srgbClr val="2B2F36"/>
                          </a:solidFill>
                          <a:latin typeface="Consolas" pitchFamily="34" charset="0"/>
                          <a:ea typeface="Consolas" pitchFamily="34" charset="-122"/>
                          <a:cs typeface="Consolas" pitchFamily="34" charset="-120"/>
                        </a:rPr>
                        <a:t>datetime (UTC ISO 8601)</a:t>
                      </a:r>
                      <a:endParaRPr lang="en-US" sz="1100" dirty="0">
                        <a:latin typeface="Consolas" charset="0"/>
                        <a:ea typeface="Consolas" charset="0"/>
                        <a:cs typeface="Consolas"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tr>
              <a:tr h="379701">
                <a:tc>
                  <a:txBody>
                    <a:bodyPr/>
                    <a:lstStyle/>
                    <a:p>
                      <a:pPr algn="l" indent="0" marL="0">
                        <a:buNone/>
                      </a:pPr>
                      <a:r>
                        <a:rPr lang="en-US" sz="1300" dirty="0">
                          <a:solidFill>
                            <a:srgbClr val="2B2F36"/>
                          </a:solidFill>
                          <a:latin typeface="Consolas" pitchFamily="34" charset="0"/>
                          <a:ea typeface="Consolas" pitchFamily="34" charset="-122"/>
                          <a:cs typeface="Consolas" pitchFamily="34" charset="-120"/>
                        </a:rPr>
                        <a:t>event_type</a:t>
                      </a:r>
                      <a:endParaRPr lang="en-US" sz="1300" dirty="0">
                        <a:latin typeface="Consolas" charset="0"/>
                        <a:ea typeface="Consolas" charset="0"/>
                        <a:cs typeface="Consolas"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100" dirty="0">
                          <a:solidFill>
                            <a:srgbClr val="2B2F36"/>
                          </a:solidFill>
                          <a:latin typeface="Arimo" pitchFamily="34" charset="0"/>
                          <a:ea typeface="Arimo" pitchFamily="34" charset="-122"/>
                          <a:cs typeface="Arimo" pitchFamily="34" charset="-120"/>
                        </a:rPr>
                        <a:t>Parsed from </a:t>
                      </a:r>
                      <a:pPr algn="l" indent="0" marL="0">
                        <a:buNone/>
                      </a:pPr>
                      <a:r>
                        <a:rPr lang="en-US" sz="1100" dirty="0">
                          <a:solidFill>
                            <a:srgbClr val="2B2F36"/>
                          </a:solidFill>
                          <a:latin typeface="Consolas" pitchFamily="34" charset="0"/>
                          <a:ea typeface="Consolas" pitchFamily="34" charset="-122"/>
                          <a:cs typeface="Consolas" pitchFamily="34" charset="-120"/>
                        </a:rPr>
                        <a:t>sshd[...]</a:t>
                      </a:r>
                      <a:pPr algn="l" indent="0" marL="0">
                        <a:buNone/>
                      </a:pPr>
                      <a:r>
                        <a:rPr lang="en-US" sz="1100" dirty="0">
                          <a:solidFill>
                            <a:srgbClr val="2B2F36"/>
                          </a:solidFill>
                          <a:latin typeface="Arimo" pitchFamily="34" charset="0"/>
                          <a:ea typeface="Arimo" pitchFamily="34" charset="-122"/>
                          <a:cs typeface="Arimo" pitchFamily="34" charset="-120"/>
                        </a:rPr>
                        <a:t> message</a:t>
                      </a:r>
                      <a:endParaRPr lang="en-US" sz="1100" dirty="0">
                        <a:latin typeface="Arimo" charset="0"/>
                        <a:ea typeface="Arimo" charset="0"/>
                        <a:cs typeface="Arimo"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100" dirty="0">
                          <a:solidFill>
                            <a:srgbClr val="2B2F36"/>
                          </a:solidFill>
                          <a:latin typeface="Consolas" pitchFamily="34" charset="0"/>
                          <a:ea typeface="Consolas" pitchFamily="34" charset="-122"/>
                          <a:cs typeface="Consolas" pitchFamily="34" charset="-120"/>
                        </a:rPr>
                        <a:t>"AUTH_FAILURE"</a:t>
                      </a:r>
                      <a:endParaRPr lang="en-US" sz="1100" dirty="0">
                        <a:latin typeface="Consolas" charset="0"/>
                        <a:ea typeface="Consolas" charset="0"/>
                        <a:cs typeface="Consolas"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100" dirty="0">
                          <a:solidFill>
                            <a:srgbClr val="2B2F36"/>
                          </a:solidFill>
                          <a:latin typeface="Consolas" pitchFamily="34" charset="0"/>
                          <a:ea typeface="Consolas" pitchFamily="34" charset="-122"/>
                          <a:cs typeface="Consolas" pitchFamily="34" charset="-120"/>
                        </a:rPr>
                        <a:t>Enum: FAILURE | SUCCESS | UNKNOWN</a:t>
                      </a:r>
                      <a:endParaRPr lang="en-US" sz="1100" dirty="0">
                        <a:latin typeface="Consolas" charset="0"/>
                        <a:ea typeface="Consolas" charset="0"/>
                        <a:cs typeface="Consolas"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79701">
                <a:tc>
                  <a:txBody>
                    <a:bodyPr/>
                    <a:lstStyle/>
                    <a:p>
                      <a:pPr algn="l" indent="0" marL="0">
                        <a:buNone/>
                      </a:pPr>
                      <a:r>
                        <a:rPr lang="en-US" sz="1300" dirty="0">
                          <a:solidFill>
                            <a:srgbClr val="2B2F36"/>
                          </a:solidFill>
                          <a:latin typeface="Consolas" pitchFamily="34" charset="0"/>
                          <a:ea typeface="Consolas" pitchFamily="34" charset="-122"/>
                          <a:cs typeface="Consolas" pitchFamily="34" charset="-120"/>
                        </a:rPr>
                        <a:t>source_ip</a:t>
                      </a:r>
                      <a:endParaRPr lang="en-US" sz="1300" dirty="0">
                        <a:latin typeface="Consolas" charset="0"/>
                        <a:ea typeface="Consolas" charset="0"/>
                        <a:cs typeface="Consolas"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tc>
                  <a:txBody>
                    <a:bodyPr/>
                    <a:lstStyle/>
                    <a:p>
                      <a:pPr algn="l" indent="0" marL="0">
                        <a:buNone/>
                      </a:pPr>
                      <a:r>
                        <a:rPr lang="en-US" sz="1100" dirty="0">
                          <a:solidFill>
                            <a:srgbClr val="2B2F36"/>
                          </a:solidFill>
                          <a:latin typeface="Arimo" pitchFamily="34" charset="0"/>
                          <a:ea typeface="Arimo" pitchFamily="34" charset="-122"/>
                          <a:cs typeface="Arimo" pitchFamily="34" charset="-120"/>
                        </a:rPr>
                        <a:t>Extracted via regex from </a:t>
                      </a:r>
                      <a:pPr algn="l" indent="0" marL="0">
                        <a:buNone/>
                      </a:pPr>
                      <a:r>
                        <a:rPr lang="en-US" sz="1100" dirty="0">
                          <a:solidFill>
                            <a:srgbClr val="2B2F36"/>
                          </a:solidFill>
                          <a:latin typeface="Consolas" pitchFamily="34" charset="0"/>
                          <a:ea typeface="Consolas" pitchFamily="34" charset="-122"/>
                          <a:cs typeface="Consolas" pitchFamily="34" charset="-120"/>
                        </a:rPr>
                        <a:t>from &lt;ip&gt;</a:t>
                      </a:r>
                      <a:endParaRPr lang="en-US" sz="1100" dirty="0">
                        <a:latin typeface="Arimo" charset="0"/>
                        <a:ea typeface="Arimo" charset="0"/>
                        <a:cs typeface="Arimo"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tc>
                  <a:txBody>
                    <a:bodyPr/>
                    <a:lstStyle/>
                    <a:p>
                      <a:pPr algn="l" indent="0" marL="0">
                        <a:buNone/>
                      </a:pPr>
                      <a:r>
                        <a:rPr lang="en-US" sz="1100" dirty="0">
                          <a:solidFill>
                            <a:srgbClr val="2B2F36"/>
                          </a:solidFill>
                          <a:latin typeface="Consolas" pitchFamily="34" charset="0"/>
                          <a:ea typeface="Consolas" pitchFamily="34" charset="-122"/>
                          <a:cs typeface="Consolas" pitchFamily="34" charset="-120"/>
                        </a:rPr>
                        <a:t>"192.0.2.10"</a:t>
                      </a:r>
                      <a:endParaRPr lang="en-US" sz="1100" dirty="0">
                        <a:latin typeface="Consolas" charset="0"/>
                        <a:ea typeface="Consolas" charset="0"/>
                        <a:cs typeface="Consolas"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tc>
                  <a:txBody>
                    <a:bodyPr/>
                    <a:lstStyle/>
                    <a:p>
                      <a:pPr algn="l" indent="0" marL="0">
                        <a:buNone/>
                      </a:pPr>
                      <a:r>
                        <a:rPr lang="en-US" sz="1100" dirty="0">
                          <a:solidFill>
                            <a:srgbClr val="2B2F36"/>
                          </a:solidFill>
                          <a:latin typeface="Consolas" pitchFamily="34" charset="0"/>
                          <a:ea typeface="Consolas" pitchFamily="34" charset="-122"/>
                          <a:cs typeface="Consolas" pitchFamily="34" charset="-120"/>
                        </a:rPr>
                        <a:t>IPv4 / IPv6 Address object</a:t>
                      </a:r>
                      <a:endParaRPr lang="en-US" sz="1100" dirty="0">
                        <a:latin typeface="Consolas" charset="0"/>
                        <a:ea typeface="Consolas" charset="0"/>
                        <a:cs typeface="Consolas"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tr>
              <a:tr h="379701">
                <a:tc>
                  <a:txBody>
                    <a:bodyPr/>
                    <a:lstStyle/>
                    <a:p>
                      <a:pPr algn="l" indent="0" marL="0">
                        <a:buNone/>
                      </a:pPr>
                      <a:r>
                        <a:rPr lang="en-US" sz="1300" dirty="0">
                          <a:solidFill>
                            <a:srgbClr val="2B2F36"/>
                          </a:solidFill>
                          <a:latin typeface="Consolas" pitchFamily="34" charset="0"/>
                          <a:ea typeface="Consolas" pitchFamily="34" charset="-122"/>
                          <a:cs typeface="Consolas" pitchFamily="34" charset="-120"/>
                        </a:rPr>
                        <a:t>username</a:t>
                      </a:r>
                      <a:endParaRPr lang="en-US" sz="1300" dirty="0">
                        <a:latin typeface="Consolas" charset="0"/>
                        <a:ea typeface="Consolas" charset="0"/>
                        <a:cs typeface="Consolas"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100" dirty="0">
                          <a:solidFill>
                            <a:srgbClr val="2B2F36"/>
                          </a:solidFill>
                          <a:latin typeface="Arimo" pitchFamily="34" charset="0"/>
                          <a:ea typeface="Arimo" pitchFamily="34" charset="-122"/>
                          <a:cs typeface="Arimo" pitchFamily="34" charset="-120"/>
                        </a:rPr>
                        <a:t>Extracted from </a:t>
                      </a:r>
                      <a:pPr algn="l" indent="0" marL="0">
                        <a:buNone/>
                      </a:pPr>
                      <a:r>
                        <a:rPr lang="en-US" sz="1100" dirty="0">
                          <a:solidFill>
                            <a:srgbClr val="2B2F36"/>
                          </a:solidFill>
                          <a:latin typeface="Consolas" pitchFamily="34" charset="0"/>
                          <a:ea typeface="Consolas" pitchFamily="34" charset="-122"/>
                          <a:cs typeface="Consolas" pitchFamily="34" charset="-120"/>
                        </a:rPr>
                        <a:t>for &lt;user&gt;</a:t>
                      </a:r>
                      <a:pPr algn="l" indent="0" marL="0">
                        <a:buNone/>
                      </a:pPr>
                      <a:r>
                        <a:rPr lang="en-US" sz="1100" dirty="0">
                          <a:solidFill>
                            <a:srgbClr val="2B2F36"/>
                          </a:solidFill>
                          <a:latin typeface="Arimo" pitchFamily="34" charset="0"/>
                          <a:ea typeface="Arimo" pitchFamily="34" charset="-122"/>
                          <a:cs typeface="Arimo" pitchFamily="34" charset="-120"/>
                        </a:rPr>
                        <a:t> / </a:t>
                      </a:r>
                      <a:pPr algn="l" indent="0" marL="0">
                        <a:buNone/>
                      </a:pPr>
                      <a:r>
                        <a:rPr lang="en-US" sz="1100" dirty="0">
                          <a:solidFill>
                            <a:srgbClr val="2B2F36"/>
                          </a:solidFill>
                          <a:latin typeface="Consolas" pitchFamily="34" charset="0"/>
                          <a:ea typeface="Consolas" pitchFamily="34" charset="-122"/>
                          <a:cs typeface="Consolas" pitchFamily="34" charset="-120"/>
                        </a:rPr>
                        <a:t>invalid user</a:t>
                      </a:r>
                      <a:endParaRPr lang="en-US" sz="1100" dirty="0">
                        <a:latin typeface="Arimo" charset="0"/>
                        <a:ea typeface="Arimo" charset="0"/>
                        <a:cs typeface="Arimo"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100" dirty="0">
                          <a:solidFill>
                            <a:srgbClr val="2B2F36"/>
                          </a:solidFill>
                          <a:latin typeface="Consolas" pitchFamily="34" charset="0"/>
                          <a:ea typeface="Consolas" pitchFamily="34" charset="-122"/>
                          <a:cs typeface="Consolas" pitchFamily="34" charset="-120"/>
                        </a:rPr>
                        <a:t>"analyst"</a:t>
                      </a:r>
                      <a:endParaRPr lang="en-US" sz="1100" dirty="0">
                        <a:latin typeface="Consolas" charset="0"/>
                        <a:ea typeface="Consolas" charset="0"/>
                        <a:cs typeface="Consolas"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100" dirty="0">
                          <a:solidFill>
                            <a:srgbClr val="2B2F36"/>
                          </a:solidFill>
                          <a:latin typeface="Consolas" pitchFamily="34" charset="0"/>
                          <a:ea typeface="Consolas" pitchFamily="34" charset="-122"/>
                          <a:cs typeface="Consolas" pitchFamily="34" charset="-120"/>
                        </a:rPr>
                        <a:t>str (Sanitized lowercased)</a:t>
                      </a:r>
                      <a:endParaRPr lang="en-US" sz="1100" dirty="0">
                        <a:latin typeface="Consolas" charset="0"/>
                        <a:ea typeface="Consolas" charset="0"/>
                        <a:cs typeface="Consolas"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73351">
                <a:tc>
                  <a:txBody>
                    <a:bodyPr/>
                    <a:lstStyle/>
                    <a:p>
                      <a:pPr algn="l" indent="0" marL="0">
                        <a:buNone/>
                      </a:pPr>
                      <a:r>
                        <a:rPr lang="en-US" sz="1300" dirty="0">
                          <a:solidFill>
                            <a:srgbClr val="2B2F36"/>
                          </a:solidFill>
                          <a:latin typeface="Consolas" pitchFamily="34" charset="0"/>
                          <a:ea typeface="Consolas" pitchFamily="34" charset="-122"/>
                          <a:cs typeface="Consolas" pitchFamily="34" charset="-120"/>
                        </a:rPr>
                        <a:t>service</a:t>
                      </a:r>
                      <a:endParaRPr lang="en-US" sz="1300" dirty="0">
                        <a:latin typeface="Consolas" charset="0"/>
                        <a:ea typeface="Consolas" charset="0"/>
                        <a:cs typeface="Consolas"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tc>
                  <a:txBody>
                    <a:bodyPr/>
                    <a:lstStyle/>
                    <a:p>
                      <a:pPr algn="l" indent="0" marL="0">
                        <a:buNone/>
                      </a:pPr>
                      <a:r>
                        <a:rPr lang="en-US" sz="1100" dirty="0">
                          <a:solidFill>
                            <a:srgbClr val="2B2F36"/>
                          </a:solidFill>
                          <a:latin typeface="Arimo" pitchFamily="34" charset="0"/>
                          <a:ea typeface="Arimo" pitchFamily="34" charset="-122"/>
                          <a:cs typeface="Arimo" pitchFamily="34" charset="-120"/>
                        </a:rPr>
                        <a:t>Process identifier: </a:t>
                      </a:r>
                      <a:pPr algn="l" indent="0" marL="0">
                        <a:buNone/>
                      </a:pPr>
                      <a:r>
                        <a:rPr lang="en-US" sz="1100" dirty="0">
                          <a:solidFill>
                            <a:srgbClr val="2B2F36"/>
                          </a:solidFill>
                          <a:latin typeface="Consolas" pitchFamily="34" charset="0"/>
                          <a:ea typeface="Consolas" pitchFamily="34" charset="-122"/>
                          <a:cs typeface="Consolas" pitchFamily="34" charset="-120"/>
                        </a:rPr>
                        <a:t>sshd</a:t>
                      </a:r>
                      <a:endParaRPr lang="en-US" sz="1100" dirty="0">
                        <a:latin typeface="Arimo" charset="0"/>
                        <a:ea typeface="Arimo" charset="0"/>
                        <a:cs typeface="Arimo"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tc>
                  <a:txBody>
                    <a:bodyPr/>
                    <a:lstStyle/>
                    <a:p>
                      <a:pPr algn="l" indent="0" marL="0">
                        <a:buNone/>
                      </a:pPr>
                      <a:r>
                        <a:rPr lang="en-US" sz="1100" dirty="0">
                          <a:solidFill>
                            <a:srgbClr val="2B2F36"/>
                          </a:solidFill>
                          <a:latin typeface="Consolas" pitchFamily="34" charset="0"/>
                          <a:ea typeface="Consolas" pitchFamily="34" charset="-122"/>
                          <a:cs typeface="Consolas" pitchFamily="34" charset="-120"/>
                        </a:rPr>
                        <a:t>"ssh"</a:t>
                      </a:r>
                      <a:endParaRPr lang="en-US" sz="1100" dirty="0">
                        <a:latin typeface="Consolas" charset="0"/>
                        <a:ea typeface="Consolas" charset="0"/>
                        <a:cs typeface="Consolas"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tc>
                  <a:txBody>
                    <a:bodyPr/>
                    <a:lstStyle/>
                    <a:p>
                      <a:pPr algn="l" indent="0" marL="0">
                        <a:buNone/>
                      </a:pPr>
                      <a:r>
                        <a:rPr lang="en-US" sz="1100" dirty="0">
                          <a:solidFill>
                            <a:srgbClr val="2B2F36"/>
                          </a:solidFill>
                          <a:latin typeface="Consolas" pitchFamily="34" charset="0"/>
                          <a:ea typeface="Consolas" pitchFamily="34" charset="-122"/>
                          <a:cs typeface="Consolas" pitchFamily="34" charset="-120"/>
                        </a:rPr>
                        <a:t>str (Normalized protocol/service)</a:t>
                      </a:r>
                      <a:endParaRPr lang="en-US" sz="1100" dirty="0">
                        <a:latin typeface="Consolas" charset="0"/>
                        <a:ea typeface="Consolas" charset="0"/>
                        <a:cs typeface="Consolas" charset="0"/>
                      </a:endParaRPr>
                    </a:p>
                  </a:txBody>
                  <a:tcPr marL="101598" marR="101598" marT="76198" marB="76198" anchor="ctr">
                    <a:lnL w="12700" cap="flat" cmpd="sng" algn="ctr">
                      <a:solidFill>
                        <a:srgbClr val="D5DAE0"/>
                      </a:solidFill>
                      <a:prstDash val="solid"/>
                      <a:round/>
                      <a:headEnd type="none" w="med" len="med"/>
                      <a:tailEnd type="none" w="med" len="med"/>
                    </a:lnL>
                    <a:lnR w="12700" cap="flat" cmpd="sng" algn="ctr">
                      <a:solidFill>
                        <a:srgbClr val="D5DAE0"/>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F2F4F6"/>
                    </a:solidFill>
                  </a:tcPr>
                </a:tc>
              </a:tr>
            </a:tbl>
          </a:graphicData>
        </a:graphic>
      </p:graphicFrame>
      <p:sp>
        <p:nvSpPr>
          <p:cNvPr id="7" name="Shape 4"/>
          <p:cNvSpPr/>
          <p:nvPr/>
        </p:nvSpPr>
        <p:spPr>
          <a:xfrm>
            <a:off x="507987" y="5264944"/>
            <a:ext cx="5511662" cy="1064121"/>
          </a:xfrm>
          <a:prstGeom prst="rect">
            <a:avLst/>
          </a:prstGeom>
          <a:solidFill>
            <a:srgbClr val="F2F4F6"/>
          </a:solidFill>
          <a:ln/>
        </p:spPr>
        <p:txBody>
          <a:bodyPr/>
          <a:p/>
        </p:txBody>
      </p:sp>
      <p:sp>
        <p:nvSpPr>
          <p:cNvPr id="8" name="Shape 5"/>
          <p:cNvSpPr/>
          <p:nvPr/>
        </p:nvSpPr>
        <p:spPr>
          <a:xfrm>
            <a:off x="507987" y="5264944"/>
            <a:ext cx="38099" cy="1064121"/>
          </a:xfrm>
          <a:prstGeom prst="rect">
            <a:avLst/>
          </a:prstGeom>
          <a:solidFill>
            <a:srgbClr val="C0102F"/>
          </a:solidFill>
          <a:ln/>
        </p:spPr>
        <p:txBody>
          <a:bodyPr/>
          <a:p/>
        </p:txBody>
      </p:sp>
      <p:sp>
        <p:nvSpPr>
          <p:cNvPr id="9" name="Text 6"/>
          <p:cNvSpPr/>
          <p:nvPr/>
        </p:nvSpPr>
        <p:spPr>
          <a:xfrm>
            <a:off x="749281" y="5391944"/>
            <a:ext cx="5067173" cy="650180"/>
          </a:xfrm>
          <a:prstGeom prst="rect">
            <a:avLst/>
          </a:prstGeom>
          <a:noFill/>
          <a:ln/>
        </p:spPr>
        <p:txBody>
          <a:bodyPr wrap="square" lIns="0" tIns="0" rIns="0" bIns="0" rtlCol="0" anchor="t">
            <a:normAutofit/>
          </a:bodyPr>
          <a:lstStyle/>
          <a:p>
            <a:pPr algn="l" indent="0" marL="0">
              <a:lnSpc>
                <a:spcPct val="108000"/>
              </a:lnSpc>
              <a:buNone/>
            </a:pPr>
            <a:r>
              <a:rPr lang="en-US" sz="1300" b="1" dirty="0">
                <a:solidFill>
                  <a:srgbClr val="2B2F36"/>
                </a:solidFill>
                <a:latin typeface="Arimo Bold" pitchFamily="34" charset="0"/>
                <a:ea typeface="Arimo Bold" pitchFamily="34" charset="-122"/>
                <a:cs typeface="Arimo Bold" pitchFamily="34" charset="-120"/>
              </a:rPr>
              <a:t>Schema Stability:</a:t>
            </a:r>
            <a:pPr algn="l" indent="0" marL="0">
              <a:lnSpc>
                <a:spcPct val="108000"/>
              </a:lnSpc>
              <a:buNone/>
            </a:pPr>
            <a:r>
              <a:rPr lang="en-US" sz="1300" dirty="0">
                <a:solidFill>
                  <a:srgbClr val="2B2F36"/>
                </a:solidFill>
                <a:latin typeface="Arimo" pitchFamily="34" charset="0"/>
                <a:ea typeface="Arimo" pitchFamily="34" charset="-122"/>
                <a:cs typeface="Arimo" pitchFamily="34" charset="-120"/>
              </a:rPr>
              <a:t> Downstream detection rules never touch regexes or raw line formats. All correlation logic interacts strictly with the typed </a:t>
            </a:r>
            <a:pPr algn="l" indent="0" marL="0">
              <a:lnSpc>
                <a:spcPct val="108000"/>
              </a:lnSpc>
              <a:buNone/>
            </a:pPr>
            <a:r>
              <a:rPr lang="en-US" sz="1300" dirty="0">
                <a:solidFill>
                  <a:srgbClr val="2B2F36"/>
                </a:solidFill>
                <a:highlight>
                  <a:srgbClr val="F2F4F6"/>
                </a:highlight>
                <a:latin typeface="Consolas" pitchFamily="34" charset="0"/>
                <a:ea typeface="Consolas" pitchFamily="34" charset="-122"/>
                <a:cs typeface="Consolas" pitchFamily="34" charset="-120"/>
              </a:rPr>
              <a:t>AuthEvent</a:t>
            </a:r>
            <a:pPr algn="l" indent="0" marL="0">
              <a:lnSpc>
                <a:spcPct val="108000"/>
              </a:lnSpc>
              <a:buNone/>
            </a:pPr>
            <a:r>
              <a:rPr lang="en-US" sz="1300" dirty="0">
                <a:solidFill>
                  <a:srgbClr val="2B2F36"/>
                </a:solidFill>
                <a:latin typeface="Arimo" pitchFamily="34" charset="0"/>
                <a:ea typeface="Arimo" pitchFamily="34" charset="-122"/>
                <a:cs typeface="Arimo" pitchFamily="34" charset="-120"/>
              </a:rPr>
              <a:t> interface.</a:t>
            </a:r>
            <a:endParaRPr lang="en-US" sz="1300" dirty="0"/>
          </a:p>
        </p:txBody>
      </p:sp>
      <p:sp>
        <p:nvSpPr>
          <p:cNvPr id="10" name="Shape 7"/>
          <p:cNvSpPr/>
          <p:nvPr/>
        </p:nvSpPr>
        <p:spPr>
          <a:xfrm>
            <a:off x="6172046" y="5264944"/>
            <a:ext cx="5511662" cy="1064121"/>
          </a:xfrm>
          <a:prstGeom prst="rect">
            <a:avLst/>
          </a:prstGeom>
          <a:noFill/>
          <a:ln w="6350">
            <a:solidFill>
              <a:srgbClr val="D5DAE0"/>
            </a:solidFill>
            <a:prstDash val="solid"/>
          </a:ln>
          <a:effectLst>
            <a:outerShdw sx="100000" sy="100000" kx="0" ky="0" algn="bl" rotWithShape="0" blurRad="30480" dist="11430" dir="5400000">
              <a:srgbClr val="0b1f3a">
                <a:alpha val="1000"/>
              </a:srgbClr>
            </a:outerShdw>
          </a:effectLst>
        </p:spPr>
        <p:txBody>
          <a:bodyPr/>
          <a:p/>
        </p:txBody>
      </p:sp>
      <p:sp>
        <p:nvSpPr>
          <p:cNvPr id="11" name="Text 8"/>
          <p:cNvSpPr/>
          <p:nvPr/>
        </p:nvSpPr>
        <p:spPr>
          <a:xfrm>
            <a:off x="6381590" y="5398294"/>
            <a:ext cx="5302117"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EXTENSIBILITY HOOK</a:t>
            </a:r>
            <a:endParaRPr lang="en-US" sz="950" dirty="0"/>
          </a:p>
        </p:txBody>
      </p:sp>
      <p:sp>
        <p:nvSpPr>
          <p:cNvPr id="12" name="Text 9"/>
          <p:cNvSpPr/>
          <p:nvPr/>
        </p:nvSpPr>
        <p:spPr>
          <a:xfrm>
            <a:off x="6381590" y="5625604"/>
            <a:ext cx="5092573" cy="570111"/>
          </a:xfrm>
          <a:prstGeom prst="rect">
            <a:avLst/>
          </a:prstGeom>
          <a:noFill/>
          <a:ln/>
        </p:spPr>
        <p:txBody>
          <a:bodyPr wrap="square" lIns="0" tIns="0" rIns="0" bIns="0" rtlCol="0" anchor="t">
            <a:normAutofit/>
          </a:bodyPr>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Adding support for Okta system log, AWS CloudTrail </a:t>
            </a:r>
            <a:pPr algn="l" indent="0" marL="0">
              <a:lnSpc>
                <a:spcPct val="108000"/>
              </a:lnSpc>
              <a:buNone/>
            </a:pPr>
            <a:r>
              <a:rPr lang="en-US" sz="1100" dirty="0">
                <a:solidFill>
                  <a:srgbClr val="2B2F36"/>
                </a:solidFill>
                <a:highlight>
                  <a:srgbClr val="F2F4F6"/>
                </a:highlight>
                <a:latin typeface="Consolas" pitchFamily="34" charset="0"/>
                <a:ea typeface="Consolas" pitchFamily="34" charset="-122"/>
                <a:cs typeface="Consolas" pitchFamily="34" charset="-120"/>
              </a:rPr>
              <a:t>ConsoleLogin</a:t>
            </a:r>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 or Windows Event ID 4625 requires solely writing a dedicated parser subclass yielding </a:t>
            </a:r>
            <a:pPr algn="l" indent="0" marL="0">
              <a:lnSpc>
                <a:spcPct val="108000"/>
              </a:lnSpc>
              <a:buNone/>
            </a:pPr>
            <a:r>
              <a:rPr lang="en-US" sz="1100" dirty="0">
                <a:solidFill>
                  <a:srgbClr val="2B2F36"/>
                </a:solidFill>
                <a:highlight>
                  <a:srgbClr val="F2F4F6"/>
                </a:highlight>
                <a:latin typeface="Consolas" pitchFamily="34" charset="0"/>
                <a:ea typeface="Consolas" pitchFamily="34" charset="-122"/>
                <a:cs typeface="Consolas" pitchFamily="34" charset="-120"/>
              </a:rPr>
              <a:t>AuthEvent</a:t>
            </a:r>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a:t>
            </a:r>
            <a:endParaRPr lang="en-US" sz="1100" dirty="0"/>
          </a:p>
        </p:txBody>
      </p:sp>
      <p:sp>
        <p:nvSpPr>
          <p:cNvPr id="13" name="Text 10"/>
          <p:cNvSpPr/>
          <p:nvPr/>
        </p:nvSpPr>
        <p:spPr>
          <a:xfrm>
            <a:off x="507987" y="6456065"/>
            <a:ext cx="11683708" cy="173335"/>
          </a:xfrm>
          <a:prstGeom prst="rect">
            <a:avLst/>
          </a:prstGeom>
          <a:noFill/>
          <a:ln/>
        </p:spPr>
        <p:txBody>
          <a:bodyPr wrap="none" lIns="0" tIns="0" rIns="0" bIns="0" rtlCol="0" anchor="t"/>
          <a:lstStyle/>
          <a:p>
            <a:pPr algn="l" indent="0" marL="0">
              <a:lnSpc>
                <a:spcPct val="108000"/>
              </a:lnSpc>
              <a:buNone/>
            </a:pPr>
            <a:r>
              <a:rPr lang="en-US" sz="1050" dirty="0">
                <a:solidFill>
                  <a:srgbClr val="5B6573"/>
                </a:solidFill>
                <a:latin typeface="Arimo" pitchFamily="34" charset="0"/>
                <a:ea typeface="Arimo" pitchFamily="34" charset="-122"/>
                <a:cs typeface="Arimo" pitchFamily="34" charset="-120"/>
              </a:rPr>
              <a:t>Data contract: </a:t>
            </a:r>
            <a:pPr algn="l" indent="0" marL="0">
              <a:lnSpc>
                <a:spcPct val="108000"/>
              </a:lnSpc>
              <a:buNone/>
            </a:pPr>
            <a:r>
              <a:rPr lang="en-US" sz="1050" dirty="0">
                <a:solidFill>
                  <a:srgbClr val="2B2F36"/>
                </a:solidFill>
                <a:highlight>
                  <a:srgbClr val="F2F4F6"/>
                </a:highlight>
                <a:latin typeface="Consolas" pitchFamily="34" charset="0"/>
                <a:ea typeface="Consolas" pitchFamily="34" charset="-122"/>
                <a:cs typeface="Consolas" pitchFamily="34" charset="-120"/>
              </a:rPr>
              <a:t>sentinellog.models.AuthEvent</a:t>
            </a:r>
            <a:pPr algn="l" indent="0" marL="0">
              <a:lnSpc>
                <a:spcPct val="108000"/>
              </a:lnSpc>
              <a:buNone/>
            </a:pPr>
            <a:r>
              <a:rPr lang="en-US" sz="1050" dirty="0">
                <a:solidFill>
                  <a:srgbClr val="5B6573"/>
                </a:solidFill>
                <a:latin typeface="Arimo" pitchFamily="34" charset="0"/>
                <a:ea typeface="Arimo" pitchFamily="34" charset="-122"/>
                <a:cs typeface="Arimo" pitchFamily="34" charset="-120"/>
              </a:rPr>
              <a:t> dataclass specification.</a:t>
            </a:r>
            <a:endParaRPr lang="en-US" sz="1050" dirty="0"/>
          </a:p>
        </p:txBody>
      </p:sp>
      <p:sp>
        <p:nvSpPr>
          <p:cNvPr id="14" name="Text 11"/>
          <p:cNvSpPr/>
          <p:nvPr/>
        </p:nvSpPr>
        <p:spPr>
          <a:xfrm>
            <a:off x="507987" y="6555085"/>
            <a:ext cx="1213415" cy="148530"/>
          </a:xfrm>
          <a:prstGeom prst="rect">
            <a:avLst/>
          </a:prstGeom>
          <a:noFill/>
          <a:ln/>
        </p:spPr>
        <p:txBody>
          <a:bodyPr wrap="none" lIns="0" tIns="0" rIns="0" bIns="0" rtlCol="0" anchor="ctr"/>
          <a:lstStyle/>
          <a:p>
            <a:pPr algn="l" indent="0" marL="0">
              <a:lnSpc>
                <a:spcPct val="108000"/>
              </a:lnSpc>
              <a:buNone/>
            </a:pPr>
            <a:r>
              <a:rPr lang="en-US" sz="900" dirty="0">
                <a:solidFill>
                  <a:srgbClr val="2B2F36"/>
                </a:solidFill>
                <a:latin typeface="Arimo" pitchFamily="34" charset="0"/>
                <a:ea typeface="Arimo" pitchFamily="34" charset="-122"/>
                <a:cs typeface="Arimo" pitchFamily="34" charset="-120"/>
              </a:rPr>
              <a:t>SentinelLog</a:t>
            </a:r>
            <a:endParaRPr lang="en-US" sz="900" dirty="0"/>
          </a:p>
        </p:txBody>
      </p:sp>
      <p:sp>
        <p:nvSpPr>
          <p:cNvPr id="15" name="Text 12"/>
          <p:cNvSpPr/>
          <p:nvPr/>
        </p:nvSpPr>
        <p:spPr>
          <a:xfrm>
            <a:off x="11620209" y="6555085"/>
            <a:ext cx="571486" cy="148530"/>
          </a:xfrm>
          <a:prstGeom prst="rect">
            <a:avLst/>
          </a:prstGeom>
          <a:noFill/>
          <a:ln/>
        </p:spPr>
        <p:txBody>
          <a:bodyPr wrap="none" lIns="0" tIns="0" rIns="0" bIns="0" rtlCol="0" anchor="ctr"/>
          <a:lstStyle/>
          <a:p>
            <a:pPr algn="l" indent="0" marL="0">
              <a:lnSpc>
                <a:spcPct val="108000"/>
              </a:lnSpc>
              <a:buNone/>
            </a:pPr>
            <a:r>
              <a:rPr lang="en-US" sz="900" dirty="0">
                <a:solidFill>
                  <a:srgbClr val="2B2F36"/>
                </a:solidFill>
                <a:latin typeface="Arimo" pitchFamily="34" charset="0"/>
                <a:ea typeface="Arimo" pitchFamily="34" charset="-122"/>
                <a:cs typeface="Arimo"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7987" y="330200"/>
            <a:ext cx="11683708"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DETECTION METHODOLOGY</a:t>
            </a:r>
            <a:endParaRPr lang="en-US" sz="950" dirty="0"/>
          </a:p>
        </p:txBody>
      </p:sp>
      <p:sp>
        <p:nvSpPr>
          <p:cNvPr id="3" name="Text 1"/>
          <p:cNvSpPr/>
          <p:nvPr/>
        </p:nvSpPr>
        <p:spPr>
          <a:xfrm>
            <a:off x="507987" y="532110"/>
            <a:ext cx="11175720" cy="398264"/>
          </a:xfrm>
          <a:prstGeom prst="rect">
            <a:avLst/>
          </a:prstGeom>
          <a:noFill/>
          <a:ln/>
        </p:spPr>
        <p:txBody>
          <a:bodyPr wrap="none" lIns="0" tIns="0" rIns="0" bIns="0" rtlCol="0" anchor="t"/>
          <a:lstStyle/>
          <a:p>
            <a:pPr algn="l" indent="0" marL="0">
              <a:lnSpc>
                <a:spcPct val="93000"/>
              </a:lnSpc>
              <a:buNone/>
            </a:pPr>
            <a:r>
              <a:rPr lang="en-US" sz="2800" b="1" spc="-14" kern="100" dirty="0">
                <a:solidFill>
                  <a:srgbClr val="0B1F3A"/>
                </a:solidFill>
                <a:latin typeface="Arimo Bold" pitchFamily="34" charset="0"/>
                <a:ea typeface="Arimo Bold" pitchFamily="34" charset="-122"/>
                <a:cs typeface="Arimo Bold" pitchFamily="34" charset="-120"/>
              </a:rPr>
              <a:t>The engine detects patterns, not isolated lines</a:t>
            </a:r>
            <a:endParaRPr lang="en-US" sz="2800" dirty="0"/>
          </a:p>
        </p:txBody>
      </p:sp>
      <p:sp>
        <p:nvSpPr>
          <p:cNvPr id="4" name="Text 2"/>
          <p:cNvSpPr/>
          <p:nvPr/>
        </p:nvSpPr>
        <p:spPr>
          <a:xfrm>
            <a:off x="507987" y="1070074"/>
            <a:ext cx="11683708" cy="214610"/>
          </a:xfrm>
          <a:prstGeom prst="rect">
            <a:avLst/>
          </a:prstGeom>
          <a:noFill/>
          <a:ln/>
        </p:spPr>
        <p:txBody>
          <a:bodyPr wrap="none" lIns="0" tIns="0" rIns="0" bIns="0" rtlCol="0" anchor="t"/>
          <a:lstStyle/>
          <a:p>
            <a:pPr algn="l" indent="0" marL="0">
              <a:lnSpc>
                <a:spcPct val="108000"/>
              </a:lnSpc>
              <a:buNone/>
            </a:pPr>
            <a:r>
              <a:rPr lang="en-US" sz="1300" i="1" dirty="0">
                <a:solidFill>
                  <a:srgbClr val="2B2F36"/>
                </a:solidFill>
                <a:latin typeface="Arimo" pitchFamily="34" charset="0"/>
                <a:ea typeface="Arimo" pitchFamily="34" charset="-122"/>
                <a:cs typeface="Arimo" pitchFamily="34" charset="-120"/>
              </a:rPr>
              <a:t>Stateless alerts scream at single failures; stateful detection establishes operational context across time and entity boundaries.</a:t>
            </a:r>
            <a:endParaRPr lang="en-US" sz="1300" dirty="0"/>
          </a:p>
        </p:txBody>
      </p:sp>
      <p:sp>
        <p:nvSpPr>
          <p:cNvPr id="5" name="Text 3"/>
          <p:cNvSpPr/>
          <p:nvPr/>
        </p:nvSpPr>
        <p:spPr>
          <a:xfrm>
            <a:off x="685783" y="1564084"/>
            <a:ext cx="1879553" cy="426641"/>
          </a:xfrm>
          <a:prstGeom prst="rect">
            <a:avLst/>
          </a:prstGeom>
          <a:noFill/>
          <a:ln/>
        </p:spPr>
        <p:txBody>
          <a:bodyPr wrap="none" lIns="0" tIns="0" rIns="0" bIns="0" rtlCol="0" anchor="t"/>
          <a:lstStyle/>
          <a:p>
            <a:pPr algn="l" indent="0" marL="0">
              <a:lnSpc>
                <a:spcPct val="87000"/>
              </a:lnSpc>
              <a:buNone/>
            </a:pPr>
            <a:r>
              <a:rPr lang="en-US" sz="3200" b="1" spc="-32" kern="100" dirty="0">
                <a:solidFill>
                  <a:srgbClr val="0B1F3A"/>
                </a:solidFill>
                <a:latin typeface="Arimo Bold" pitchFamily="34" charset="0"/>
                <a:ea typeface="Arimo Bold" pitchFamily="34" charset="-122"/>
                <a:cs typeface="Arimo Bold" pitchFamily="34" charset="-120"/>
              </a:rPr>
              <a:t>01</a:t>
            </a:r>
            <a:endParaRPr lang="en-US" sz="3200" dirty="0"/>
          </a:p>
        </p:txBody>
      </p:sp>
      <p:sp>
        <p:nvSpPr>
          <p:cNvPr id="6" name="Text 4"/>
          <p:cNvSpPr/>
          <p:nvPr/>
        </p:nvSpPr>
        <p:spPr>
          <a:xfrm>
            <a:off x="685783" y="2073275"/>
            <a:ext cx="1879553" cy="206375"/>
          </a:xfrm>
          <a:prstGeom prst="rect">
            <a:avLst/>
          </a:prstGeom>
          <a:noFill/>
          <a:ln/>
        </p:spPr>
        <p:txBody>
          <a:bodyPr wrap="none" lIns="0" tIns="0" rIns="0" bIns="0" rtlCol="0" anchor="t"/>
          <a:lstStyle/>
          <a:p>
            <a:pPr algn="l" indent="0" marL="0">
              <a:lnSpc>
                <a:spcPct val="104000"/>
              </a:lnSpc>
              <a:buNone/>
            </a:pPr>
            <a:r>
              <a:rPr lang="en-US" sz="1300" b="1" dirty="0">
                <a:solidFill>
                  <a:srgbClr val="0B1F3A"/>
                </a:solidFill>
                <a:latin typeface="Arimo Bold" pitchFamily="34" charset="0"/>
                <a:ea typeface="Arimo Bold" pitchFamily="34" charset="-122"/>
                <a:cs typeface="Arimo Bold" pitchFamily="34" charset="-120"/>
              </a:rPr>
              <a:t>Event Stream</a:t>
            </a:r>
            <a:endParaRPr lang="en-US" sz="1300" dirty="0"/>
          </a:p>
        </p:txBody>
      </p:sp>
      <p:sp>
        <p:nvSpPr>
          <p:cNvPr id="7" name="Text 5"/>
          <p:cNvSpPr/>
          <p:nvPr/>
        </p:nvSpPr>
        <p:spPr>
          <a:xfrm>
            <a:off x="685783" y="2381250"/>
            <a:ext cx="1879553" cy="544711"/>
          </a:xfrm>
          <a:prstGeom prst="rect">
            <a:avLst/>
          </a:prstGeom>
          <a:noFill/>
          <a:ln/>
        </p:spPr>
        <p:txBody>
          <a:bodyPr wrap="square" lIns="0" tIns="0" rIns="0" bIns="0" rtlCol="0" anchor="t">
            <a:normAutofit/>
          </a:bodyPr>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Incoming sequence of normalized events ordered chronologically.</a:t>
            </a:r>
            <a:endParaRPr lang="en-US" sz="1100" dirty="0"/>
          </a:p>
        </p:txBody>
      </p:sp>
      <p:sp>
        <p:nvSpPr>
          <p:cNvPr id="8" name="Text 6"/>
          <p:cNvSpPr/>
          <p:nvPr/>
        </p:nvSpPr>
        <p:spPr>
          <a:xfrm>
            <a:off x="2920927" y="1564084"/>
            <a:ext cx="1879553" cy="426641"/>
          </a:xfrm>
          <a:prstGeom prst="rect">
            <a:avLst/>
          </a:prstGeom>
          <a:noFill/>
          <a:ln/>
        </p:spPr>
        <p:txBody>
          <a:bodyPr wrap="none" lIns="0" tIns="0" rIns="0" bIns="0" rtlCol="0" anchor="t"/>
          <a:lstStyle/>
          <a:p>
            <a:pPr algn="l" indent="0" marL="0">
              <a:lnSpc>
                <a:spcPct val="87000"/>
              </a:lnSpc>
              <a:buNone/>
            </a:pPr>
            <a:r>
              <a:rPr lang="en-US" sz="3200" b="1" spc="-32" kern="100" dirty="0">
                <a:solidFill>
                  <a:srgbClr val="0B1F3A"/>
                </a:solidFill>
                <a:latin typeface="Arimo Bold" pitchFamily="34" charset="0"/>
                <a:ea typeface="Arimo Bold" pitchFamily="34" charset="-122"/>
                <a:cs typeface="Arimo Bold" pitchFamily="34" charset="-120"/>
              </a:rPr>
              <a:t>02</a:t>
            </a:r>
            <a:endParaRPr lang="en-US" sz="3200" dirty="0"/>
          </a:p>
        </p:txBody>
      </p:sp>
      <p:sp>
        <p:nvSpPr>
          <p:cNvPr id="9" name="Text 7"/>
          <p:cNvSpPr/>
          <p:nvPr/>
        </p:nvSpPr>
        <p:spPr>
          <a:xfrm>
            <a:off x="2920927" y="2073275"/>
            <a:ext cx="1879553" cy="206375"/>
          </a:xfrm>
          <a:prstGeom prst="rect">
            <a:avLst/>
          </a:prstGeom>
          <a:noFill/>
          <a:ln/>
        </p:spPr>
        <p:txBody>
          <a:bodyPr wrap="none" lIns="0" tIns="0" rIns="0" bIns="0" rtlCol="0" anchor="t"/>
          <a:lstStyle/>
          <a:p>
            <a:pPr algn="l" indent="0" marL="0">
              <a:lnSpc>
                <a:spcPct val="104000"/>
              </a:lnSpc>
              <a:buNone/>
            </a:pPr>
            <a:r>
              <a:rPr lang="en-US" sz="1300" b="1" dirty="0">
                <a:solidFill>
                  <a:srgbClr val="0B1F3A"/>
                </a:solidFill>
                <a:latin typeface="Arimo Bold" pitchFamily="34" charset="0"/>
                <a:ea typeface="Arimo Bold" pitchFamily="34" charset="-122"/>
                <a:cs typeface="Arimo Bold" pitchFamily="34" charset="-120"/>
              </a:rPr>
              <a:t>Sliding Window</a:t>
            </a:r>
            <a:endParaRPr lang="en-US" sz="1300" dirty="0"/>
          </a:p>
        </p:txBody>
      </p:sp>
      <p:sp>
        <p:nvSpPr>
          <p:cNvPr id="10" name="Text 8"/>
          <p:cNvSpPr/>
          <p:nvPr/>
        </p:nvSpPr>
        <p:spPr>
          <a:xfrm>
            <a:off x="2920927" y="2381250"/>
            <a:ext cx="1879553" cy="544711"/>
          </a:xfrm>
          <a:prstGeom prst="rect">
            <a:avLst/>
          </a:prstGeom>
          <a:noFill/>
          <a:ln/>
        </p:spPr>
        <p:txBody>
          <a:bodyPr wrap="square" lIns="0" tIns="0" rIns="0" bIns="0" rtlCol="0" anchor="t">
            <a:normAutofit/>
          </a:bodyPr>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Ephemeral memory bucket bounded by duration (e.g. 300 seconds).</a:t>
            </a:r>
            <a:endParaRPr lang="en-US" sz="1100" dirty="0"/>
          </a:p>
        </p:txBody>
      </p:sp>
      <p:sp>
        <p:nvSpPr>
          <p:cNvPr id="11" name="Text 9"/>
          <p:cNvSpPr/>
          <p:nvPr/>
        </p:nvSpPr>
        <p:spPr>
          <a:xfrm>
            <a:off x="5156071" y="1564084"/>
            <a:ext cx="1879553" cy="426641"/>
          </a:xfrm>
          <a:prstGeom prst="rect">
            <a:avLst/>
          </a:prstGeom>
          <a:noFill/>
          <a:ln/>
        </p:spPr>
        <p:txBody>
          <a:bodyPr wrap="none" lIns="0" tIns="0" rIns="0" bIns="0" rtlCol="0" anchor="t"/>
          <a:lstStyle/>
          <a:p>
            <a:pPr algn="l" indent="0" marL="0">
              <a:lnSpc>
                <a:spcPct val="87000"/>
              </a:lnSpc>
              <a:buNone/>
            </a:pPr>
            <a:r>
              <a:rPr lang="en-US" sz="3200" b="1" spc="-32" kern="100" dirty="0">
                <a:solidFill>
                  <a:srgbClr val="0B1F3A"/>
                </a:solidFill>
                <a:latin typeface="Arimo Bold" pitchFamily="34" charset="0"/>
                <a:ea typeface="Arimo Bold" pitchFamily="34" charset="-122"/>
                <a:cs typeface="Arimo Bold" pitchFamily="34" charset="-120"/>
              </a:rPr>
              <a:t>03</a:t>
            </a:r>
            <a:endParaRPr lang="en-US" sz="3200" dirty="0"/>
          </a:p>
        </p:txBody>
      </p:sp>
      <p:sp>
        <p:nvSpPr>
          <p:cNvPr id="12" name="Text 10"/>
          <p:cNvSpPr/>
          <p:nvPr/>
        </p:nvSpPr>
        <p:spPr>
          <a:xfrm>
            <a:off x="5156071" y="2073275"/>
            <a:ext cx="1879553" cy="206375"/>
          </a:xfrm>
          <a:prstGeom prst="rect">
            <a:avLst/>
          </a:prstGeom>
          <a:noFill/>
          <a:ln/>
        </p:spPr>
        <p:txBody>
          <a:bodyPr wrap="none" lIns="0" tIns="0" rIns="0" bIns="0" rtlCol="0" anchor="t"/>
          <a:lstStyle/>
          <a:p>
            <a:pPr algn="l" indent="0" marL="0">
              <a:lnSpc>
                <a:spcPct val="104000"/>
              </a:lnSpc>
              <a:buNone/>
            </a:pPr>
            <a:r>
              <a:rPr lang="en-US" sz="1300" b="1" dirty="0">
                <a:solidFill>
                  <a:srgbClr val="0B1F3A"/>
                </a:solidFill>
                <a:latin typeface="Arimo Bold" pitchFamily="34" charset="0"/>
                <a:ea typeface="Arimo Bold" pitchFamily="34" charset="-122"/>
                <a:cs typeface="Arimo Bold" pitchFamily="34" charset="-120"/>
              </a:rPr>
              <a:t>Correlation Key</a:t>
            </a:r>
            <a:endParaRPr lang="en-US" sz="1300" dirty="0"/>
          </a:p>
        </p:txBody>
      </p:sp>
      <p:sp>
        <p:nvSpPr>
          <p:cNvPr id="13" name="Text 11"/>
          <p:cNvSpPr/>
          <p:nvPr/>
        </p:nvSpPr>
        <p:spPr>
          <a:xfrm>
            <a:off x="5156071" y="2381250"/>
            <a:ext cx="1879553" cy="375841"/>
          </a:xfrm>
          <a:prstGeom prst="rect">
            <a:avLst/>
          </a:prstGeom>
          <a:noFill/>
          <a:ln/>
        </p:spPr>
        <p:txBody>
          <a:bodyPr wrap="square" lIns="0" tIns="0" rIns="0" bIns="0" rtlCol="0" anchor="t">
            <a:normAutofit/>
          </a:bodyPr>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Indexed by composite keys: </a:t>
            </a:r>
            <a:pPr algn="l" indent="0" marL="0">
              <a:lnSpc>
                <a:spcPct val="108000"/>
              </a:lnSpc>
              <a:buNone/>
            </a:pPr>
            <a:r>
              <a:rPr lang="en-US" sz="1100" dirty="0">
                <a:solidFill>
                  <a:srgbClr val="2B2F36"/>
                </a:solidFill>
                <a:highlight>
                  <a:srgbClr val="F2F4F6"/>
                </a:highlight>
                <a:latin typeface="Consolas" pitchFamily="34" charset="0"/>
                <a:ea typeface="Consolas" pitchFamily="34" charset="-122"/>
                <a:cs typeface="Consolas" pitchFamily="34" charset="-120"/>
              </a:rPr>
              <a:t>(source_ip)</a:t>
            </a:r>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 or </a:t>
            </a:r>
            <a:pPr algn="l" indent="0" marL="0">
              <a:lnSpc>
                <a:spcPct val="108000"/>
              </a:lnSpc>
              <a:buNone/>
            </a:pPr>
            <a:r>
              <a:rPr lang="en-US" sz="1100" dirty="0">
                <a:solidFill>
                  <a:srgbClr val="2B2F36"/>
                </a:solidFill>
                <a:highlight>
                  <a:srgbClr val="F2F4F6"/>
                </a:highlight>
                <a:latin typeface="Consolas" pitchFamily="34" charset="0"/>
                <a:ea typeface="Consolas" pitchFamily="34" charset="-122"/>
                <a:cs typeface="Consolas" pitchFamily="34" charset="-120"/>
              </a:rPr>
              <a:t>(ip, user)</a:t>
            </a:r>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a:t>
            </a:r>
            <a:endParaRPr lang="en-US" sz="1100" dirty="0"/>
          </a:p>
        </p:txBody>
      </p:sp>
      <p:sp>
        <p:nvSpPr>
          <p:cNvPr id="14" name="Text 12"/>
          <p:cNvSpPr/>
          <p:nvPr/>
        </p:nvSpPr>
        <p:spPr>
          <a:xfrm>
            <a:off x="7391215" y="1564084"/>
            <a:ext cx="1879553" cy="426641"/>
          </a:xfrm>
          <a:prstGeom prst="rect">
            <a:avLst/>
          </a:prstGeom>
          <a:noFill/>
          <a:ln/>
        </p:spPr>
        <p:txBody>
          <a:bodyPr wrap="none" lIns="0" tIns="0" rIns="0" bIns="0" rtlCol="0" anchor="t"/>
          <a:lstStyle/>
          <a:p>
            <a:pPr algn="l" indent="0" marL="0">
              <a:lnSpc>
                <a:spcPct val="87000"/>
              </a:lnSpc>
              <a:buNone/>
            </a:pPr>
            <a:r>
              <a:rPr lang="en-US" sz="3200" b="1" spc="-32" kern="100" dirty="0">
                <a:solidFill>
                  <a:srgbClr val="0B1F3A"/>
                </a:solidFill>
                <a:latin typeface="Arimo Bold" pitchFamily="34" charset="0"/>
                <a:ea typeface="Arimo Bold" pitchFamily="34" charset="-122"/>
                <a:cs typeface="Arimo Bold" pitchFamily="34" charset="-120"/>
              </a:rPr>
              <a:t>04</a:t>
            </a:r>
            <a:endParaRPr lang="en-US" sz="3200" dirty="0"/>
          </a:p>
        </p:txBody>
      </p:sp>
      <p:sp>
        <p:nvSpPr>
          <p:cNvPr id="15" name="Text 13"/>
          <p:cNvSpPr/>
          <p:nvPr/>
        </p:nvSpPr>
        <p:spPr>
          <a:xfrm>
            <a:off x="7391215" y="2073275"/>
            <a:ext cx="1879553" cy="206375"/>
          </a:xfrm>
          <a:prstGeom prst="rect">
            <a:avLst/>
          </a:prstGeom>
          <a:noFill/>
          <a:ln/>
        </p:spPr>
        <p:txBody>
          <a:bodyPr wrap="none" lIns="0" tIns="0" rIns="0" bIns="0" rtlCol="0" anchor="t"/>
          <a:lstStyle/>
          <a:p>
            <a:pPr algn="l" indent="0" marL="0">
              <a:lnSpc>
                <a:spcPct val="104000"/>
              </a:lnSpc>
              <a:buNone/>
            </a:pPr>
            <a:r>
              <a:rPr lang="en-US" sz="1300" b="1" dirty="0">
                <a:solidFill>
                  <a:srgbClr val="0B1F3A"/>
                </a:solidFill>
                <a:latin typeface="Arimo Bold" pitchFamily="34" charset="0"/>
                <a:ea typeface="Arimo Bold" pitchFamily="34" charset="-122"/>
                <a:cs typeface="Arimo Bold" pitchFamily="34" charset="-120"/>
              </a:rPr>
              <a:t>Rule Evaluator</a:t>
            </a:r>
            <a:endParaRPr lang="en-US" sz="1300" dirty="0"/>
          </a:p>
        </p:txBody>
      </p:sp>
      <p:sp>
        <p:nvSpPr>
          <p:cNvPr id="16" name="Text 14"/>
          <p:cNvSpPr/>
          <p:nvPr/>
        </p:nvSpPr>
        <p:spPr>
          <a:xfrm>
            <a:off x="7391215" y="2381250"/>
            <a:ext cx="1879553" cy="544711"/>
          </a:xfrm>
          <a:prstGeom prst="rect">
            <a:avLst/>
          </a:prstGeom>
          <a:noFill/>
          <a:ln/>
        </p:spPr>
        <p:txBody>
          <a:bodyPr wrap="square" lIns="0" tIns="0" rIns="0" bIns="0" rtlCol="0" anchor="t">
            <a:normAutofit/>
          </a:bodyPr>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Evaluates stateful thresholds, set cardinality, and sequence order.</a:t>
            </a:r>
            <a:endParaRPr lang="en-US" sz="1100" dirty="0"/>
          </a:p>
        </p:txBody>
      </p:sp>
      <p:sp>
        <p:nvSpPr>
          <p:cNvPr id="17" name="Text 15"/>
          <p:cNvSpPr/>
          <p:nvPr/>
        </p:nvSpPr>
        <p:spPr>
          <a:xfrm>
            <a:off x="9626359" y="1564084"/>
            <a:ext cx="1879553" cy="426641"/>
          </a:xfrm>
          <a:prstGeom prst="rect">
            <a:avLst/>
          </a:prstGeom>
          <a:noFill/>
          <a:ln/>
        </p:spPr>
        <p:txBody>
          <a:bodyPr wrap="none" lIns="0" tIns="0" rIns="0" bIns="0" rtlCol="0" anchor="t"/>
          <a:lstStyle/>
          <a:p>
            <a:pPr algn="l" indent="0" marL="0">
              <a:lnSpc>
                <a:spcPct val="87000"/>
              </a:lnSpc>
              <a:buNone/>
            </a:pPr>
            <a:r>
              <a:rPr lang="en-US" sz="3200" b="1" spc="-32" kern="100" dirty="0">
                <a:solidFill>
                  <a:srgbClr val="0B1F3A"/>
                </a:solidFill>
                <a:latin typeface="Arimo Bold" pitchFamily="34" charset="0"/>
                <a:ea typeface="Arimo Bold" pitchFamily="34" charset="-122"/>
                <a:cs typeface="Arimo Bold" pitchFamily="34" charset="-120"/>
              </a:rPr>
              <a:t>05</a:t>
            </a:r>
            <a:endParaRPr lang="en-US" sz="3200" dirty="0"/>
          </a:p>
        </p:txBody>
      </p:sp>
      <p:sp>
        <p:nvSpPr>
          <p:cNvPr id="18" name="Text 16"/>
          <p:cNvSpPr/>
          <p:nvPr/>
        </p:nvSpPr>
        <p:spPr>
          <a:xfrm>
            <a:off x="9626359" y="2073275"/>
            <a:ext cx="1879553" cy="206375"/>
          </a:xfrm>
          <a:prstGeom prst="rect">
            <a:avLst/>
          </a:prstGeom>
          <a:noFill/>
          <a:ln/>
        </p:spPr>
        <p:txBody>
          <a:bodyPr wrap="none" lIns="0" tIns="0" rIns="0" bIns="0" rtlCol="0" anchor="t"/>
          <a:lstStyle/>
          <a:p>
            <a:pPr algn="l" indent="0" marL="0">
              <a:lnSpc>
                <a:spcPct val="104000"/>
              </a:lnSpc>
              <a:buNone/>
            </a:pPr>
            <a:r>
              <a:rPr lang="en-US" sz="1300" b="1" dirty="0">
                <a:solidFill>
                  <a:srgbClr val="0B1F3A"/>
                </a:solidFill>
                <a:latin typeface="Arimo Bold" pitchFamily="34" charset="0"/>
                <a:ea typeface="Arimo Bold" pitchFamily="34" charset="-122"/>
                <a:cs typeface="Arimo Bold" pitchFamily="34" charset="-120"/>
              </a:rPr>
              <a:t>Security Alert</a:t>
            </a:r>
            <a:endParaRPr lang="en-US" sz="1300" dirty="0"/>
          </a:p>
        </p:txBody>
      </p:sp>
      <p:sp>
        <p:nvSpPr>
          <p:cNvPr id="19" name="Text 17"/>
          <p:cNvSpPr/>
          <p:nvPr/>
        </p:nvSpPr>
        <p:spPr>
          <a:xfrm>
            <a:off x="9626359" y="2381250"/>
            <a:ext cx="1879553" cy="544711"/>
          </a:xfrm>
          <a:prstGeom prst="rect">
            <a:avLst/>
          </a:prstGeom>
          <a:noFill/>
          <a:ln/>
        </p:spPr>
        <p:txBody>
          <a:bodyPr wrap="square" lIns="0" tIns="0" rIns="0" bIns="0" rtlCol="0" anchor="t">
            <a:normAutofit/>
          </a:bodyPr>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Emits structured finding with aggregated context and severity.</a:t>
            </a:r>
            <a:endParaRPr lang="en-US" sz="1100" dirty="0"/>
          </a:p>
        </p:txBody>
      </p:sp>
      <p:sp>
        <p:nvSpPr>
          <p:cNvPr id="20" name="Shape 18"/>
          <p:cNvSpPr/>
          <p:nvPr/>
        </p:nvSpPr>
        <p:spPr>
          <a:xfrm>
            <a:off x="507987" y="3205361"/>
            <a:ext cx="5511662" cy="1309291"/>
          </a:xfrm>
          <a:prstGeom prst="rect">
            <a:avLst/>
          </a:prstGeom>
          <a:noFill/>
          <a:ln w="6350">
            <a:solidFill>
              <a:srgbClr val="D5DAE0"/>
            </a:solidFill>
            <a:prstDash val="solid"/>
          </a:ln>
          <a:effectLst>
            <a:outerShdw sx="100000" sy="100000" kx="0" ky="0" algn="bl" rotWithShape="0" blurRad="30480" dist="11430" dir="5400000">
              <a:srgbClr val="0b1f3a">
                <a:alpha val="1000"/>
              </a:srgbClr>
            </a:outerShdw>
          </a:effectLst>
        </p:spPr>
        <p:txBody>
          <a:bodyPr/>
          <a:p/>
        </p:txBody>
      </p:sp>
      <p:sp>
        <p:nvSpPr>
          <p:cNvPr id="21" name="Text 19"/>
          <p:cNvSpPr/>
          <p:nvPr/>
        </p:nvSpPr>
        <p:spPr>
          <a:xfrm>
            <a:off x="742931" y="3389511"/>
            <a:ext cx="5276718"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TRADITIONAL LOG GREP (STATELESS)</a:t>
            </a:r>
            <a:endParaRPr lang="en-US" sz="950" dirty="0"/>
          </a:p>
        </p:txBody>
      </p:sp>
      <p:sp>
        <p:nvSpPr>
          <p:cNvPr id="22" name="Text 20"/>
          <p:cNvSpPr/>
          <p:nvPr/>
        </p:nvSpPr>
        <p:spPr>
          <a:xfrm>
            <a:off x="742931" y="3616821"/>
            <a:ext cx="5041774" cy="713680"/>
          </a:xfrm>
          <a:prstGeom prst="rect">
            <a:avLst/>
          </a:prstGeom>
          <a:noFill/>
          <a:ln/>
        </p:spPr>
        <p:txBody>
          <a:bodyPr wrap="square" lIns="0" tIns="0" rIns="0" bIns="0" rtlCol="0" anchor="t">
            <a:normAutofit/>
          </a:bodyPr>
          <a:lstStyle/>
          <a:p>
            <a:pPr algn="l" marL="264160" indent="-264160">
              <a:lnSpc>
                <a:spcPct val="108000"/>
              </a:lnSpc>
              <a:buSzPct val="100000"/>
              <a:buChar char="•"/>
            </a:pPr>
            <a:r>
              <a:rPr lang="en-US" sz="1300" dirty="0">
                <a:solidFill>
                  <a:srgbClr val="2B2F36"/>
                </a:solidFill>
                <a:latin typeface="Arimo" pitchFamily="34" charset="0"/>
                <a:ea typeface="Arimo" pitchFamily="34" charset="-122"/>
                <a:cs typeface="Arimo" pitchFamily="34" charset="-120"/>
              </a:rPr>
              <a:t>Fires on every failed login event.</a:t>
            </a:r>
            <a:endParaRPr lang="en-US" sz="1300" dirty="0"/>
          </a:p>
          <a:p>
            <a:pPr algn="l" marL="264160" indent="-264160">
              <a:lnSpc>
                <a:spcPct val="108000"/>
              </a:lnSpc>
              <a:buSzPct val="100000"/>
              <a:buChar char="•"/>
            </a:pPr>
            <a:r>
              <a:rPr lang="en-US" sz="1300" dirty="0">
                <a:solidFill>
                  <a:srgbClr val="2B2F36"/>
                </a:solidFill>
                <a:latin typeface="Arimo" pitchFamily="34" charset="0"/>
                <a:ea typeface="Arimo" pitchFamily="34" charset="-122"/>
                <a:cs typeface="Arimo" pitchFamily="34" charset="-120"/>
              </a:rPr>
              <a:t>Drowns analysts in routine mistyped password noise.</a:t>
            </a:r>
            <a:endParaRPr lang="en-US" sz="1300" dirty="0"/>
          </a:p>
          <a:p>
            <a:pPr algn="l" marL="264160" indent="-264160">
              <a:lnSpc>
                <a:spcPct val="108000"/>
              </a:lnSpc>
              <a:buSzPct val="100000"/>
              <a:buChar char="•"/>
            </a:pPr>
            <a:r>
              <a:rPr lang="en-US" sz="1300" dirty="0">
                <a:solidFill>
                  <a:srgbClr val="2B2F36"/>
                </a:solidFill>
                <a:latin typeface="Arimo" pitchFamily="34" charset="0"/>
                <a:ea typeface="Arimo" pitchFamily="34" charset="-122"/>
                <a:cs typeface="Arimo" pitchFamily="34" charset="-120"/>
              </a:rPr>
              <a:t>Blind to distributed timing and multi-user spraying.</a:t>
            </a:r>
            <a:endParaRPr lang="en-US" sz="1300" dirty="0"/>
          </a:p>
        </p:txBody>
      </p:sp>
      <p:sp>
        <p:nvSpPr>
          <p:cNvPr id="23" name="Shape 21"/>
          <p:cNvSpPr/>
          <p:nvPr/>
        </p:nvSpPr>
        <p:spPr>
          <a:xfrm>
            <a:off x="6172046" y="3205361"/>
            <a:ext cx="5511662" cy="1309291"/>
          </a:xfrm>
          <a:prstGeom prst="rect">
            <a:avLst/>
          </a:prstGeom>
          <a:solidFill>
            <a:srgbClr val="F2F4F6"/>
          </a:solidFill>
          <a:ln/>
        </p:spPr>
        <p:txBody>
          <a:bodyPr/>
          <a:p/>
        </p:txBody>
      </p:sp>
      <p:sp>
        <p:nvSpPr>
          <p:cNvPr id="24" name="Shape 22"/>
          <p:cNvSpPr/>
          <p:nvPr/>
        </p:nvSpPr>
        <p:spPr>
          <a:xfrm>
            <a:off x="6172046" y="3205361"/>
            <a:ext cx="38099" cy="1309291"/>
          </a:xfrm>
          <a:prstGeom prst="rect">
            <a:avLst/>
          </a:prstGeom>
          <a:solidFill>
            <a:srgbClr val="C0102F"/>
          </a:solidFill>
          <a:ln/>
        </p:spPr>
        <p:txBody>
          <a:bodyPr/>
          <a:p/>
        </p:txBody>
      </p:sp>
      <p:sp>
        <p:nvSpPr>
          <p:cNvPr id="25" name="Text 23"/>
          <p:cNvSpPr/>
          <p:nvPr/>
        </p:nvSpPr>
        <p:spPr>
          <a:xfrm>
            <a:off x="6438739" y="3383161"/>
            <a:ext cx="5244969"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2B2F36"/>
                </a:solidFill>
                <a:latin typeface="Arimo Bold" pitchFamily="34" charset="0"/>
                <a:ea typeface="Arimo Bold" pitchFamily="34" charset="-122"/>
                <a:cs typeface="Arimo Bold" pitchFamily="34" charset="-120"/>
              </a:rPr>
              <a:t>SENTINELLOG CORRELATION (STATEFUL)</a:t>
            </a:r>
            <a:endParaRPr lang="en-US" sz="950" dirty="0"/>
          </a:p>
        </p:txBody>
      </p:sp>
      <p:sp>
        <p:nvSpPr>
          <p:cNvPr id="26" name="Text 24"/>
          <p:cNvSpPr/>
          <p:nvPr/>
        </p:nvSpPr>
        <p:spPr>
          <a:xfrm>
            <a:off x="6438739" y="3578721"/>
            <a:ext cx="5016375" cy="713680"/>
          </a:xfrm>
          <a:prstGeom prst="rect">
            <a:avLst/>
          </a:prstGeom>
          <a:noFill/>
          <a:ln/>
        </p:spPr>
        <p:txBody>
          <a:bodyPr wrap="square" lIns="0" tIns="0" rIns="0" bIns="0" rtlCol="0" anchor="t">
            <a:normAutofit/>
          </a:bodyPr>
          <a:lstStyle/>
          <a:p>
            <a:pPr algn="l" marL="264160" indent="-264160">
              <a:lnSpc>
                <a:spcPct val="108000"/>
              </a:lnSpc>
              <a:buSzPct val="100000"/>
              <a:buChar char="•"/>
            </a:pPr>
            <a:r>
              <a:rPr lang="en-US" sz="1300" dirty="0">
                <a:solidFill>
                  <a:srgbClr val="2B2F36"/>
                </a:solidFill>
                <a:latin typeface="Arimo" pitchFamily="34" charset="0"/>
                <a:ea typeface="Arimo" pitchFamily="34" charset="-122"/>
                <a:cs typeface="Arimo" pitchFamily="34" charset="-120"/>
              </a:rPr>
              <a:t>Maintains time-series state per source and target entity.</a:t>
            </a:r>
            <a:endParaRPr lang="en-US" sz="1300" dirty="0"/>
          </a:p>
          <a:p>
            <a:pPr algn="l" marL="264160" indent="-264160">
              <a:lnSpc>
                <a:spcPct val="108000"/>
              </a:lnSpc>
              <a:buSzPct val="100000"/>
              <a:buChar char="•"/>
            </a:pPr>
            <a:r>
              <a:rPr lang="en-US" sz="1300" dirty="0">
                <a:solidFill>
                  <a:srgbClr val="2B2F36"/>
                </a:solidFill>
                <a:latin typeface="Arimo" pitchFamily="34" charset="0"/>
                <a:ea typeface="Arimo" pitchFamily="34" charset="-122"/>
                <a:cs typeface="Arimo" pitchFamily="34" charset="-120"/>
              </a:rPr>
              <a:t>Suppresses isolated drops; alerts on concerted volume.</a:t>
            </a:r>
            <a:endParaRPr lang="en-US" sz="1300" dirty="0"/>
          </a:p>
          <a:p>
            <a:pPr algn="l" marL="264160" indent="-264160">
              <a:lnSpc>
                <a:spcPct val="108000"/>
              </a:lnSpc>
              <a:buSzPct val="100000"/>
              <a:buChar char="•"/>
            </a:pPr>
            <a:r>
              <a:rPr lang="en-US" sz="1300" dirty="0">
                <a:solidFill>
                  <a:srgbClr val="2B2F36"/>
                </a:solidFill>
                <a:latin typeface="Arimo" pitchFamily="34" charset="0"/>
                <a:ea typeface="Arimo" pitchFamily="34" charset="-122"/>
                <a:cs typeface="Arimo" pitchFamily="34" charset="-120"/>
              </a:rPr>
              <a:t>Discovers compound behaviors across multiple accounts.</a:t>
            </a:r>
            <a:endParaRPr lang="en-US" sz="1300" dirty="0"/>
          </a:p>
        </p:txBody>
      </p:sp>
      <p:sp>
        <p:nvSpPr>
          <p:cNvPr id="27" name="Text 25"/>
          <p:cNvSpPr/>
          <p:nvPr/>
        </p:nvSpPr>
        <p:spPr>
          <a:xfrm>
            <a:off x="507987" y="6430665"/>
            <a:ext cx="11683708" cy="173335"/>
          </a:xfrm>
          <a:prstGeom prst="rect">
            <a:avLst/>
          </a:prstGeom>
          <a:noFill/>
          <a:ln/>
        </p:spPr>
        <p:txBody>
          <a:bodyPr wrap="none" lIns="0" tIns="0" rIns="0" bIns="0" rtlCol="0" anchor="t"/>
          <a:lstStyle/>
          <a:p>
            <a:pPr algn="l" indent="0" marL="0">
              <a:lnSpc>
                <a:spcPct val="108000"/>
              </a:lnSpc>
              <a:buNone/>
            </a:pPr>
            <a:r>
              <a:rPr lang="en-US" sz="1050" dirty="0">
                <a:solidFill>
                  <a:srgbClr val="5B6573"/>
                </a:solidFill>
                <a:latin typeface="Arimo" pitchFamily="34" charset="0"/>
                <a:ea typeface="Arimo" pitchFamily="34" charset="-122"/>
                <a:cs typeface="Arimo" pitchFamily="34" charset="-120"/>
              </a:rPr>
              <a:t>Detection Paradigm: Stateful sliding-window correlation vs single-line alerting.</a:t>
            </a:r>
            <a:endParaRPr lang="en-US" sz="1050" dirty="0"/>
          </a:p>
        </p:txBody>
      </p:sp>
      <p:sp>
        <p:nvSpPr>
          <p:cNvPr id="28" name="Shape 26"/>
          <p:cNvSpPr/>
          <p:nvPr/>
        </p:nvSpPr>
        <p:spPr>
          <a:xfrm>
            <a:off x="2736782" y="1411684"/>
            <a:ext cx="12700" cy="1666677"/>
          </a:xfrm>
          <a:prstGeom prst="rect">
            <a:avLst/>
          </a:prstGeom>
          <a:solidFill>
            <a:srgbClr val="D5DAE0"/>
          </a:solidFill>
          <a:ln/>
        </p:spPr>
        <p:txBody>
          <a:bodyPr/>
          <a:p/>
        </p:txBody>
      </p:sp>
      <p:sp>
        <p:nvSpPr>
          <p:cNvPr id="29" name="Shape 27"/>
          <p:cNvSpPr/>
          <p:nvPr/>
        </p:nvSpPr>
        <p:spPr>
          <a:xfrm>
            <a:off x="4971926" y="1411684"/>
            <a:ext cx="12700" cy="1666677"/>
          </a:xfrm>
          <a:prstGeom prst="rect">
            <a:avLst/>
          </a:prstGeom>
          <a:solidFill>
            <a:srgbClr val="D5DAE0"/>
          </a:solidFill>
          <a:ln/>
        </p:spPr>
        <p:txBody>
          <a:bodyPr/>
          <a:p/>
        </p:txBody>
      </p:sp>
      <p:sp>
        <p:nvSpPr>
          <p:cNvPr id="30" name="Shape 28"/>
          <p:cNvSpPr/>
          <p:nvPr/>
        </p:nvSpPr>
        <p:spPr>
          <a:xfrm>
            <a:off x="7207070" y="1411684"/>
            <a:ext cx="12700" cy="1666677"/>
          </a:xfrm>
          <a:prstGeom prst="rect">
            <a:avLst/>
          </a:prstGeom>
          <a:solidFill>
            <a:srgbClr val="D5DAE0"/>
          </a:solidFill>
          <a:ln/>
        </p:spPr>
        <p:txBody>
          <a:bodyPr/>
          <a:p/>
        </p:txBody>
      </p:sp>
      <p:sp>
        <p:nvSpPr>
          <p:cNvPr id="31" name="Shape 29"/>
          <p:cNvSpPr/>
          <p:nvPr/>
        </p:nvSpPr>
        <p:spPr>
          <a:xfrm>
            <a:off x="9442214" y="1411684"/>
            <a:ext cx="12700" cy="1666677"/>
          </a:xfrm>
          <a:prstGeom prst="rect">
            <a:avLst/>
          </a:prstGeom>
          <a:solidFill>
            <a:srgbClr val="D5DAE0"/>
          </a:solidFill>
          <a:ln/>
        </p:spPr>
        <p:txBody>
          <a:bodyPr/>
          <a:p/>
        </p:txBody>
      </p:sp>
      <p:sp>
        <p:nvSpPr>
          <p:cNvPr id="32" name="Text 30"/>
          <p:cNvSpPr/>
          <p:nvPr/>
        </p:nvSpPr>
        <p:spPr>
          <a:xfrm>
            <a:off x="507987" y="6555085"/>
            <a:ext cx="1213415" cy="148530"/>
          </a:xfrm>
          <a:prstGeom prst="rect">
            <a:avLst/>
          </a:prstGeom>
          <a:noFill/>
          <a:ln/>
        </p:spPr>
        <p:txBody>
          <a:bodyPr wrap="none" lIns="0" tIns="0" rIns="0" bIns="0" rtlCol="0" anchor="ctr"/>
          <a:lstStyle/>
          <a:p>
            <a:pPr algn="l" indent="0" marL="0">
              <a:lnSpc>
                <a:spcPct val="108000"/>
              </a:lnSpc>
              <a:buNone/>
            </a:pPr>
            <a:r>
              <a:rPr lang="en-US" sz="900" dirty="0">
                <a:solidFill>
                  <a:srgbClr val="2B2F36"/>
                </a:solidFill>
                <a:latin typeface="Arimo" pitchFamily="34" charset="0"/>
                <a:ea typeface="Arimo" pitchFamily="34" charset="-122"/>
                <a:cs typeface="Arimo" pitchFamily="34" charset="-120"/>
              </a:rPr>
              <a:t>SentinelLog</a:t>
            </a:r>
            <a:endParaRPr lang="en-US" sz="900" dirty="0"/>
          </a:p>
        </p:txBody>
      </p:sp>
      <p:sp>
        <p:nvSpPr>
          <p:cNvPr id="33" name="Text 31"/>
          <p:cNvSpPr/>
          <p:nvPr/>
        </p:nvSpPr>
        <p:spPr>
          <a:xfrm>
            <a:off x="11620209" y="6555085"/>
            <a:ext cx="571486" cy="148530"/>
          </a:xfrm>
          <a:prstGeom prst="rect">
            <a:avLst/>
          </a:prstGeom>
          <a:noFill/>
          <a:ln/>
        </p:spPr>
        <p:txBody>
          <a:bodyPr wrap="none" lIns="0" tIns="0" rIns="0" bIns="0" rtlCol="0" anchor="ctr"/>
          <a:lstStyle/>
          <a:p>
            <a:pPr algn="l" indent="0" marL="0">
              <a:lnSpc>
                <a:spcPct val="108000"/>
              </a:lnSpc>
              <a:buNone/>
            </a:pPr>
            <a:r>
              <a:rPr lang="en-US" sz="900" dirty="0">
                <a:solidFill>
                  <a:srgbClr val="2B2F36"/>
                </a:solidFill>
                <a:latin typeface="Arimo" pitchFamily="34" charset="0"/>
                <a:ea typeface="Arimo" pitchFamily="34" charset="-122"/>
                <a:cs typeface="Arimo"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1057374"/>
            <a:ext cx="12191695" cy="6350"/>
          </a:xfrm>
          <a:prstGeom prst="rect">
            <a:avLst/>
          </a:prstGeom>
          <a:solidFill>
            <a:srgbClr val="D5DAE0"/>
          </a:solidFill>
          <a:ln/>
        </p:spPr>
        <p:txBody>
          <a:bodyPr/>
          <a:p/>
        </p:txBody>
      </p:sp>
      <p:sp>
        <p:nvSpPr>
          <p:cNvPr id="3" name="Text 1"/>
          <p:cNvSpPr/>
          <p:nvPr/>
        </p:nvSpPr>
        <p:spPr>
          <a:xfrm>
            <a:off x="507987" y="330200"/>
            <a:ext cx="11683708"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DETECTION RULE DETAIL</a:t>
            </a:r>
            <a:endParaRPr lang="en-US" sz="950" dirty="0"/>
          </a:p>
        </p:txBody>
      </p:sp>
      <p:sp>
        <p:nvSpPr>
          <p:cNvPr id="4" name="Text 2"/>
          <p:cNvSpPr/>
          <p:nvPr/>
        </p:nvSpPr>
        <p:spPr>
          <a:xfrm>
            <a:off x="507987" y="532110"/>
            <a:ext cx="11175720" cy="398264"/>
          </a:xfrm>
          <a:prstGeom prst="rect">
            <a:avLst/>
          </a:prstGeom>
          <a:noFill/>
          <a:ln/>
        </p:spPr>
        <p:txBody>
          <a:bodyPr wrap="none" lIns="0" tIns="0" rIns="0" bIns="0" rtlCol="0" anchor="t"/>
          <a:lstStyle/>
          <a:p>
            <a:pPr algn="l" indent="0" marL="0">
              <a:lnSpc>
                <a:spcPct val="93000"/>
              </a:lnSpc>
              <a:buNone/>
            </a:pPr>
            <a:r>
              <a:rPr lang="en-US" sz="2800" b="1" spc="-14" kern="100" dirty="0">
                <a:solidFill>
                  <a:srgbClr val="0B1F3A"/>
                </a:solidFill>
                <a:latin typeface="Arimo Bold" pitchFamily="34" charset="0"/>
                <a:ea typeface="Arimo Bold" pitchFamily="34" charset="-122"/>
                <a:cs typeface="Arimo Bold" pitchFamily="34" charset="-120"/>
              </a:rPr>
              <a:t>AUTH-001 · Repeated Authentication Failures</a:t>
            </a:r>
            <a:endParaRPr lang="en-US" sz="2800" dirty="0"/>
          </a:p>
        </p:txBody>
      </p:sp>
      <p:sp>
        <p:nvSpPr>
          <p:cNvPr id="5" name="Shape 3"/>
          <p:cNvSpPr/>
          <p:nvPr/>
        </p:nvSpPr>
        <p:spPr>
          <a:xfrm>
            <a:off x="507987" y="1241524"/>
            <a:ext cx="7348850" cy="3284637"/>
          </a:xfrm>
          <a:prstGeom prst="rect">
            <a:avLst/>
          </a:prstGeom>
          <a:noFill/>
          <a:ln w="6350">
            <a:solidFill>
              <a:srgbClr val="D5DAE0"/>
            </a:solidFill>
            <a:prstDash val="solid"/>
          </a:ln>
          <a:effectLst>
            <a:outerShdw sx="100000" sy="100000" kx="0" ky="0" algn="bl" rotWithShape="0" blurRad="30480" dist="11430" dir="5400000">
              <a:srgbClr val="0b1f3a">
                <a:alpha val="1000"/>
              </a:srgbClr>
            </a:outerShdw>
          </a:effectLst>
        </p:spPr>
        <p:txBody>
          <a:bodyPr/>
          <a:p/>
        </p:txBody>
      </p:sp>
      <p:sp>
        <p:nvSpPr>
          <p:cNvPr id="6" name="Text 4"/>
          <p:cNvSpPr/>
          <p:nvPr/>
        </p:nvSpPr>
        <p:spPr>
          <a:xfrm>
            <a:off x="742931" y="1451074"/>
            <a:ext cx="7113906"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RULE LOGIC SPECIFICATION</a:t>
            </a:r>
            <a:endParaRPr lang="en-US" sz="950" dirty="0"/>
          </a:p>
        </p:txBody>
      </p:sp>
      <p:sp>
        <p:nvSpPr>
          <p:cNvPr id="7" name="Text 5"/>
          <p:cNvSpPr/>
          <p:nvPr/>
        </p:nvSpPr>
        <p:spPr>
          <a:xfrm>
            <a:off x="742931" y="1652984"/>
            <a:ext cx="6878962" cy="238125"/>
          </a:xfrm>
          <a:prstGeom prst="rect">
            <a:avLst/>
          </a:prstGeom>
          <a:noFill/>
          <a:ln/>
        </p:spPr>
        <p:txBody>
          <a:bodyPr wrap="none" lIns="0" tIns="0" rIns="0" bIns="0" rtlCol="0" anchor="t"/>
          <a:lstStyle/>
          <a:p>
            <a:pPr algn="l" indent="0" marL="0">
              <a:lnSpc>
                <a:spcPct val="104000"/>
              </a:lnSpc>
              <a:buNone/>
            </a:pPr>
            <a:r>
              <a:rPr lang="en-US" sz="1500" b="1" dirty="0">
                <a:solidFill>
                  <a:srgbClr val="0B1F3A"/>
                </a:solidFill>
                <a:latin typeface="Arimo Bold" pitchFamily="34" charset="0"/>
                <a:ea typeface="Arimo Bold" pitchFamily="34" charset="-122"/>
                <a:cs typeface="Arimo Bold" pitchFamily="34" charset="-120"/>
              </a:rPr>
              <a:t>Targeted Brute-Force Detection</a:t>
            </a:r>
            <a:endParaRPr lang="en-US" sz="1500" dirty="0"/>
          </a:p>
        </p:txBody>
      </p:sp>
      <p:sp>
        <p:nvSpPr>
          <p:cNvPr id="8" name="Text 6"/>
          <p:cNvSpPr/>
          <p:nvPr/>
        </p:nvSpPr>
        <p:spPr>
          <a:xfrm>
            <a:off x="742931" y="1992709"/>
            <a:ext cx="6878962" cy="363141"/>
          </a:xfrm>
          <a:prstGeom prst="rect">
            <a:avLst/>
          </a:prstGeom>
          <a:noFill/>
          <a:ln/>
        </p:spPr>
        <p:txBody>
          <a:bodyPr wrap="square" lIns="0" tIns="0" rIns="0" bIns="0" rtlCol="0" anchor="t">
            <a:normAutofit/>
          </a:bodyPr>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Detects repeated authentication failures originating from a single source IP against a single username within a defined sliding time window.</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42931" y="2482850"/>
          <a:ext cx="6878962" cy="914400"/>
        </p:xfrm>
        <a:graphic>
          <a:graphicData uri="http://schemas.openxmlformats.org/drawingml/2006/table">
            <a:tbl>
              <a:tblPr/>
              <a:tblGrid>
                <a:gridCol w="2063599"/>
                <a:gridCol w="4815362"/>
              </a:tblGrid>
              <a:tr h="328902">
                <a:tc>
                  <a:txBody>
                    <a:bodyPr/>
                    <a:lstStyle/>
                    <a:p>
                      <a:pPr algn="l" indent="0" marL="0">
                        <a:buNone/>
                      </a:pPr>
                      <a:r>
                        <a:rPr lang="en-US" sz="1300" b="1" dirty="0">
                          <a:solidFill>
                            <a:srgbClr val="2B2F36"/>
                          </a:solidFill>
                          <a:latin typeface="Arimo" pitchFamily="34" charset="0"/>
                          <a:ea typeface="Arimo" pitchFamily="34" charset="-122"/>
                          <a:cs typeface="Arimo" pitchFamily="34" charset="-120"/>
                        </a:rPr>
                        <a:t>Rule ID</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dirty="0">
                          <a:solidFill>
                            <a:srgbClr val="2B2F36"/>
                          </a:solidFill>
                          <a:latin typeface="Consolas" pitchFamily="34" charset="0"/>
                          <a:ea typeface="Consolas" pitchFamily="34" charset="-122"/>
                          <a:cs typeface="Consolas" pitchFamily="34" charset="-120"/>
                        </a:rPr>
                        <a:t>AUTH-001</a:t>
                      </a:r>
                      <a:endParaRPr lang="en-US" sz="1300" dirty="0">
                        <a:latin typeface="Consolas" charset="0"/>
                        <a:ea typeface="Consolas" charset="0"/>
                        <a:cs typeface="Consolas"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22552">
                <a:tc>
                  <a:txBody>
                    <a:bodyPr/>
                    <a:lstStyle/>
                    <a:p>
                      <a:pPr algn="l" indent="0" marL="0">
                        <a:buNone/>
                      </a:pPr>
                      <a:r>
                        <a:rPr lang="en-US" sz="1300" b="1" dirty="0">
                          <a:solidFill>
                            <a:srgbClr val="2B2F36"/>
                          </a:solidFill>
                          <a:latin typeface="Arimo" pitchFamily="34" charset="0"/>
                          <a:ea typeface="Arimo" pitchFamily="34" charset="-122"/>
                          <a:cs typeface="Arimo" pitchFamily="34" charset="-120"/>
                        </a:rPr>
                        <a:t>Severity</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b="1" dirty="0">
                          <a:solidFill>
                            <a:srgbClr val="C0102F"/>
                          </a:solidFill>
                          <a:latin typeface="Arimo" pitchFamily="34" charset="0"/>
                          <a:ea typeface="Arimo" pitchFamily="34" charset="-122"/>
                          <a:cs typeface="Arimo" pitchFamily="34" charset="-120"/>
                        </a:rPr>
                        <a:t>Medium</a:t>
                      </a:r>
                      <a:pPr algn="l" indent="0" marL="0">
                        <a:buNone/>
                      </a:pPr>
                      <a:r>
                        <a:rPr lang="en-US" sz="1300" b="1" dirty="0">
                          <a:solidFill>
                            <a:srgbClr val="2B2F36"/>
                          </a:solidFill>
                          <a:latin typeface="Arimo" pitchFamily="34" charset="0"/>
                          <a:ea typeface="Arimo" pitchFamily="34" charset="-122"/>
                          <a:cs typeface="Arimo" pitchFamily="34" charset="-120"/>
                        </a:rPr>
                        <a:t> (Investigation Signal)</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28902">
                <a:tc>
                  <a:txBody>
                    <a:bodyPr/>
                    <a:lstStyle/>
                    <a:p>
                      <a:pPr algn="l" indent="0" marL="0">
                        <a:buNone/>
                      </a:pPr>
                      <a:r>
                        <a:rPr lang="en-US" sz="1300" b="1" dirty="0">
                          <a:solidFill>
                            <a:srgbClr val="2B2F36"/>
                          </a:solidFill>
                          <a:latin typeface="Arimo" pitchFamily="34" charset="0"/>
                          <a:ea typeface="Arimo" pitchFamily="34" charset="-122"/>
                          <a:cs typeface="Arimo" pitchFamily="34" charset="-120"/>
                        </a:rPr>
                        <a:t>Correlation Key</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dirty="0">
                          <a:solidFill>
                            <a:srgbClr val="2B2F36"/>
                          </a:solidFill>
                          <a:latin typeface="Consolas" pitchFamily="34" charset="0"/>
                          <a:ea typeface="Consolas" pitchFamily="34" charset="-122"/>
                          <a:cs typeface="Consolas" pitchFamily="34" charset="-120"/>
                        </a:rPr>
                        <a:t>(source_ip, username)</a:t>
                      </a:r>
                      <a:endParaRPr lang="en-US" sz="1300" dirty="0">
                        <a:latin typeface="Consolas" charset="0"/>
                        <a:ea typeface="Consolas" charset="0"/>
                        <a:cs typeface="Consolas"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22552">
                <a:tc>
                  <a:txBody>
                    <a:bodyPr/>
                    <a:lstStyle/>
                    <a:p>
                      <a:pPr algn="l" indent="0" marL="0">
                        <a:buNone/>
                      </a:pPr>
                      <a:r>
                        <a:rPr lang="en-US" sz="1300" b="1" dirty="0">
                          <a:solidFill>
                            <a:srgbClr val="2B2F36"/>
                          </a:solidFill>
                          <a:latin typeface="Arimo" pitchFamily="34" charset="0"/>
                          <a:ea typeface="Arimo" pitchFamily="34" charset="-122"/>
                          <a:cs typeface="Arimo" pitchFamily="34" charset="-120"/>
                        </a:rPr>
                        <a:t>Threshold</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b="1" dirty="0">
                          <a:solidFill>
                            <a:srgbClr val="2B2F36"/>
                          </a:solidFill>
                          <a:latin typeface="Arimo" pitchFamily="34" charset="0"/>
                          <a:ea typeface="Arimo" pitchFamily="34" charset="-122"/>
                          <a:cs typeface="Arimo" pitchFamily="34" charset="-120"/>
                        </a:rPr>
                        <a:t>≥ 5 failed events</a:t>
                      </a:r>
                      <a:pPr algn="l" indent="0" marL="0">
                        <a:buNone/>
                      </a:pPr>
                      <a:r>
                        <a:rPr lang="en-US" sz="1300" b="1" dirty="0">
                          <a:solidFill>
                            <a:srgbClr val="2B2F36"/>
                          </a:solidFill>
                          <a:latin typeface="Arimo" pitchFamily="34" charset="0"/>
                          <a:ea typeface="Arimo" pitchFamily="34" charset="-122"/>
                          <a:cs typeface="Arimo" pitchFamily="34" charset="-120"/>
                        </a:rPr>
                        <a:t> within </a:t>
                      </a:r>
                      <a:pPr algn="l" indent="0" marL="0">
                        <a:buNone/>
                      </a:pPr>
                      <a:r>
                        <a:rPr lang="en-US" sz="1300" b="1" dirty="0">
                          <a:solidFill>
                            <a:srgbClr val="2B2F36"/>
                          </a:solidFill>
                          <a:latin typeface="Arimo" pitchFamily="34" charset="0"/>
                          <a:ea typeface="Arimo" pitchFamily="34" charset="-122"/>
                          <a:cs typeface="Arimo" pitchFamily="34" charset="-120"/>
                        </a:rPr>
                        <a:t>300 seconds</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530807">
                <a:tc>
                  <a:txBody>
                    <a:bodyPr/>
                    <a:lstStyle/>
                    <a:p>
                      <a:pPr algn="l" indent="0" marL="0">
                        <a:buNone/>
                      </a:pPr>
                      <a:r>
                        <a:rPr lang="en-US" sz="1300" b="1" dirty="0">
                          <a:solidFill>
                            <a:srgbClr val="2B2F36"/>
                          </a:solidFill>
                          <a:latin typeface="Arimo" pitchFamily="34" charset="0"/>
                          <a:ea typeface="Arimo" pitchFamily="34" charset="-122"/>
                          <a:cs typeface="Arimo" pitchFamily="34" charset="-120"/>
                        </a:rPr>
                        <a:t>Primary Threat</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Credential brute forcing, dictionary attack, or broken automated service</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10" name="Shape 7"/>
          <p:cNvSpPr/>
          <p:nvPr/>
        </p:nvSpPr>
        <p:spPr>
          <a:xfrm>
            <a:off x="8009233" y="1241524"/>
            <a:ext cx="3674474" cy="3284637"/>
          </a:xfrm>
          <a:prstGeom prst="rect">
            <a:avLst/>
          </a:prstGeom>
          <a:solidFill>
            <a:srgbClr val="F2F4F6"/>
          </a:solidFill>
          <a:ln/>
        </p:spPr>
        <p:txBody>
          <a:bodyPr/>
          <a:p/>
        </p:txBody>
      </p:sp>
      <p:sp>
        <p:nvSpPr>
          <p:cNvPr id="11" name="Shape 8"/>
          <p:cNvSpPr/>
          <p:nvPr/>
        </p:nvSpPr>
        <p:spPr>
          <a:xfrm>
            <a:off x="8009233" y="1241524"/>
            <a:ext cx="38099" cy="3284637"/>
          </a:xfrm>
          <a:prstGeom prst="rect">
            <a:avLst/>
          </a:prstGeom>
          <a:solidFill>
            <a:srgbClr val="C0102F"/>
          </a:solidFill>
          <a:ln/>
        </p:spPr>
        <p:txBody>
          <a:bodyPr/>
          <a:p/>
        </p:txBody>
      </p:sp>
      <p:sp>
        <p:nvSpPr>
          <p:cNvPr id="12" name="Text 9"/>
          <p:cNvSpPr/>
          <p:nvPr/>
        </p:nvSpPr>
        <p:spPr>
          <a:xfrm>
            <a:off x="8275927" y="1444724"/>
            <a:ext cx="3407781"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2B2F36"/>
                </a:solidFill>
                <a:latin typeface="Arimo Bold" pitchFamily="34" charset="0"/>
                <a:ea typeface="Arimo Bold" pitchFamily="34" charset="-122"/>
                <a:cs typeface="Arimo Bold" pitchFamily="34" charset="-120"/>
              </a:rPr>
              <a:t>ANALYST TRIAGE GUIDANCE</a:t>
            </a:r>
            <a:endParaRPr lang="en-US" sz="950" dirty="0"/>
          </a:p>
        </p:txBody>
      </p:sp>
      <p:sp>
        <p:nvSpPr>
          <p:cNvPr id="13" name="Text 10"/>
          <p:cNvSpPr/>
          <p:nvPr/>
        </p:nvSpPr>
        <p:spPr>
          <a:xfrm>
            <a:off x="8275927" y="1640284"/>
            <a:ext cx="3179187" cy="2039441"/>
          </a:xfrm>
          <a:prstGeom prst="rect">
            <a:avLst/>
          </a:prstGeom>
          <a:noFill/>
          <a:ln/>
        </p:spPr>
        <p:txBody>
          <a:bodyPr wrap="square" lIns="0" tIns="0" rIns="0" bIns="0" rtlCol="0" anchor="t">
            <a:normAutofit/>
          </a:bodyPr>
          <a:lstStyle/>
          <a:p>
            <a:pPr algn="l" indent="0" marL="0">
              <a:lnSpc>
                <a:spcPct val="108000"/>
              </a:lnSpc>
              <a:spcAft>
                <a:spcPts val="350"/>
              </a:spcAft>
              <a:buNone/>
            </a:pPr>
            <a:r>
              <a:rPr lang="en-US" sz="1300" b="1" dirty="0">
                <a:solidFill>
                  <a:srgbClr val="2B2F36"/>
                </a:solidFill>
                <a:latin typeface="Arimo Bold" pitchFamily="34" charset="0"/>
                <a:ea typeface="Arimo Bold" pitchFamily="34" charset="-122"/>
                <a:cs typeface="Arimo Bold" pitchFamily="34" charset="-120"/>
              </a:rPr>
              <a:t>1. Verify IP ownership:</a:t>
            </a:r>
            <a:pPr algn="l" indent="0" marL="0">
              <a:lnSpc>
                <a:spcPct val="108000"/>
              </a:lnSpc>
              <a:spcAft>
                <a:spcPts val="350"/>
              </a:spcAft>
              <a:buNone/>
            </a:pPr>
            <a:r>
              <a:rPr lang="en-US" sz="1300" dirty="0">
                <a:solidFill>
                  <a:srgbClr val="2B2F36"/>
                </a:solidFill>
                <a:latin typeface="Arimo" pitchFamily="34" charset="0"/>
                <a:ea typeface="Arimo" pitchFamily="34" charset="-122"/>
                <a:cs typeface="Arimo" pitchFamily="34" charset="-120"/>
              </a:rPr>
              <a:t> Check if </a:t>
            </a:r>
            <a:pPr algn="l" indent="0" marL="0">
              <a:lnSpc>
                <a:spcPct val="108000"/>
              </a:lnSpc>
              <a:spcAft>
                <a:spcPts val="350"/>
              </a:spcAft>
              <a:buNone/>
            </a:pPr>
            <a:r>
              <a:rPr lang="en-US" sz="1300" dirty="0">
                <a:solidFill>
                  <a:srgbClr val="2B2F36"/>
                </a:solidFill>
                <a:highlight>
                  <a:srgbClr val="F2F4F6"/>
                </a:highlight>
                <a:latin typeface="Consolas" pitchFamily="34" charset="0"/>
                <a:ea typeface="Consolas" pitchFamily="34" charset="-122"/>
                <a:cs typeface="Consolas" pitchFamily="34" charset="-120"/>
              </a:rPr>
              <a:t>192.0.2.10</a:t>
            </a:r>
            <a:pPr algn="l" indent="0" marL="0">
              <a:lnSpc>
                <a:spcPct val="108000"/>
              </a:lnSpc>
              <a:spcAft>
                <a:spcPts val="350"/>
              </a:spcAft>
              <a:buNone/>
            </a:pPr>
            <a:r>
              <a:rPr lang="en-US" sz="1300" dirty="0">
                <a:solidFill>
                  <a:srgbClr val="2B2F36"/>
                </a:solidFill>
                <a:latin typeface="Arimo" pitchFamily="34" charset="0"/>
                <a:ea typeface="Arimo" pitchFamily="34" charset="-122"/>
                <a:cs typeface="Arimo" pitchFamily="34" charset="-120"/>
              </a:rPr>
              <a:t> belongs to internal VPN, proxy, or unknown external host.</a:t>
            </a:r>
            <a:endParaRPr lang="en-US" sz="1300" dirty="0"/>
          </a:p>
          <a:p>
            <a:pPr algn="l" indent="0" marL="0">
              <a:lnSpc>
                <a:spcPct val="108000"/>
              </a:lnSpc>
              <a:spcAft>
                <a:spcPts val="350"/>
              </a:spcAft>
              <a:buNone/>
            </a:pPr>
            <a:r>
              <a:rPr lang="en-US" sz="1300" b="1" dirty="0">
                <a:solidFill>
                  <a:srgbClr val="2B2F36"/>
                </a:solidFill>
                <a:latin typeface="Arimo Bold" pitchFamily="34" charset="0"/>
                <a:ea typeface="Arimo Bold" pitchFamily="34" charset="-122"/>
                <a:cs typeface="Arimo Bold" pitchFamily="34" charset="-120"/>
              </a:rPr>
              <a:t>2. Account criticality:</a:t>
            </a:r>
            <a:pPr algn="l" indent="0" marL="0">
              <a:lnSpc>
                <a:spcPct val="108000"/>
              </a:lnSpc>
              <a:spcAft>
                <a:spcPts val="350"/>
              </a:spcAft>
              <a:buNone/>
            </a:pPr>
            <a:r>
              <a:rPr lang="en-US" sz="1300" dirty="0">
                <a:solidFill>
                  <a:srgbClr val="2B2F36"/>
                </a:solidFill>
                <a:latin typeface="Arimo" pitchFamily="34" charset="0"/>
                <a:ea typeface="Arimo" pitchFamily="34" charset="-122"/>
                <a:cs typeface="Arimo" pitchFamily="34" charset="-120"/>
              </a:rPr>
              <a:t> Assess whether target user holds administrative or privileged tier access.</a:t>
            </a:r>
            <a:endParaRPr lang="en-US" sz="1300" dirty="0"/>
          </a:p>
          <a:p>
            <a:pPr algn="l" indent="0" marL="0">
              <a:lnSpc>
                <a:spcPct val="108000"/>
              </a:lnSpc>
              <a:buNone/>
            </a:pPr>
            <a:r>
              <a:rPr lang="en-US" sz="1300" b="1" dirty="0">
                <a:solidFill>
                  <a:srgbClr val="2B2F36"/>
                </a:solidFill>
                <a:latin typeface="Arimo Bold" pitchFamily="34" charset="0"/>
                <a:ea typeface="Arimo Bold" pitchFamily="34" charset="-122"/>
                <a:cs typeface="Arimo Bold" pitchFamily="34" charset="-120"/>
              </a:rPr>
              <a:t>3. Concurrency check:</a:t>
            </a:r>
            <a:pPr algn="l" indent="0" marL="0">
              <a:lnSpc>
                <a:spcPct val="108000"/>
              </a:lnSpc>
              <a:buNone/>
            </a:pPr>
            <a:r>
              <a:rPr lang="en-US" sz="1300" dirty="0">
                <a:solidFill>
                  <a:srgbClr val="2B2F36"/>
                </a:solidFill>
                <a:latin typeface="Arimo" pitchFamily="34" charset="0"/>
                <a:ea typeface="Arimo" pitchFamily="34" charset="-122"/>
                <a:cs typeface="Arimo" pitchFamily="34" charset="-120"/>
              </a:rPr>
              <a:t> Inspect whether other IPs are attempting the same user in parallel.</a:t>
            </a:r>
            <a:endParaRPr lang="en-US" sz="1300" dirty="0"/>
          </a:p>
        </p:txBody>
      </p:sp>
      <p:sp>
        <p:nvSpPr>
          <p:cNvPr id="14" name="Shape 11"/>
          <p:cNvSpPr/>
          <p:nvPr/>
        </p:nvSpPr>
        <p:spPr>
          <a:xfrm>
            <a:off x="507987" y="4678561"/>
            <a:ext cx="2235144" cy="653355"/>
          </a:xfrm>
          <a:custGeom>
            <a:avLst/>
            <a:gdLst/>
            <a:ahLst/>
            <a:cxnLst/>
            <a:rect l="l" t="t" r="r" b="b"/>
            <a:pathLst>
              <a:path w="2235144" h="653355">
                <a:moveTo>
                  <a:pt x="9525" y="0"/>
                </a:moveTo>
                <a:lnTo>
                  <a:pt x="2235144" y="0"/>
                </a:lnTo>
                <a:lnTo>
                  <a:pt x="2235144" y="653355"/>
                </a:lnTo>
                <a:lnTo>
                  <a:pt x="9525" y="653355"/>
                </a:lnTo>
                <a:arcTo hR="9525" wR="9525" stAng="5400000" swAng="5400000"/>
                <a:lnTo>
                  <a:pt x="0" y="9525"/>
                </a:lnTo>
                <a:arcTo hR="9525" wR="9525" stAng="10800000" swAng="5400000"/>
                <a:close/>
              </a:path>
            </a:pathLst>
          </a:custGeom>
          <a:solidFill>
            <a:srgbClr val="F2F4F6"/>
          </a:solidFill>
          <a:ln/>
        </p:spPr>
        <p:txBody>
          <a:bodyPr/>
          <a:p/>
        </p:txBody>
      </p:sp>
      <p:sp>
        <p:nvSpPr>
          <p:cNvPr id="15" name="Text 12"/>
          <p:cNvSpPr/>
          <p:nvPr/>
        </p:nvSpPr>
        <p:spPr>
          <a:xfrm>
            <a:off x="634984" y="4780161"/>
            <a:ext cx="2108147" cy="173335"/>
          </a:xfrm>
          <a:prstGeom prst="rect">
            <a:avLst/>
          </a:prstGeom>
          <a:noFill/>
          <a:ln/>
        </p:spPr>
        <p:txBody>
          <a:bodyPr wrap="none" lIns="0" tIns="0" rIns="0" bIns="0" rtlCol="0" anchor="t"/>
          <a:lstStyle/>
          <a:p>
            <a:pPr algn="l" indent="0" marL="0">
              <a:lnSpc>
                <a:spcPct val="108000"/>
              </a:lnSpc>
              <a:buNone/>
            </a:pPr>
            <a:r>
              <a:rPr lang="en-US" sz="1050" dirty="0">
                <a:solidFill>
                  <a:srgbClr val="2B2F36"/>
                </a:solidFill>
                <a:latin typeface="Arimo" pitchFamily="34" charset="0"/>
                <a:ea typeface="Arimo" pitchFamily="34" charset="-122"/>
                <a:cs typeface="Arimo" pitchFamily="34" charset="-120"/>
              </a:rPr>
              <a:t>10:00:12 · FAIL</a:t>
            </a:r>
            <a:endParaRPr lang="en-US" sz="1050" dirty="0"/>
          </a:p>
        </p:txBody>
      </p:sp>
      <p:sp>
        <p:nvSpPr>
          <p:cNvPr id="16" name="Text 13"/>
          <p:cNvSpPr/>
          <p:nvPr/>
        </p:nvSpPr>
        <p:spPr>
          <a:xfrm>
            <a:off x="634984" y="5036046"/>
            <a:ext cx="2108147" cy="194270"/>
          </a:xfrm>
          <a:prstGeom prst="rect">
            <a:avLst/>
          </a:prstGeom>
          <a:noFill/>
          <a:ln/>
        </p:spPr>
        <p:txBody>
          <a:bodyPr wrap="none" lIns="0" tIns="0" rIns="0" bIns="0" rtlCol="0" anchor="t"/>
          <a:lstStyle/>
          <a:p>
            <a:pPr algn="l" indent="0" marL="0">
              <a:lnSpc>
                <a:spcPct val="108000"/>
              </a:lnSpc>
              <a:buNone/>
            </a:pPr>
            <a:r>
              <a:rPr lang="en-US" sz="1100" dirty="0">
                <a:solidFill>
                  <a:srgbClr val="2B2F36"/>
                </a:solidFill>
                <a:highlight>
                  <a:srgbClr val="F2F4F6"/>
                </a:highlight>
                <a:latin typeface="Consolas" pitchFamily="34" charset="0"/>
                <a:ea typeface="Consolas" pitchFamily="34" charset="-122"/>
                <a:cs typeface="Consolas" pitchFamily="34" charset="-120"/>
              </a:rPr>
              <a:t>attempt #1</a:t>
            </a:r>
            <a:endParaRPr lang="en-US" sz="1100" dirty="0"/>
          </a:p>
        </p:txBody>
      </p:sp>
      <p:sp>
        <p:nvSpPr>
          <p:cNvPr id="17" name="Shape 14"/>
          <p:cNvSpPr/>
          <p:nvPr/>
        </p:nvSpPr>
        <p:spPr>
          <a:xfrm>
            <a:off x="2743131" y="4678561"/>
            <a:ext cx="2235144" cy="653355"/>
          </a:xfrm>
          <a:prstGeom prst="rect">
            <a:avLst/>
          </a:prstGeom>
          <a:solidFill>
            <a:srgbClr val="F2F4F6"/>
          </a:solidFill>
          <a:ln/>
        </p:spPr>
        <p:txBody>
          <a:bodyPr/>
          <a:p/>
        </p:txBody>
      </p:sp>
      <p:sp>
        <p:nvSpPr>
          <p:cNvPr id="18" name="Text 15"/>
          <p:cNvSpPr/>
          <p:nvPr/>
        </p:nvSpPr>
        <p:spPr>
          <a:xfrm>
            <a:off x="2870128" y="4780161"/>
            <a:ext cx="2108147" cy="173335"/>
          </a:xfrm>
          <a:prstGeom prst="rect">
            <a:avLst/>
          </a:prstGeom>
          <a:noFill/>
          <a:ln/>
        </p:spPr>
        <p:txBody>
          <a:bodyPr wrap="none" lIns="0" tIns="0" rIns="0" bIns="0" rtlCol="0" anchor="t"/>
          <a:lstStyle/>
          <a:p>
            <a:pPr algn="l" indent="0" marL="0">
              <a:lnSpc>
                <a:spcPct val="108000"/>
              </a:lnSpc>
              <a:buNone/>
            </a:pPr>
            <a:r>
              <a:rPr lang="en-US" sz="1050" dirty="0">
                <a:solidFill>
                  <a:srgbClr val="2B2F36"/>
                </a:solidFill>
                <a:latin typeface="Arimo" pitchFamily="34" charset="0"/>
                <a:ea typeface="Arimo" pitchFamily="34" charset="-122"/>
                <a:cs typeface="Arimo" pitchFamily="34" charset="-120"/>
              </a:rPr>
              <a:t>10:01:04 · FAIL</a:t>
            </a:r>
            <a:endParaRPr lang="en-US" sz="1050" dirty="0"/>
          </a:p>
        </p:txBody>
      </p:sp>
      <p:sp>
        <p:nvSpPr>
          <p:cNvPr id="19" name="Text 16"/>
          <p:cNvSpPr/>
          <p:nvPr/>
        </p:nvSpPr>
        <p:spPr>
          <a:xfrm>
            <a:off x="2870128" y="5036046"/>
            <a:ext cx="2108147" cy="194270"/>
          </a:xfrm>
          <a:prstGeom prst="rect">
            <a:avLst/>
          </a:prstGeom>
          <a:noFill/>
          <a:ln/>
        </p:spPr>
        <p:txBody>
          <a:bodyPr wrap="none" lIns="0" tIns="0" rIns="0" bIns="0" rtlCol="0" anchor="t"/>
          <a:lstStyle/>
          <a:p>
            <a:pPr algn="l" indent="0" marL="0">
              <a:lnSpc>
                <a:spcPct val="108000"/>
              </a:lnSpc>
              <a:buNone/>
            </a:pPr>
            <a:r>
              <a:rPr lang="en-US" sz="1100" dirty="0">
                <a:solidFill>
                  <a:srgbClr val="2B2F36"/>
                </a:solidFill>
                <a:highlight>
                  <a:srgbClr val="F2F4F6"/>
                </a:highlight>
                <a:latin typeface="Consolas" pitchFamily="34" charset="0"/>
                <a:ea typeface="Consolas" pitchFamily="34" charset="-122"/>
                <a:cs typeface="Consolas" pitchFamily="34" charset="-120"/>
              </a:rPr>
              <a:t>attempt #2</a:t>
            </a:r>
            <a:endParaRPr lang="en-US" sz="1100" dirty="0"/>
          </a:p>
        </p:txBody>
      </p:sp>
      <p:sp>
        <p:nvSpPr>
          <p:cNvPr id="20" name="Shape 17"/>
          <p:cNvSpPr/>
          <p:nvPr/>
        </p:nvSpPr>
        <p:spPr>
          <a:xfrm>
            <a:off x="4978275" y="4678561"/>
            <a:ext cx="2235144" cy="653355"/>
          </a:xfrm>
          <a:prstGeom prst="rect">
            <a:avLst/>
          </a:prstGeom>
          <a:solidFill>
            <a:srgbClr val="F2F4F6"/>
          </a:solidFill>
          <a:ln/>
        </p:spPr>
        <p:txBody>
          <a:bodyPr/>
          <a:p/>
        </p:txBody>
      </p:sp>
      <p:sp>
        <p:nvSpPr>
          <p:cNvPr id="21" name="Text 18"/>
          <p:cNvSpPr/>
          <p:nvPr/>
        </p:nvSpPr>
        <p:spPr>
          <a:xfrm>
            <a:off x="5105272" y="4780161"/>
            <a:ext cx="2108147" cy="173335"/>
          </a:xfrm>
          <a:prstGeom prst="rect">
            <a:avLst/>
          </a:prstGeom>
          <a:noFill/>
          <a:ln/>
        </p:spPr>
        <p:txBody>
          <a:bodyPr wrap="none" lIns="0" tIns="0" rIns="0" bIns="0" rtlCol="0" anchor="t"/>
          <a:lstStyle/>
          <a:p>
            <a:pPr algn="l" indent="0" marL="0">
              <a:lnSpc>
                <a:spcPct val="108000"/>
              </a:lnSpc>
              <a:buNone/>
            </a:pPr>
            <a:r>
              <a:rPr lang="en-US" sz="1050" dirty="0">
                <a:solidFill>
                  <a:srgbClr val="2B2F36"/>
                </a:solidFill>
                <a:latin typeface="Arimo" pitchFamily="34" charset="0"/>
                <a:ea typeface="Arimo" pitchFamily="34" charset="-122"/>
                <a:cs typeface="Arimo" pitchFamily="34" charset="-120"/>
              </a:rPr>
              <a:t>10:01:48 · FAIL</a:t>
            </a:r>
            <a:endParaRPr lang="en-US" sz="1050" dirty="0"/>
          </a:p>
        </p:txBody>
      </p:sp>
      <p:sp>
        <p:nvSpPr>
          <p:cNvPr id="22" name="Text 19"/>
          <p:cNvSpPr/>
          <p:nvPr/>
        </p:nvSpPr>
        <p:spPr>
          <a:xfrm>
            <a:off x="5105272" y="5036046"/>
            <a:ext cx="2108147" cy="194270"/>
          </a:xfrm>
          <a:prstGeom prst="rect">
            <a:avLst/>
          </a:prstGeom>
          <a:noFill/>
          <a:ln/>
        </p:spPr>
        <p:txBody>
          <a:bodyPr wrap="none" lIns="0" tIns="0" rIns="0" bIns="0" rtlCol="0" anchor="t"/>
          <a:lstStyle/>
          <a:p>
            <a:pPr algn="l" indent="0" marL="0">
              <a:lnSpc>
                <a:spcPct val="108000"/>
              </a:lnSpc>
              <a:buNone/>
            </a:pPr>
            <a:r>
              <a:rPr lang="en-US" sz="1100" dirty="0">
                <a:solidFill>
                  <a:srgbClr val="2B2F36"/>
                </a:solidFill>
                <a:highlight>
                  <a:srgbClr val="F2F4F6"/>
                </a:highlight>
                <a:latin typeface="Consolas" pitchFamily="34" charset="0"/>
                <a:ea typeface="Consolas" pitchFamily="34" charset="-122"/>
                <a:cs typeface="Consolas" pitchFamily="34" charset="-120"/>
              </a:rPr>
              <a:t>attempt #3</a:t>
            </a:r>
            <a:endParaRPr lang="en-US" sz="1100" dirty="0"/>
          </a:p>
        </p:txBody>
      </p:sp>
      <p:sp>
        <p:nvSpPr>
          <p:cNvPr id="23" name="Shape 20"/>
          <p:cNvSpPr/>
          <p:nvPr/>
        </p:nvSpPr>
        <p:spPr>
          <a:xfrm>
            <a:off x="7213420" y="4678561"/>
            <a:ext cx="2235144" cy="653355"/>
          </a:xfrm>
          <a:prstGeom prst="rect">
            <a:avLst/>
          </a:prstGeom>
          <a:solidFill>
            <a:srgbClr val="F2F4F6"/>
          </a:solidFill>
          <a:ln/>
        </p:spPr>
        <p:txBody>
          <a:bodyPr/>
          <a:p/>
        </p:txBody>
      </p:sp>
      <p:sp>
        <p:nvSpPr>
          <p:cNvPr id="24" name="Text 21"/>
          <p:cNvSpPr/>
          <p:nvPr/>
        </p:nvSpPr>
        <p:spPr>
          <a:xfrm>
            <a:off x="7340416" y="4780161"/>
            <a:ext cx="2108147" cy="173335"/>
          </a:xfrm>
          <a:prstGeom prst="rect">
            <a:avLst/>
          </a:prstGeom>
          <a:noFill/>
          <a:ln/>
        </p:spPr>
        <p:txBody>
          <a:bodyPr wrap="none" lIns="0" tIns="0" rIns="0" bIns="0" rtlCol="0" anchor="t"/>
          <a:lstStyle/>
          <a:p>
            <a:pPr algn="l" indent="0" marL="0">
              <a:lnSpc>
                <a:spcPct val="108000"/>
              </a:lnSpc>
              <a:buNone/>
            </a:pPr>
            <a:r>
              <a:rPr lang="en-US" sz="1050" dirty="0">
                <a:solidFill>
                  <a:srgbClr val="2B2F36"/>
                </a:solidFill>
                <a:latin typeface="Arimo" pitchFamily="34" charset="0"/>
                <a:ea typeface="Arimo" pitchFamily="34" charset="-122"/>
                <a:cs typeface="Arimo" pitchFamily="34" charset="-120"/>
              </a:rPr>
              <a:t>10:02:30 · FAIL</a:t>
            </a:r>
            <a:endParaRPr lang="en-US" sz="1050" dirty="0"/>
          </a:p>
        </p:txBody>
      </p:sp>
      <p:sp>
        <p:nvSpPr>
          <p:cNvPr id="25" name="Text 22"/>
          <p:cNvSpPr/>
          <p:nvPr/>
        </p:nvSpPr>
        <p:spPr>
          <a:xfrm>
            <a:off x="7340416" y="5036046"/>
            <a:ext cx="2108147" cy="194270"/>
          </a:xfrm>
          <a:prstGeom prst="rect">
            <a:avLst/>
          </a:prstGeom>
          <a:noFill/>
          <a:ln/>
        </p:spPr>
        <p:txBody>
          <a:bodyPr wrap="none" lIns="0" tIns="0" rIns="0" bIns="0" rtlCol="0" anchor="t"/>
          <a:lstStyle/>
          <a:p>
            <a:pPr algn="l" indent="0" marL="0">
              <a:lnSpc>
                <a:spcPct val="108000"/>
              </a:lnSpc>
              <a:buNone/>
            </a:pPr>
            <a:r>
              <a:rPr lang="en-US" sz="1100" dirty="0">
                <a:solidFill>
                  <a:srgbClr val="2B2F36"/>
                </a:solidFill>
                <a:highlight>
                  <a:srgbClr val="F2F4F6"/>
                </a:highlight>
                <a:latin typeface="Consolas" pitchFamily="34" charset="0"/>
                <a:ea typeface="Consolas" pitchFamily="34" charset="-122"/>
                <a:cs typeface="Consolas" pitchFamily="34" charset="-120"/>
              </a:rPr>
              <a:t>attempt #4</a:t>
            </a:r>
            <a:endParaRPr lang="en-US" sz="1100" dirty="0"/>
          </a:p>
        </p:txBody>
      </p:sp>
      <p:sp>
        <p:nvSpPr>
          <p:cNvPr id="26" name="Shape 23"/>
          <p:cNvSpPr/>
          <p:nvPr/>
        </p:nvSpPr>
        <p:spPr>
          <a:xfrm>
            <a:off x="9448564" y="4678561"/>
            <a:ext cx="2235144" cy="653355"/>
          </a:xfrm>
          <a:custGeom>
            <a:avLst/>
            <a:gdLst/>
            <a:ahLst/>
            <a:cxnLst/>
            <a:rect l="l" t="t" r="r" b="b"/>
            <a:pathLst>
              <a:path w="2235144" h="653355">
                <a:moveTo>
                  <a:pt x="0" y="0"/>
                </a:moveTo>
                <a:lnTo>
                  <a:pt x="2225619" y="0"/>
                </a:lnTo>
                <a:arcTo hR="9525" wR="9525" stAng="16200000" swAng="5400000"/>
                <a:lnTo>
                  <a:pt x="2235144" y="643830"/>
                </a:lnTo>
                <a:arcTo hR="9525" wR="9525" stAng="0" swAng="5400000"/>
                <a:lnTo>
                  <a:pt x="0" y="653355"/>
                </a:lnTo>
                <a:lnTo>
                  <a:pt x="0" y="0"/>
                </a:lnTo>
                <a:close/>
              </a:path>
            </a:pathLst>
          </a:custGeom>
          <a:solidFill>
            <a:srgbClr val="0B1F3A"/>
          </a:solidFill>
          <a:ln/>
        </p:spPr>
        <p:txBody>
          <a:bodyPr/>
          <a:p/>
        </p:txBody>
      </p:sp>
      <p:sp>
        <p:nvSpPr>
          <p:cNvPr id="27" name="Text 24"/>
          <p:cNvSpPr/>
          <p:nvPr/>
        </p:nvSpPr>
        <p:spPr>
          <a:xfrm>
            <a:off x="9575560" y="4780161"/>
            <a:ext cx="2108147" cy="173335"/>
          </a:xfrm>
          <a:prstGeom prst="rect">
            <a:avLst/>
          </a:prstGeom>
          <a:noFill/>
          <a:ln/>
        </p:spPr>
        <p:txBody>
          <a:bodyPr wrap="none" lIns="0" tIns="0" rIns="0" bIns="0" rtlCol="0" anchor="t"/>
          <a:lstStyle/>
          <a:p>
            <a:pPr algn="l" indent="0" marL="0">
              <a:lnSpc>
                <a:spcPct val="108000"/>
              </a:lnSpc>
              <a:buNone/>
            </a:pPr>
            <a:r>
              <a:rPr lang="en-US" sz="1050" dirty="0">
                <a:solidFill>
                  <a:srgbClr val="FFFFFF"/>
                </a:solidFill>
                <a:latin typeface="Arimo" pitchFamily="34" charset="0"/>
                <a:ea typeface="Arimo" pitchFamily="34" charset="-122"/>
                <a:cs typeface="Arimo" pitchFamily="34" charset="-120"/>
              </a:rPr>
              <a:t>10:03:15 · FAIL</a:t>
            </a:r>
            <a:endParaRPr lang="en-US" sz="1050" dirty="0"/>
          </a:p>
        </p:txBody>
      </p:sp>
      <p:sp>
        <p:nvSpPr>
          <p:cNvPr id="28" name="Text 25"/>
          <p:cNvSpPr/>
          <p:nvPr/>
        </p:nvSpPr>
        <p:spPr>
          <a:xfrm>
            <a:off x="9575560" y="5036046"/>
            <a:ext cx="2108147" cy="181570"/>
          </a:xfrm>
          <a:prstGeom prst="rect">
            <a:avLst/>
          </a:prstGeom>
          <a:noFill/>
          <a:ln/>
        </p:spPr>
        <p:txBody>
          <a:bodyPr wrap="none" lIns="0" tIns="0" rIns="0" bIns="0" rtlCol="0" anchor="t"/>
          <a:lstStyle/>
          <a:p>
            <a:pPr algn="l" indent="0" marL="0">
              <a:lnSpc>
                <a:spcPct val="108000"/>
              </a:lnSpc>
              <a:buNone/>
            </a:pPr>
            <a:r>
              <a:rPr lang="en-US" sz="1100" b="1" dirty="0">
                <a:solidFill>
                  <a:srgbClr val="FFFFFF"/>
                </a:solidFill>
                <a:latin typeface="Arimo Bold" pitchFamily="34" charset="0"/>
                <a:ea typeface="Arimo Bold" pitchFamily="34" charset="-122"/>
                <a:cs typeface="Arimo Bold" pitchFamily="34" charset="-120"/>
              </a:rPr>
              <a:t>ALERT TRIGGERED (5/5)</a:t>
            </a:r>
            <a:endParaRPr lang="en-US" sz="1100" dirty="0"/>
          </a:p>
        </p:txBody>
      </p:sp>
      <p:sp>
        <p:nvSpPr>
          <p:cNvPr id="29" name="Text 26"/>
          <p:cNvSpPr/>
          <p:nvPr/>
        </p:nvSpPr>
        <p:spPr>
          <a:xfrm>
            <a:off x="507987" y="6506865"/>
            <a:ext cx="11683708" cy="173335"/>
          </a:xfrm>
          <a:prstGeom prst="rect">
            <a:avLst/>
          </a:prstGeom>
          <a:noFill/>
          <a:ln/>
        </p:spPr>
        <p:txBody>
          <a:bodyPr wrap="none" lIns="0" tIns="0" rIns="0" bIns="0" rtlCol="0" anchor="t"/>
          <a:lstStyle/>
          <a:p>
            <a:pPr algn="l" indent="0" marL="0">
              <a:lnSpc>
                <a:spcPct val="108000"/>
              </a:lnSpc>
              <a:buNone/>
            </a:pPr>
            <a:r>
              <a:rPr lang="en-US" sz="1050" dirty="0">
                <a:solidFill>
                  <a:srgbClr val="5B6573"/>
                </a:solidFill>
                <a:latin typeface="Arimo" pitchFamily="34" charset="0"/>
                <a:ea typeface="Arimo" pitchFamily="34" charset="-122"/>
                <a:cs typeface="Arimo" pitchFamily="34" charset="-120"/>
              </a:rPr>
              <a:t>Rule Implementation: </a:t>
            </a:r>
            <a:pPr algn="l" indent="0" marL="0">
              <a:lnSpc>
                <a:spcPct val="108000"/>
              </a:lnSpc>
              <a:buNone/>
            </a:pPr>
            <a:r>
              <a:rPr lang="en-US" sz="1050" dirty="0">
                <a:solidFill>
                  <a:srgbClr val="2B2F36"/>
                </a:solidFill>
                <a:highlight>
                  <a:srgbClr val="F2F4F6"/>
                </a:highlight>
                <a:latin typeface="Consolas" pitchFamily="34" charset="0"/>
                <a:ea typeface="Consolas" pitchFamily="34" charset="-122"/>
                <a:cs typeface="Consolas" pitchFamily="34" charset="-120"/>
              </a:rPr>
              <a:t>rules.auth_001_repeated_failures.py</a:t>
            </a:r>
            <a:pPr algn="l" indent="0" marL="0">
              <a:lnSpc>
                <a:spcPct val="108000"/>
              </a:lnSpc>
              <a:buNone/>
            </a:pPr>
            <a:r>
              <a:rPr lang="en-US" sz="1050" dirty="0">
                <a:solidFill>
                  <a:srgbClr val="5B6573"/>
                </a:solidFill>
                <a:latin typeface="Arimo" pitchFamily="34" charset="0"/>
                <a:ea typeface="Arimo" pitchFamily="34" charset="-122"/>
                <a:cs typeface="Arimo" pitchFamily="34" charset="-120"/>
              </a:rPr>
              <a:t> · Time window: 300s sliding.</a:t>
            </a:r>
            <a:endParaRPr lang="en-US" sz="1050" dirty="0"/>
          </a:p>
        </p:txBody>
      </p:sp>
      <p:sp>
        <p:nvSpPr>
          <p:cNvPr id="30" name="Shape 27"/>
          <p:cNvSpPr/>
          <p:nvPr/>
        </p:nvSpPr>
        <p:spPr>
          <a:xfrm>
            <a:off x="2736782" y="4678561"/>
            <a:ext cx="12700" cy="653355"/>
          </a:xfrm>
          <a:prstGeom prst="rect">
            <a:avLst/>
          </a:prstGeom>
          <a:solidFill>
            <a:srgbClr val="D5DAE0"/>
          </a:solidFill>
          <a:ln/>
        </p:spPr>
        <p:txBody>
          <a:bodyPr/>
          <a:p/>
        </p:txBody>
      </p:sp>
      <p:sp>
        <p:nvSpPr>
          <p:cNvPr id="31" name="Shape 28"/>
          <p:cNvSpPr/>
          <p:nvPr/>
        </p:nvSpPr>
        <p:spPr>
          <a:xfrm>
            <a:off x="4971926" y="4678561"/>
            <a:ext cx="12700" cy="653355"/>
          </a:xfrm>
          <a:prstGeom prst="rect">
            <a:avLst/>
          </a:prstGeom>
          <a:solidFill>
            <a:srgbClr val="D5DAE0"/>
          </a:solidFill>
          <a:ln/>
        </p:spPr>
        <p:txBody>
          <a:bodyPr/>
          <a:p/>
        </p:txBody>
      </p:sp>
      <p:sp>
        <p:nvSpPr>
          <p:cNvPr id="32" name="Shape 29"/>
          <p:cNvSpPr/>
          <p:nvPr/>
        </p:nvSpPr>
        <p:spPr>
          <a:xfrm>
            <a:off x="7207070" y="4678561"/>
            <a:ext cx="12700" cy="653355"/>
          </a:xfrm>
          <a:prstGeom prst="rect">
            <a:avLst/>
          </a:prstGeom>
          <a:solidFill>
            <a:srgbClr val="D5DAE0"/>
          </a:solidFill>
          <a:ln/>
        </p:spPr>
        <p:txBody>
          <a:bodyPr/>
          <a:p/>
        </p:txBody>
      </p:sp>
      <p:sp>
        <p:nvSpPr>
          <p:cNvPr id="33" name="Shape 30"/>
          <p:cNvSpPr/>
          <p:nvPr/>
        </p:nvSpPr>
        <p:spPr>
          <a:xfrm>
            <a:off x="9442214" y="4678561"/>
            <a:ext cx="12700" cy="653355"/>
          </a:xfrm>
          <a:prstGeom prst="rect">
            <a:avLst/>
          </a:prstGeom>
          <a:solidFill>
            <a:srgbClr val="D5DAE0"/>
          </a:solidFill>
          <a:ln/>
        </p:spPr>
        <p:txBody>
          <a:bodyPr/>
          <a:p/>
        </p:txBody>
      </p:sp>
      <p:sp>
        <p:nvSpPr>
          <p:cNvPr id="34" name="Text 31"/>
          <p:cNvSpPr/>
          <p:nvPr/>
        </p:nvSpPr>
        <p:spPr>
          <a:xfrm>
            <a:off x="507987" y="6555085"/>
            <a:ext cx="1213415" cy="148530"/>
          </a:xfrm>
          <a:prstGeom prst="rect">
            <a:avLst/>
          </a:prstGeom>
          <a:noFill/>
          <a:ln/>
        </p:spPr>
        <p:txBody>
          <a:bodyPr wrap="none" lIns="0" tIns="0" rIns="0" bIns="0" rtlCol="0" anchor="ctr"/>
          <a:lstStyle/>
          <a:p>
            <a:pPr algn="l" indent="0" marL="0">
              <a:lnSpc>
                <a:spcPct val="108000"/>
              </a:lnSpc>
              <a:buNone/>
            </a:pPr>
            <a:r>
              <a:rPr lang="en-US" sz="900" dirty="0">
                <a:solidFill>
                  <a:srgbClr val="2B2F36"/>
                </a:solidFill>
                <a:latin typeface="Arimo" pitchFamily="34" charset="0"/>
                <a:ea typeface="Arimo" pitchFamily="34" charset="-122"/>
                <a:cs typeface="Arimo" pitchFamily="34" charset="-120"/>
              </a:rPr>
              <a:t>SentinelLog</a:t>
            </a:r>
            <a:endParaRPr lang="en-US" sz="900" dirty="0"/>
          </a:p>
        </p:txBody>
      </p:sp>
      <p:sp>
        <p:nvSpPr>
          <p:cNvPr id="35" name="Text 32"/>
          <p:cNvSpPr/>
          <p:nvPr/>
        </p:nvSpPr>
        <p:spPr>
          <a:xfrm>
            <a:off x="11620209" y="6555085"/>
            <a:ext cx="571486" cy="148530"/>
          </a:xfrm>
          <a:prstGeom prst="rect">
            <a:avLst/>
          </a:prstGeom>
          <a:noFill/>
          <a:ln/>
        </p:spPr>
        <p:txBody>
          <a:bodyPr wrap="none" lIns="0" tIns="0" rIns="0" bIns="0" rtlCol="0" anchor="ctr"/>
          <a:lstStyle/>
          <a:p>
            <a:pPr algn="l" indent="0" marL="0">
              <a:lnSpc>
                <a:spcPct val="108000"/>
              </a:lnSpc>
              <a:buNone/>
            </a:pPr>
            <a:r>
              <a:rPr lang="en-US" sz="900" dirty="0">
                <a:solidFill>
                  <a:srgbClr val="2B2F36"/>
                </a:solidFill>
                <a:latin typeface="Arimo" pitchFamily="34" charset="0"/>
                <a:ea typeface="Arimo" pitchFamily="34" charset="-122"/>
                <a:cs typeface="Arimo"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1057374"/>
            <a:ext cx="12191695" cy="6350"/>
          </a:xfrm>
          <a:prstGeom prst="rect">
            <a:avLst/>
          </a:prstGeom>
          <a:solidFill>
            <a:srgbClr val="D5DAE0"/>
          </a:solidFill>
          <a:ln/>
        </p:spPr>
        <p:txBody>
          <a:bodyPr/>
          <a:p/>
        </p:txBody>
      </p:sp>
      <p:sp>
        <p:nvSpPr>
          <p:cNvPr id="3" name="Text 1"/>
          <p:cNvSpPr/>
          <p:nvPr/>
        </p:nvSpPr>
        <p:spPr>
          <a:xfrm>
            <a:off x="507987" y="330200"/>
            <a:ext cx="11683708"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DETECTION RULE DETAIL</a:t>
            </a:r>
            <a:endParaRPr lang="en-US" sz="950" dirty="0"/>
          </a:p>
        </p:txBody>
      </p:sp>
      <p:sp>
        <p:nvSpPr>
          <p:cNvPr id="4" name="Text 2"/>
          <p:cNvSpPr/>
          <p:nvPr/>
        </p:nvSpPr>
        <p:spPr>
          <a:xfrm>
            <a:off x="507987" y="532110"/>
            <a:ext cx="11175720" cy="398264"/>
          </a:xfrm>
          <a:prstGeom prst="rect">
            <a:avLst/>
          </a:prstGeom>
          <a:noFill/>
          <a:ln/>
        </p:spPr>
        <p:txBody>
          <a:bodyPr wrap="none" lIns="0" tIns="0" rIns="0" bIns="0" rtlCol="0" anchor="t"/>
          <a:lstStyle/>
          <a:p>
            <a:pPr algn="l" indent="0" marL="0">
              <a:lnSpc>
                <a:spcPct val="93000"/>
              </a:lnSpc>
              <a:buNone/>
            </a:pPr>
            <a:r>
              <a:rPr lang="en-US" sz="2800" b="1" spc="-14" kern="100" dirty="0">
                <a:solidFill>
                  <a:srgbClr val="0B1F3A"/>
                </a:solidFill>
                <a:latin typeface="Arimo Bold" pitchFamily="34" charset="0"/>
                <a:ea typeface="Arimo Bold" pitchFamily="34" charset="-122"/>
                <a:cs typeface="Arimo Bold" pitchFamily="34" charset="-120"/>
              </a:rPr>
              <a:t>AUTH-002 · Cross-Account Failure Pattern</a:t>
            </a:r>
            <a:endParaRPr lang="en-US" sz="2800" dirty="0"/>
          </a:p>
        </p:txBody>
      </p:sp>
      <p:sp>
        <p:nvSpPr>
          <p:cNvPr id="5" name="Shape 3"/>
          <p:cNvSpPr/>
          <p:nvPr/>
        </p:nvSpPr>
        <p:spPr>
          <a:xfrm>
            <a:off x="507987" y="1241524"/>
            <a:ext cx="6981452" cy="3070027"/>
          </a:xfrm>
          <a:prstGeom prst="rect">
            <a:avLst/>
          </a:prstGeom>
          <a:noFill/>
          <a:ln w="6350">
            <a:solidFill>
              <a:srgbClr val="D5DAE0"/>
            </a:solidFill>
            <a:prstDash val="solid"/>
          </a:ln>
          <a:effectLst>
            <a:outerShdw sx="100000" sy="100000" kx="0" ky="0" algn="bl" rotWithShape="0" blurRad="30480" dist="11430" dir="5400000">
              <a:srgbClr val="0b1f3a">
                <a:alpha val="1000"/>
              </a:srgbClr>
            </a:outerShdw>
          </a:effectLst>
        </p:spPr>
        <p:txBody>
          <a:bodyPr/>
          <a:p/>
        </p:txBody>
      </p:sp>
      <p:sp>
        <p:nvSpPr>
          <p:cNvPr id="6" name="Text 4"/>
          <p:cNvSpPr/>
          <p:nvPr/>
        </p:nvSpPr>
        <p:spPr>
          <a:xfrm>
            <a:off x="742931" y="1451074"/>
            <a:ext cx="6746508"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RULE LOGIC SPECIFICATION</a:t>
            </a:r>
            <a:endParaRPr lang="en-US" sz="950" dirty="0"/>
          </a:p>
        </p:txBody>
      </p:sp>
      <p:sp>
        <p:nvSpPr>
          <p:cNvPr id="7" name="Text 5"/>
          <p:cNvSpPr/>
          <p:nvPr/>
        </p:nvSpPr>
        <p:spPr>
          <a:xfrm>
            <a:off x="742931" y="1652984"/>
            <a:ext cx="6511564" cy="238125"/>
          </a:xfrm>
          <a:prstGeom prst="rect">
            <a:avLst/>
          </a:prstGeom>
          <a:noFill/>
          <a:ln/>
        </p:spPr>
        <p:txBody>
          <a:bodyPr wrap="none" lIns="0" tIns="0" rIns="0" bIns="0" rtlCol="0" anchor="t"/>
          <a:lstStyle/>
          <a:p>
            <a:pPr algn="l" indent="0" marL="0">
              <a:lnSpc>
                <a:spcPct val="104000"/>
              </a:lnSpc>
              <a:buNone/>
            </a:pPr>
            <a:r>
              <a:rPr lang="en-US" sz="1500" b="1" dirty="0">
                <a:solidFill>
                  <a:srgbClr val="0B1F3A"/>
                </a:solidFill>
                <a:latin typeface="Arimo Bold" pitchFamily="34" charset="0"/>
                <a:ea typeface="Arimo Bold" pitchFamily="34" charset="-122"/>
                <a:cs typeface="Arimo Bold" pitchFamily="34" charset="-120"/>
              </a:rPr>
              <a:t>Password Spraying Detection</a:t>
            </a:r>
            <a:endParaRPr lang="en-US" sz="1500" dirty="0"/>
          </a:p>
        </p:txBody>
      </p:sp>
      <p:sp>
        <p:nvSpPr>
          <p:cNvPr id="8" name="Text 6"/>
          <p:cNvSpPr/>
          <p:nvPr/>
        </p:nvSpPr>
        <p:spPr>
          <a:xfrm>
            <a:off x="742931" y="1992709"/>
            <a:ext cx="6511564" cy="363141"/>
          </a:xfrm>
          <a:prstGeom prst="rect">
            <a:avLst/>
          </a:prstGeom>
          <a:noFill/>
          <a:ln/>
        </p:spPr>
        <p:txBody>
          <a:bodyPr wrap="square" lIns="0" tIns="0" rIns="0" bIns="0" rtlCol="0" anchor="t">
            <a:normAutofit/>
          </a:bodyPr>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Detects a single source IP probing multiple distinct usernames with authentication failures over a sliding temporal window, bypassing single-account lockout controls.</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42931" y="2482850"/>
          <a:ext cx="6511564" cy="914400"/>
        </p:xfrm>
        <a:graphic>
          <a:graphicData uri="http://schemas.openxmlformats.org/drawingml/2006/table">
            <a:tbl>
              <a:tblPr/>
              <a:tblGrid>
                <a:gridCol w="2083641"/>
                <a:gridCol w="4427923"/>
              </a:tblGrid>
              <a:tr h="328902">
                <a:tc>
                  <a:txBody>
                    <a:bodyPr/>
                    <a:lstStyle/>
                    <a:p>
                      <a:pPr algn="l" indent="0" marL="0">
                        <a:buNone/>
                      </a:pPr>
                      <a:r>
                        <a:rPr lang="en-US" sz="1300" b="1" dirty="0">
                          <a:solidFill>
                            <a:srgbClr val="2B2F36"/>
                          </a:solidFill>
                          <a:latin typeface="Arimo" pitchFamily="34" charset="0"/>
                          <a:ea typeface="Arimo" pitchFamily="34" charset="-122"/>
                          <a:cs typeface="Arimo" pitchFamily="34" charset="-120"/>
                        </a:rPr>
                        <a:t>Rule ID</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dirty="0">
                          <a:solidFill>
                            <a:srgbClr val="2B2F36"/>
                          </a:solidFill>
                          <a:latin typeface="Consolas" pitchFamily="34" charset="0"/>
                          <a:ea typeface="Consolas" pitchFamily="34" charset="-122"/>
                          <a:cs typeface="Consolas" pitchFamily="34" charset="-120"/>
                        </a:rPr>
                        <a:t>AUTH-002</a:t>
                      </a:r>
                      <a:endParaRPr lang="en-US" sz="1300" dirty="0">
                        <a:latin typeface="Consolas" charset="0"/>
                        <a:ea typeface="Consolas" charset="0"/>
                        <a:cs typeface="Consolas"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22552">
                <a:tc>
                  <a:txBody>
                    <a:bodyPr/>
                    <a:lstStyle/>
                    <a:p>
                      <a:pPr algn="l" indent="0" marL="0">
                        <a:buNone/>
                      </a:pPr>
                      <a:r>
                        <a:rPr lang="en-US" sz="1300" b="1" dirty="0">
                          <a:solidFill>
                            <a:srgbClr val="2B2F36"/>
                          </a:solidFill>
                          <a:latin typeface="Arimo" pitchFamily="34" charset="0"/>
                          <a:ea typeface="Arimo" pitchFamily="34" charset="-122"/>
                          <a:cs typeface="Arimo" pitchFamily="34" charset="-120"/>
                        </a:rPr>
                        <a:t>Severity</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b="1" dirty="0">
                          <a:solidFill>
                            <a:srgbClr val="C0102F"/>
                          </a:solidFill>
                          <a:latin typeface="Arimo" pitchFamily="34" charset="0"/>
                          <a:ea typeface="Arimo" pitchFamily="34" charset="-122"/>
                          <a:cs typeface="Arimo" pitchFamily="34" charset="-120"/>
                        </a:rPr>
                        <a:t>Medium / High</a:t>
                      </a:r>
                      <a:pPr algn="l" indent="0" marL="0">
                        <a:buNone/>
                      </a:pPr>
                      <a:r>
                        <a:rPr lang="en-US" sz="1300" b="1" dirty="0">
                          <a:solidFill>
                            <a:srgbClr val="2B2F36"/>
                          </a:solidFill>
                          <a:latin typeface="Arimo" pitchFamily="34" charset="0"/>
                          <a:ea typeface="Arimo" pitchFamily="34" charset="-122"/>
                          <a:cs typeface="Arimo" pitchFamily="34" charset="-120"/>
                        </a:rPr>
                        <a:t> (Horizontal Probing)</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28902">
                <a:tc>
                  <a:txBody>
                    <a:bodyPr/>
                    <a:lstStyle/>
                    <a:p>
                      <a:pPr algn="l" indent="0" marL="0">
                        <a:buNone/>
                      </a:pPr>
                      <a:r>
                        <a:rPr lang="en-US" sz="1300" b="1" dirty="0">
                          <a:solidFill>
                            <a:srgbClr val="2B2F36"/>
                          </a:solidFill>
                          <a:latin typeface="Arimo" pitchFamily="34" charset="0"/>
                          <a:ea typeface="Arimo" pitchFamily="34" charset="-122"/>
                          <a:cs typeface="Arimo" pitchFamily="34" charset="-120"/>
                        </a:rPr>
                        <a:t>Correlation Key</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dirty="0">
                          <a:solidFill>
                            <a:srgbClr val="2B2F36"/>
                          </a:solidFill>
                          <a:latin typeface="Consolas" pitchFamily="34" charset="0"/>
                          <a:ea typeface="Consolas" pitchFamily="34" charset="-122"/>
                          <a:cs typeface="Consolas" pitchFamily="34" charset="-120"/>
                        </a:rPr>
                        <a:t>(source_ip)</a:t>
                      </a:r>
                      <a:endParaRPr lang="en-US" sz="1300" dirty="0">
                        <a:latin typeface="Consolas" charset="0"/>
                        <a:ea typeface="Consolas" charset="0"/>
                        <a:cs typeface="Consolas"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22552">
                <a:tc>
                  <a:txBody>
                    <a:bodyPr/>
                    <a:lstStyle/>
                    <a:p>
                      <a:pPr algn="l" indent="0" marL="0">
                        <a:buNone/>
                      </a:pPr>
                      <a:r>
                        <a:rPr lang="en-US" sz="1300" b="1" dirty="0">
                          <a:solidFill>
                            <a:srgbClr val="2B2F36"/>
                          </a:solidFill>
                          <a:latin typeface="Arimo" pitchFamily="34" charset="0"/>
                          <a:ea typeface="Arimo" pitchFamily="34" charset="-122"/>
                          <a:cs typeface="Arimo" pitchFamily="34" charset="-120"/>
                        </a:rPr>
                        <a:t>Threshold</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b="1" dirty="0">
                          <a:solidFill>
                            <a:srgbClr val="2B2F36"/>
                          </a:solidFill>
                          <a:latin typeface="Arimo" pitchFamily="34" charset="0"/>
                          <a:ea typeface="Arimo" pitchFamily="34" charset="-122"/>
                          <a:cs typeface="Arimo" pitchFamily="34" charset="-120"/>
                        </a:rPr>
                        <a:t>≥ 3 distinct usernames</a:t>
                      </a:r>
                      <a:pPr algn="l" indent="0" marL="0">
                        <a:buNone/>
                      </a:pPr>
                      <a:r>
                        <a:rPr lang="en-US" sz="1300" b="1" dirty="0">
                          <a:solidFill>
                            <a:srgbClr val="2B2F36"/>
                          </a:solidFill>
                          <a:latin typeface="Arimo" pitchFamily="34" charset="0"/>
                          <a:ea typeface="Arimo" pitchFamily="34" charset="-122"/>
                          <a:cs typeface="Arimo" pitchFamily="34" charset="-120"/>
                        </a:rPr>
                        <a:t> with failures in </a:t>
                      </a:r>
                      <a:pPr algn="l" indent="0" marL="0">
                        <a:buNone/>
                      </a:pPr>
                      <a:r>
                        <a:rPr lang="en-US" sz="1300" b="1" dirty="0">
                          <a:solidFill>
                            <a:srgbClr val="2B2F36"/>
                          </a:solidFill>
                          <a:latin typeface="Arimo" pitchFamily="34" charset="0"/>
                          <a:ea typeface="Arimo" pitchFamily="34" charset="-122"/>
                          <a:cs typeface="Arimo" pitchFamily="34" charset="-120"/>
                        </a:rPr>
                        <a:t>600 seconds</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16202">
                <a:tc>
                  <a:txBody>
                    <a:bodyPr/>
                    <a:lstStyle/>
                    <a:p>
                      <a:pPr algn="l" indent="0" marL="0">
                        <a:buNone/>
                      </a:pPr>
                      <a:r>
                        <a:rPr lang="en-US" sz="1300" b="1" dirty="0">
                          <a:solidFill>
                            <a:srgbClr val="2B2F36"/>
                          </a:solidFill>
                          <a:latin typeface="Arimo" pitchFamily="34" charset="0"/>
                          <a:ea typeface="Arimo" pitchFamily="34" charset="-122"/>
                          <a:cs typeface="Arimo" pitchFamily="34" charset="-120"/>
                        </a:rPr>
                        <a:t>Primary Threat</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Horizontal password spray, automated user enumeration</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10" name="Shape 7"/>
          <p:cNvSpPr/>
          <p:nvPr/>
        </p:nvSpPr>
        <p:spPr>
          <a:xfrm>
            <a:off x="7641736" y="1241524"/>
            <a:ext cx="4041972" cy="3070027"/>
          </a:xfrm>
          <a:prstGeom prst="rect">
            <a:avLst/>
          </a:prstGeom>
          <a:solidFill>
            <a:srgbClr val="F2F4F6"/>
          </a:solidFill>
          <a:ln/>
        </p:spPr>
        <p:txBody>
          <a:bodyPr/>
          <a:p/>
        </p:txBody>
      </p:sp>
      <p:sp>
        <p:nvSpPr>
          <p:cNvPr id="11" name="Shape 8"/>
          <p:cNvSpPr/>
          <p:nvPr/>
        </p:nvSpPr>
        <p:spPr>
          <a:xfrm>
            <a:off x="7641736" y="1241524"/>
            <a:ext cx="38099" cy="3070027"/>
          </a:xfrm>
          <a:prstGeom prst="rect">
            <a:avLst/>
          </a:prstGeom>
          <a:solidFill>
            <a:srgbClr val="C0102F"/>
          </a:solidFill>
          <a:ln/>
        </p:spPr>
        <p:txBody>
          <a:bodyPr/>
          <a:p/>
        </p:txBody>
      </p:sp>
      <p:sp>
        <p:nvSpPr>
          <p:cNvPr id="12" name="Text 9"/>
          <p:cNvSpPr/>
          <p:nvPr/>
        </p:nvSpPr>
        <p:spPr>
          <a:xfrm>
            <a:off x="7908429" y="1444724"/>
            <a:ext cx="3775278"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2B2F36"/>
                </a:solidFill>
                <a:latin typeface="Arimo Bold" pitchFamily="34" charset="0"/>
                <a:ea typeface="Arimo Bold" pitchFamily="34" charset="-122"/>
                <a:cs typeface="Arimo Bold" pitchFamily="34" charset="-120"/>
              </a:rPr>
              <a:t>SPRAY DEFENSE NUANCE</a:t>
            </a:r>
            <a:endParaRPr lang="en-US" sz="950" dirty="0"/>
          </a:p>
        </p:txBody>
      </p:sp>
      <p:sp>
        <p:nvSpPr>
          <p:cNvPr id="13" name="Text 10"/>
          <p:cNvSpPr/>
          <p:nvPr/>
        </p:nvSpPr>
        <p:spPr>
          <a:xfrm>
            <a:off x="7908429" y="1640284"/>
            <a:ext cx="3546684" cy="1559421"/>
          </a:xfrm>
          <a:prstGeom prst="rect">
            <a:avLst/>
          </a:prstGeom>
          <a:noFill/>
          <a:ln/>
        </p:spPr>
        <p:txBody>
          <a:bodyPr wrap="square" lIns="0" tIns="0" rIns="0" bIns="0" rtlCol="0" anchor="t">
            <a:normAutofit/>
          </a:bodyPr>
          <a:lstStyle/>
          <a:p>
            <a:pPr algn="l" indent="0" marL="0">
              <a:lnSpc>
                <a:spcPct val="108000"/>
              </a:lnSpc>
              <a:spcAft>
                <a:spcPts val="350"/>
              </a:spcAft>
              <a:buNone/>
            </a:pPr>
            <a:r>
              <a:rPr lang="en-US" sz="1300" b="1" dirty="0">
                <a:solidFill>
                  <a:srgbClr val="2B2F36"/>
                </a:solidFill>
                <a:latin typeface="Arimo Bold" pitchFamily="34" charset="0"/>
                <a:ea typeface="Arimo Bold" pitchFamily="34" charset="-122"/>
                <a:cs typeface="Arimo Bold" pitchFamily="34" charset="-120"/>
              </a:rPr>
              <a:t>Why single-user rules fail:</a:t>
            </a:r>
            <a:pPr algn="l" indent="0" marL="0">
              <a:lnSpc>
                <a:spcPct val="108000"/>
              </a:lnSpc>
              <a:spcAft>
                <a:spcPts val="350"/>
              </a:spcAft>
              <a:buNone/>
            </a:pPr>
            <a:r>
              <a:rPr lang="en-US" sz="1300" dirty="0">
                <a:solidFill>
                  <a:srgbClr val="2B2F36"/>
                </a:solidFill>
                <a:latin typeface="Arimo" pitchFamily="34" charset="0"/>
                <a:ea typeface="Arimo" pitchFamily="34" charset="-122"/>
                <a:cs typeface="Arimo" pitchFamily="34" charset="-120"/>
              </a:rPr>
              <a:t> Password sprayers intentionally attempt only 1 or 2 passwords per user to avoid traditional lockout policies.</a:t>
            </a:r>
            <a:endParaRPr lang="en-US" sz="1300" dirty="0"/>
          </a:p>
          <a:p>
            <a:pPr algn="l" indent="0" marL="0">
              <a:lnSpc>
                <a:spcPct val="108000"/>
              </a:lnSpc>
              <a:buNone/>
            </a:pPr>
            <a:r>
              <a:rPr lang="en-US" sz="1300" b="1" dirty="0">
                <a:solidFill>
                  <a:srgbClr val="2B2F36"/>
                </a:solidFill>
                <a:latin typeface="Arimo Bold" pitchFamily="34" charset="0"/>
                <a:ea typeface="Arimo Bold" pitchFamily="34" charset="-122"/>
                <a:cs typeface="Arimo Bold" pitchFamily="34" charset="-120"/>
              </a:rPr>
              <a:t>SentinelLog defense:</a:t>
            </a:r>
            <a:pPr algn="l" indent="0" marL="0">
              <a:lnSpc>
                <a:spcPct val="108000"/>
              </a:lnSpc>
              <a:buNone/>
            </a:pPr>
            <a:r>
              <a:rPr lang="en-US" sz="1300" dirty="0">
                <a:solidFill>
                  <a:srgbClr val="2B2F36"/>
                </a:solidFill>
                <a:latin typeface="Arimo" pitchFamily="34" charset="0"/>
                <a:ea typeface="Arimo" pitchFamily="34" charset="-122"/>
                <a:cs typeface="Arimo" pitchFamily="34" charset="-120"/>
              </a:rPr>
              <a:t> By tracking unique username cardinality </a:t>
            </a:r>
            <a:pPr algn="l" indent="0" marL="0">
              <a:lnSpc>
                <a:spcPct val="108000"/>
              </a:lnSpc>
              <a:buNone/>
            </a:pPr>
            <a:r>
              <a:rPr lang="en-US" sz="1300" dirty="0">
                <a:solidFill>
                  <a:srgbClr val="2B2F36"/>
                </a:solidFill>
                <a:highlight>
                  <a:srgbClr val="F2F4F6"/>
                </a:highlight>
                <a:latin typeface="Consolas" pitchFamily="34" charset="0"/>
                <a:ea typeface="Consolas" pitchFamily="34" charset="-122"/>
                <a:cs typeface="Consolas" pitchFamily="34" charset="-120"/>
              </a:rPr>
              <a:t>len(set(users)) ≥ 3</a:t>
            </a:r>
            <a:pPr algn="l" indent="0" marL="0">
              <a:lnSpc>
                <a:spcPct val="108000"/>
              </a:lnSpc>
              <a:buNone/>
            </a:pPr>
            <a:r>
              <a:rPr lang="en-US" sz="1300" dirty="0">
                <a:solidFill>
                  <a:srgbClr val="2B2F36"/>
                </a:solidFill>
                <a:latin typeface="Arimo" pitchFamily="34" charset="0"/>
                <a:ea typeface="Arimo" pitchFamily="34" charset="-122"/>
                <a:cs typeface="Arimo" pitchFamily="34" charset="-120"/>
              </a:rPr>
              <a:t> per source IP, the attack is unmasked regardless of per-user pacing.</a:t>
            </a:r>
            <a:endParaRPr lang="en-US" sz="1300" dirty="0"/>
          </a:p>
        </p:txBody>
      </p:sp>
      <p:sp>
        <p:nvSpPr>
          <p:cNvPr id="14" name="Shape 11"/>
          <p:cNvSpPr/>
          <p:nvPr/>
        </p:nvSpPr>
        <p:spPr>
          <a:xfrm>
            <a:off x="507987" y="4463951"/>
            <a:ext cx="3623577" cy="1050230"/>
          </a:xfrm>
          <a:prstGeom prst="rect">
            <a:avLst/>
          </a:prstGeom>
          <a:solidFill>
            <a:srgbClr val="F2F4F6"/>
          </a:solidFill>
          <a:ln/>
          <a:effectLst>
            <a:outerShdw sx="100000" sy="100000" kx="0" ky="0" algn="bl" rotWithShape="0" blurRad="30480" dist="11430" dir="5400000">
              <a:srgbClr val="0b1f3a">
                <a:alpha val="1000"/>
              </a:srgbClr>
            </a:outerShdw>
          </a:effectLst>
        </p:spPr>
        <p:txBody>
          <a:bodyPr/>
          <a:p/>
        </p:txBody>
      </p:sp>
      <p:sp>
        <p:nvSpPr>
          <p:cNvPr id="15" name="Text 12"/>
          <p:cNvSpPr/>
          <p:nvPr/>
        </p:nvSpPr>
        <p:spPr>
          <a:xfrm>
            <a:off x="685783" y="4590951"/>
            <a:ext cx="3445781" cy="173335"/>
          </a:xfrm>
          <a:prstGeom prst="rect">
            <a:avLst/>
          </a:prstGeom>
          <a:noFill/>
          <a:ln/>
        </p:spPr>
        <p:txBody>
          <a:bodyPr wrap="none" lIns="0" tIns="0" rIns="0" bIns="0" rtlCol="0" anchor="t"/>
          <a:lstStyle/>
          <a:p>
            <a:pPr algn="l" indent="0" marL="0">
              <a:lnSpc>
                <a:spcPct val="108000"/>
              </a:lnSpc>
              <a:buNone/>
            </a:pPr>
            <a:r>
              <a:rPr lang="en-US" sz="1050" dirty="0">
                <a:solidFill>
                  <a:srgbClr val="2B2F36"/>
                </a:solidFill>
                <a:latin typeface="Arimo" pitchFamily="34" charset="0"/>
                <a:ea typeface="Arimo" pitchFamily="34" charset="-122"/>
                <a:cs typeface="Arimo" pitchFamily="34" charset="-120"/>
              </a:rPr>
              <a:t>Source IP: </a:t>
            </a:r>
            <a:pPr algn="l" indent="0" marL="0">
              <a:lnSpc>
                <a:spcPct val="108000"/>
              </a:lnSpc>
              <a:buNone/>
            </a:pPr>
            <a:r>
              <a:rPr lang="en-US" sz="1050" dirty="0">
                <a:solidFill>
                  <a:srgbClr val="2B2F36"/>
                </a:solidFill>
                <a:highlight>
                  <a:srgbClr val="F2F4F6"/>
                </a:highlight>
                <a:latin typeface="Consolas" pitchFamily="34" charset="0"/>
                <a:ea typeface="Consolas" pitchFamily="34" charset="-122"/>
                <a:cs typeface="Consolas" pitchFamily="34" charset="-120"/>
              </a:rPr>
              <a:t>192.0.2.10</a:t>
            </a:r>
            <a:endParaRPr lang="en-US" sz="1050" dirty="0"/>
          </a:p>
        </p:txBody>
      </p:sp>
      <p:sp>
        <p:nvSpPr>
          <p:cNvPr id="16" name="Text 13"/>
          <p:cNvSpPr/>
          <p:nvPr/>
        </p:nvSpPr>
        <p:spPr>
          <a:xfrm>
            <a:off x="685783" y="4891286"/>
            <a:ext cx="3267985" cy="212725"/>
          </a:xfrm>
          <a:prstGeom prst="rect">
            <a:avLst/>
          </a:prstGeom>
          <a:noFill/>
          <a:ln/>
        </p:spPr>
        <p:txBody>
          <a:bodyPr wrap="none" lIns="0" tIns="0" rIns="0" bIns="0" rtlCol="0" anchor="t"/>
          <a:lstStyle/>
          <a:p>
            <a:pPr algn="l" indent="0" marL="0">
              <a:lnSpc>
                <a:spcPct val="104000"/>
              </a:lnSpc>
              <a:buNone/>
            </a:pPr>
            <a:r>
              <a:rPr lang="en-US" sz="1300" b="1" dirty="0">
                <a:solidFill>
                  <a:srgbClr val="2B2F36"/>
                </a:solidFill>
                <a:latin typeface="Arimo Bold" pitchFamily="34" charset="0"/>
                <a:ea typeface="Arimo Bold" pitchFamily="34" charset="-122"/>
                <a:cs typeface="Arimo Bold" pitchFamily="34" charset="-120"/>
              </a:rPr>
              <a:t>Target 1: </a:t>
            </a:r>
            <a:pPr algn="l" indent="0" marL="0">
              <a:lnSpc>
                <a:spcPct val="104000"/>
              </a:lnSpc>
              <a:buNone/>
            </a:pPr>
            <a:r>
              <a:rPr lang="en-US" sz="1300" b="1" dirty="0">
                <a:solidFill>
                  <a:srgbClr val="2B2F36"/>
                </a:solidFill>
                <a:highlight>
                  <a:srgbClr val="F2F4F6"/>
                </a:highlight>
                <a:latin typeface="Consolas" pitchFamily="34" charset="0"/>
                <a:ea typeface="Consolas" pitchFamily="34" charset="-122"/>
                <a:cs typeface="Consolas" pitchFamily="34" charset="-120"/>
              </a:rPr>
              <a:t>admin</a:t>
            </a:r>
            <a:endParaRPr lang="en-US" sz="1300" dirty="0"/>
          </a:p>
        </p:txBody>
      </p:sp>
      <p:sp>
        <p:nvSpPr>
          <p:cNvPr id="17" name="Text 14"/>
          <p:cNvSpPr/>
          <p:nvPr/>
        </p:nvSpPr>
        <p:spPr>
          <a:xfrm>
            <a:off x="685783" y="5205611"/>
            <a:ext cx="3445781" cy="181570"/>
          </a:xfrm>
          <a:prstGeom prst="rect">
            <a:avLst/>
          </a:prstGeom>
          <a:noFill/>
          <a:ln/>
        </p:spPr>
        <p:txBody>
          <a:bodyPr wrap="none" lIns="0" tIns="0" rIns="0" bIns="0" rtlCol="0" anchor="t"/>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Failed password at 10:10:02</a:t>
            </a:r>
            <a:endParaRPr lang="en-US" sz="1100" dirty="0"/>
          </a:p>
        </p:txBody>
      </p:sp>
      <p:sp>
        <p:nvSpPr>
          <p:cNvPr id="18" name="Shape 15"/>
          <p:cNvSpPr/>
          <p:nvPr/>
        </p:nvSpPr>
        <p:spPr>
          <a:xfrm>
            <a:off x="4283960" y="4463951"/>
            <a:ext cx="3623676" cy="1050230"/>
          </a:xfrm>
          <a:prstGeom prst="rect">
            <a:avLst/>
          </a:prstGeom>
          <a:solidFill>
            <a:srgbClr val="F2F4F6"/>
          </a:solidFill>
          <a:ln/>
          <a:effectLst>
            <a:outerShdw sx="100000" sy="100000" kx="0" ky="0" algn="bl" rotWithShape="0" blurRad="30480" dist="11430" dir="5400000">
              <a:srgbClr val="0b1f3a">
                <a:alpha val="1000"/>
              </a:srgbClr>
            </a:outerShdw>
          </a:effectLst>
        </p:spPr>
        <p:txBody>
          <a:bodyPr/>
          <a:p/>
        </p:txBody>
      </p:sp>
      <p:sp>
        <p:nvSpPr>
          <p:cNvPr id="19" name="Text 16"/>
          <p:cNvSpPr/>
          <p:nvPr/>
        </p:nvSpPr>
        <p:spPr>
          <a:xfrm>
            <a:off x="4461756" y="4590951"/>
            <a:ext cx="3445880" cy="173335"/>
          </a:xfrm>
          <a:prstGeom prst="rect">
            <a:avLst/>
          </a:prstGeom>
          <a:noFill/>
          <a:ln/>
        </p:spPr>
        <p:txBody>
          <a:bodyPr wrap="none" lIns="0" tIns="0" rIns="0" bIns="0" rtlCol="0" anchor="t"/>
          <a:lstStyle/>
          <a:p>
            <a:pPr algn="l" indent="0" marL="0">
              <a:lnSpc>
                <a:spcPct val="108000"/>
              </a:lnSpc>
              <a:buNone/>
            </a:pPr>
            <a:r>
              <a:rPr lang="en-US" sz="1050" dirty="0">
                <a:solidFill>
                  <a:srgbClr val="2B2F36"/>
                </a:solidFill>
                <a:latin typeface="Arimo" pitchFamily="34" charset="0"/>
                <a:ea typeface="Arimo" pitchFamily="34" charset="-122"/>
                <a:cs typeface="Arimo" pitchFamily="34" charset="-120"/>
              </a:rPr>
              <a:t>Source IP: </a:t>
            </a:r>
            <a:pPr algn="l" indent="0" marL="0">
              <a:lnSpc>
                <a:spcPct val="108000"/>
              </a:lnSpc>
              <a:buNone/>
            </a:pPr>
            <a:r>
              <a:rPr lang="en-US" sz="1050" dirty="0">
                <a:solidFill>
                  <a:srgbClr val="2B2F36"/>
                </a:solidFill>
                <a:highlight>
                  <a:srgbClr val="F2F4F6"/>
                </a:highlight>
                <a:latin typeface="Consolas" pitchFamily="34" charset="0"/>
                <a:ea typeface="Consolas" pitchFamily="34" charset="-122"/>
                <a:cs typeface="Consolas" pitchFamily="34" charset="-120"/>
              </a:rPr>
              <a:t>192.0.2.10</a:t>
            </a:r>
            <a:endParaRPr lang="en-US" sz="1050" dirty="0"/>
          </a:p>
        </p:txBody>
      </p:sp>
      <p:sp>
        <p:nvSpPr>
          <p:cNvPr id="20" name="Text 17"/>
          <p:cNvSpPr/>
          <p:nvPr/>
        </p:nvSpPr>
        <p:spPr>
          <a:xfrm>
            <a:off x="4461756" y="4891286"/>
            <a:ext cx="3268085" cy="212725"/>
          </a:xfrm>
          <a:prstGeom prst="rect">
            <a:avLst/>
          </a:prstGeom>
          <a:noFill/>
          <a:ln/>
        </p:spPr>
        <p:txBody>
          <a:bodyPr wrap="none" lIns="0" tIns="0" rIns="0" bIns="0" rtlCol="0" anchor="t"/>
          <a:lstStyle/>
          <a:p>
            <a:pPr algn="l" indent="0" marL="0">
              <a:lnSpc>
                <a:spcPct val="104000"/>
              </a:lnSpc>
              <a:buNone/>
            </a:pPr>
            <a:r>
              <a:rPr lang="en-US" sz="1300" b="1" dirty="0">
                <a:solidFill>
                  <a:srgbClr val="2B2F36"/>
                </a:solidFill>
                <a:latin typeface="Arimo Bold" pitchFamily="34" charset="0"/>
                <a:ea typeface="Arimo Bold" pitchFamily="34" charset="-122"/>
                <a:cs typeface="Arimo Bold" pitchFamily="34" charset="-120"/>
              </a:rPr>
              <a:t>Target 2: </a:t>
            </a:r>
            <a:pPr algn="l" indent="0" marL="0">
              <a:lnSpc>
                <a:spcPct val="104000"/>
              </a:lnSpc>
              <a:buNone/>
            </a:pPr>
            <a:r>
              <a:rPr lang="en-US" sz="1300" b="1" dirty="0">
                <a:solidFill>
                  <a:srgbClr val="2B2F36"/>
                </a:solidFill>
                <a:highlight>
                  <a:srgbClr val="F2F4F6"/>
                </a:highlight>
                <a:latin typeface="Consolas" pitchFamily="34" charset="0"/>
                <a:ea typeface="Consolas" pitchFamily="34" charset="-122"/>
                <a:cs typeface="Consolas" pitchFamily="34" charset="-120"/>
              </a:rPr>
              <a:t>root</a:t>
            </a:r>
            <a:endParaRPr lang="en-US" sz="1300" dirty="0"/>
          </a:p>
        </p:txBody>
      </p:sp>
      <p:sp>
        <p:nvSpPr>
          <p:cNvPr id="21" name="Text 18"/>
          <p:cNvSpPr/>
          <p:nvPr/>
        </p:nvSpPr>
        <p:spPr>
          <a:xfrm>
            <a:off x="4461756" y="5205611"/>
            <a:ext cx="3445880" cy="181570"/>
          </a:xfrm>
          <a:prstGeom prst="rect">
            <a:avLst/>
          </a:prstGeom>
          <a:noFill/>
          <a:ln/>
        </p:spPr>
        <p:txBody>
          <a:bodyPr wrap="none" lIns="0" tIns="0" rIns="0" bIns="0" rtlCol="0" anchor="t"/>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Failed password at 10:11:45</a:t>
            </a:r>
            <a:endParaRPr lang="en-US" sz="1100" dirty="0"/>
          </a:p>
        </p:txBody>
      </p:sp>
      <p:sp>
        <p:nvSpPr>
          <p:cNvPr id="22" name="Shape 19"/>
          <p:cNvSpPr/>
          <p:nvPr/>
        </p:nvSpPr>
        <p:spPr>
          <a:xfrm>
            <a:off x="8060032" y="4463951"/>
            <a:ext cx="3623676" cy="1050230"/>
          </a:xfrm>
          <a:prstGeom prst="rect">
            <a:avLst/>
          </a:prstGeom>
          <a:solidFill>
            <a:srgbClr val="0B1F3A"/>
          </a:solidFill>
          <a:ln/>
          <a:effectLst>
            <a:outerShdw sx="100000" sy="100000" kx="0" ky="0" algn="bl" rotWithShape="0" blurRad="30480" dist="11430" dir="5400000">
              <a:srgbClr val="0b1f3a">
                <a:alpha val="1000"/>
              </a:srgbClr>
            </a:outerShdw>
          </a:effectLst>
        </p:spPr>
        <p:txBody>
          <a:bodyPr/>
          <a:p/>
        </p:txBody>
      </p:sp>
      <p:sp>
        <p:nvSpPr>
          <p:cNvPr id="23" name="Text 20"/>
          <p:cNvSpPr/>
          <p:nvPr/>
        </p:nvSpPr>
        <p:spPr>
          <a:xfrm>
            <a:off x="8237828" y="4590951"/>
            <a:ext cx="3445880" cy="173335"/>
          </a:xfrm>
          <a:prstGeom prst="rect">
            <a:avLst/>
          </a:prstGeom>
          <a:noFill/>
          <a:ln/>
        </p:spPr>
        <p:txBody>
          <a:bodyPr wrap="none" lIns="0" tIns="0" rIns="0" bIns="0" rtlCol="0" anchor="t"/>
          <a:lstStyle/>
          <a:p>
            <a:pPr algn="l" indent="0" marL="0">
              <a:lnSpc>
                <a:spcPct val="108000"/>
              </a:lnSpc>
              <a:buNone/>
            </a:pPr>
            <a:r>
              <a:rPr lang="en-US" sz="1050" dirty="0">
                <a:solidFill>
                  <a:srgbClr val="FFFFFF"/>
                </a:solidFill>
                <a:latin typeface="Arimo" pitchFamily="34" charset="0"/>
                <a:ea typeface="Arimo" pitchFamily="34" charset="-122"/>
                <a:cs typeface="Arimo" pitchFamily="34" charset="-120"/>
              </a:rPr>
              <a:t>Source IP: </a:t>
            </a:r>
            <a:pPr algn="l" indent="0" marL="0">
              <a:lnSpc>
                <a:spcPct val="108000"/>
              </a:lnSpc>
              <a:buNone/>
            </a:pPr>
            <a:r>
              <a:rPr lang="en-US" sz="1050" dirty="0">
                <a:solidFill>
                  <a:srgbClr val="FFFFFF"/>
                </a:solidFill>
                <a:highlight>
                  <a:srgbClr val="F2F4F6"/>
                </a:highlight>
                <a:latin typeface="Consolas" pitchFamily="34" charset="0"/>
                <a:ea typeface="Consolas" pitchFamily="34" charset="-122"/>
                <a:cs typeface="Consolas" pitchFamily="34" charset="-120"/>
              </a:rPr>
              <a:t>192.0.2.10</a:t>
            </a:r>
            <a:endParaRPr lang="en-US" sz="1050" dirty="0"/>
          </a:p>
        </p:txBody>
      </p:sp>
      <p:sp>
        <p:nvSpPr>
          <p:cNvPr id="24" name="Text 21"/>
          <p:cNvSpPr/>
          <p:nvPr/>
        </p:nvSpPr>
        <p:spPr>
          <a:xfrm>
            <a:off x="8237828" y="4891286"/>
            <a:ext cx="3268085" cy="212725"/>
          </a:xfrm>
          <a:prstGeom prst="rect">
            <a:avLst/>
          </a:prstGeom>
          <a:noFill/>
          <a:ln/>
        </p:spPr>
        <p:txBody>
          <a:bodyPr wrap="none" lIns="0" tIns="0" rIns="0" bIns="0" rtlCol="0" anchor="t"/>
          <a:lstStyle/>
          <a:p>
            <a:pPr algn="l" indent="0" marL="0">
              <a:lnSpc>
                <a:spcPct val="104000"/>
              </a:lnSpc>
              <a:buNone/>
            </a:pPr>
            <a:r>
              <a:rPr lang="en-US" sz="1300" b="1" dirty="0">
                <a:solidFill>
                  <a:srgbClr val="FFFFFF"/>
                </a:solidFill>
                <a:latin typeface="Arimo Bold" pitchFamily="34" charset="0"/>
                <a:ea typeface="Arimo Bold" pitchFamily="34" charset="-122"/>
                <a:cs typeface="Arimo Bold" pitchFamily="34" charset="-120"/>
              </a:rPr>
              <a:t>Target 3: </a:t>
            </a:r>
            <a:pPr algn="l" indent="0" marL="0">
              <a:lnSpc>
                <a:spcPct val="104000"/>
              </a:lnSpc>
              <a:buNone/>
            </a:pPr>
            <a:r>
              <a:rPr lang="en-US" sz="1300" b="1" dirty="0">
                <a:solidFill>
                  <a:srgbClr val="FFFFFF"/>
                </a:solidFill>
                <a:highlight>
                  <a:srgbClr val="F2F4F6"/>
                </a:highlight>
                <a:latin typeface="Consolas" pitchFamily="34" charset="0"/>
                <a:ea typeface="Consolas" pitchFamily="34" charset="-122"/>
                <a:cs typeface="Consolas" pitchFamily="34" charset="-120"/>
              </a:rPr>
              <a:t>deploy</a:t>
            </a:r>
            <a:endParaRPr lang="en-US" sz="1300" dirty="0"/>
          </a:p>
        </p:txBody>
      </p:sp>
      <p:sp>
        <p:nvSpPr>
          <p:cNvPr id="25" name="Text 22"/>
          <p:cNvSpPr/>
          <p:nvPr/>
        </p:nvSpPr>
        <p:spPr>
          <a:xfrm>
            <a:off x="8237828" y="5205611"/>
            <a:ext cx="3445880" cy="181570"/>
          </a:xfrm>
          <a:prstGeom prst="rect">
            <a:avLst/>
          </a:prstGeom>
          <a:noFill/>
          <a:ln/>
        </p:spPr>
        <p:txBody>
          <a:bodyPr wrap="none" lIns="0" tIns="0" rIns="0" bIns="0" rtlCol="0" anchor="t"/>
          <a:lstStyle/>
          <a:p>
            <a:pPr algn="l" indent="0" marL="0">
              <a:lnSpc>
                <a:spcPct val="108000"/>
              </a:lnSpc>
              <a:buNone/>
            </a:pPr>
            <a:r>
              <a:rPr lang="en-US" sz="1100" b="1" dirty="0">
                <a:solidFill>
                  <a:srgbClr val="FFFFFF"/>
                </a:solidFill>
                <a:latin typeface="Arimo Bold" pitchFamily="34" charset="0"/>
                <a:ea typeface="Arimo Bold" pitchFamily="34" charset="-122"/>
                <a:cs typeface="Arimo Bold" pitchFamily="34" charset="-120"/>
              </a:rPr>
              <a:t>ALERT TRIGGERED (≥3 targets)</a:t>
            </a:r>
            <a:endParaRPr lang="en-US" sz="1100" dirty="0"/>
          </a:p>
        </p:txBody>
      </p:sp>
      <p:sp>
        <p:nvSpPr>
          <p:cNvPr id="26" name="Text 23"/>
          <p:cNvSpPr/>
          <p:nvPr/>
        </p:nvSpPr>
        <p:spPr>
          <a:xfrm>
            <a:off x="507987" y="6506865"/>
            <a:ext cx="11683708" cy="173335"/>
          </a:xfrm>
          <a:prstGeom prst="rect">
            <a:avLst/>
          </a:prstGeom>
          <a:noFill/>
          <a:ln/>
        </p:spPr>
        <p:txBody>
          <a:bodyPr wrap="none" lIns="0" tIns="0" rIns="0" bIns="0" rtlCol="0" anchor="t"/>
          <a:lstStyle/>
          <a:p>
            <a:pPr algn="l" indent="0" marL="0">
              <a:lnSpc>
                <a:spcPct val="108000"/>
              </a:lnSpc>
              <a:buNone/>
            </a:pPr>
            <a:r>
              <a:rPr lang="en-US" sz="1050" dirty="0">
                <a:solidFill>
                  <a:srgbClr val="5B6573"/>
                </a:solidFill>
                <a:latin typeface="Arimo" pitchFamily="34" charset="0"/>
                <a:ea typeface="Arimo" pitchFamily="34" charset="-122"/>
                <a:cs typeface="Arimo" pitchFamily="34" charset="-120"/>
              </a:rPr>
              <a:t>Rule Implementation: </a:t>
            </a:r>
            <a:pPr algn="l" indent="0" marL="0">
              <a:lnSpc>
                <a:spcPct val="108000"/>
              </a:lnSpc>
              <a:buNone/>
            </a:pPr>
            <a:r>
              <a:rPr lang="en-US" sz="1050" dirty="0">
                <a:solidFill>
                  <a:srgbClr val="2B2F36"/>
                </a:solidFill>
                <a:highlight>
                  <a:srgbClr val="F2F4F6"/>
                </a:highlight>
                <a:latin typeface="Consolas" pitchFamily="34" charset="0"/>
                <a:ea typeface="Consolas" pitchFamily="34" charset="-122"/>
                <a:cs typeface="Consolas" pitchFamily="34" charset="-120"/>
              </a:rPr>
              <a:t>rules.auth_002_cross_account_spray.py</a:t>
            </a:r>
            <a:pPr algn="l" indent="0" marL="0">
              <a:lnSpc>
                <a:spcPct val="108000"/>
              </a:lnSpc>
              <a:buNone/>
            </a:pPr>
            <a:r>
              <a:rPr lang="en-US" sz="1050" dirty="0">
                <a:solidFill>
                  <a:srgbClr val="5B6573"/>
                </a:solidFill>
                <a:latin typeface="Arimo" pitchFamily="34" charset="0"/>
                <a:ea typeface="Arimo" pitchFamily="34" charset="-122"/>
                <a:cs typeface="Arimo" pitchFamily="34" charset="-120"/>
              </a:rPr>
              <a:t> · Cardinality evaluation across sliding windows.</a:t>
            </a:r>
            <a:endParaRPr lang="en-US" sz="1050" dirty="0"/>
          </a:p>
        </p:txBody>
      </p:sp>
      <p:sp>
        <p:nvSpPr>
          <p:cNvPr id="27" name="Text 24"/>
          <p:cNvSpPr/>
          <p:nvPr/>
        </p:nvSpPr>
        <p:spPr>
          <a:xfrm>
            <a:off x="507987" y="6555085"/>
            <a:ext cx="1213415" cy="148530"/>
          </a:xfrm>
          <a:prstGeom prst="rect">
            <a:avLst/>
          </a:prstGeom>
          <a:noFill/>
          <a:ln/>
        </p:spPr>
        <p:txBody>
          <a:bodyPr wrap="none" lIns="0" tIns="0" rIns="0" bIns="0" rtlCol="0" anchor="ctr"/>
          <a:lstStyle/>
          <a:p>
            <a:pPr algn="l" indent="0" marL="0">
              <a:lnSpc>
                <a:spcPct val="108000"/>
              </a:lnSpc>
              <a:buNone/>
            </a:pPr>
            <a:r>
              <a:rPr lang="en-US" sz="900" dirty="0">
                <a:solidFill>
                  <a:srgbClr val="2B2F36"/>
                </a:solidFill>
                <a:latin typeface="Arimo" pitchFamily="34" charset="0"/>
                <a:ea typeface="Arimo" pitchFamily="34" charset="-122"/>
                <a:cs typeface="Arimo" pitchFamily="34" charset="-120"/>
              </a:rPr>
              <a:t>SentinelLog</a:t>
            </a:r>
            <a:endParaRPr lang="en-US" sz="900" dirty="0"/>
          </a:p>
        </p:txBody>
      </p:sp>
      <p:sp>
        <p:nvSpPr>
          <p:cNvPr id="28" name="Text 25"/>
          <p:cNvSpPr/>
          <p:nvPr/>
        </p:nvSpPr>
        <p:spPr>
          <a:xfrm>
            <a:off x="11620209" y="6555085"/>
            <a:ext cx="571486" cy="148530"/>
          </a:xfrm>
          <a:prstGeom prst="rect">
            <a:avLst/>
          </a:prstGeom>
          <a:noFill/>
          <a:ln/>
        </p:spPr>
        <p:txBody>
          <a:bodyPr wrap="none" lIns="0" tIns="0" rIns="0" bIns="0" rtlCol="0" anchor="ctr"/>
          <a:lstStyle/>
          <a:p>
            <a:pPr algn="l" indent="0" marL="0">
              <a:lnSpc>
                <a:spcPct val="108000"/>
              </a:lnSpc>
              <a:buNone/>
            </a:pPr>
            <a:r>
              <a:rPr lang="en-US" sz="900" dirty="0">
                <a:solidFill>
                  <a:srgbClr val="2B2F36"/>
                </a:solidFill>
                <a:latin typeface="Arimo" pitchFamily="34" charset="0"/>
                <a:ea typeface="Arimo" pitchFamily="34" charset="-122"/>
                <a:cs typeface="Arimo"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7987" y="330200"/>
            <a:ext cx="11683708"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DETECTION RULE DETAIL</a:t>
            </a:r>
            <a:endParaRPr lang="en-US" sz="950" dirty="0"/>
          </a:p>
        </p:txBody>
      </p:sp>
      <p:sp>
        <p:nvSpPr>
          <p:cNvPr id="3" name="Text 1"/>
          <p:cNvSpPr/>
          <p:nvPr/>
        </p:nvSpPr>
        <p:spPr>
          <a:xfrm>
            <a:off x="507987" y="532110"/>
            <a:ext cx="11175720" cy="398264"/>
          </a:xfrm>
          <a:prstGeom prst="rect">
            <a:avLst/>
          </a:prstGeom>
          <a:noFill/>
          <a:ln/>
        </p:spPr>
        <p:txBody>
          <a:bodyPr wrap="none" lIns="0" tIns="0" rIns="0" bIns="0" rtlCol="0" anchor="t"/>
          <a:lstStyle/>
          <a:p>
            <a:pPr algn="l" indent="0" marL="0">
              <a:lnSpc>
                <a:spcPct val="93000"/>
              </a:lnSpc>
              <a:buNone/>
            </a:pPr>
            <a:r>
              <a:rPr lang="en-US" sz="2800" b="1" spc="-14" kern="100" dirty="0">
                <a:solidFill>
                  <a:srgbClr val="0B1F3A"/>
                </a:solidFill>
                <a:latin typeface="Arimo Bold" pitchFamily="34" charset="0"/>
                <a:ea typeface="Arimo Bold" pitchFamily="34" charset="-122"/>
                <a:cs typeface="Arimo Bold" pitchFamily="34" charset="-120"/>
              </a:rPr>
              <a:t>AUTH-003 · Success after repeated failures</a:t>
            </a:r>
            <a:endParaRPr lang="en-US" sz="2800" dirty="0"/>
          </a:p>
        </p:txBody>
      </p:sp>
      <p:sp>
        <p:nvSpPr>
          <p:cNvPr id="4" name="Shape 2"/>
          <p:cNvSpPr/>
          <p:nvPr/>
        </p:nvSpPr>
        <p:spPr>
          <a:xfrm>
            <a:off x="507987" y="1111349"/>
            <a:ext cx="11175621" cy="19050"/>
          </a:xfrm>
          <a:prstGeom prst="roundRect">
            <a:avLst>
              <a:gd name="adj" fmla="val 49999"/>
            </a:avLst>
          </a:prstGeom>
          <a:solidFill>
            <a:srgbClr val="D5DAE0"/>
          </a:solidFill>
          <a:ln/>
        </p:spPr>
        <p:txBody>
          <a:bodyPr/>
          <a:p/>
        </p:txBody>
      </p:sp>
      <p:sp>
        <p:nvSpPr>
          <p:cNvPr id="5" name="Shape 3"/>
          <p:cNvSpPr/>
          <p:nvPr/>
        </p:nvSpPr>
        <p:spPr>
          <a:xfrm>
            <a:off x="507987" y="1298674"/>
            <a:ext cx="6981452" cy="3284637"/>
          </a:xfrm>
          <a:prstGeom prst="rect">
            <a:avLst/>
          </a:prstGeom>
          <a:noFill/>
          <a:ln w="6350">
            <a:solidFill>
              <a:srgbClr val="D5DAE0"/>
            </a:solidFill>
            <a:prstDash val="solid"/>
          </a:ln>
          <a:effectLst>
            <a:outerShdw sx="100000" sy="100000" kx="0" ky="0" algn="bl" rotWithShape="0" blurRad="30480" dist="11430" dir="5400000">
              <a:srgbClr val="0b1f3a">
                <a:alpha val="1000"/>
              </a:srgbClr>
            </a:outerShdw>
          </a:effectLst>
        </p:spPr>
        <p:txBody>
          <a:bodyPr/>
          <a:p/>
        </p:txBody>
      </p:sp>
      <p:sp>
        <p:nvSpPr>
          <p:cNvPr id="6" name="Text 4"/>
          <p:cNvSpPr/>
          <p:nvPr/>
        </p:nvSpPr>
        <p:spPr>
          <a:xfrm>
            <a:off x="742931" y="1508224"/>
            <a:ext cx="6746508"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RULE LOGIC SPECIFICATION</a:t>
            </a:r>
            <a:endParaRPr lang="en-US" sz="950" dirty="0"/>
          </a:p>
        </p:txBody>
      </p:sp>
      <p:sp>
        <p:nvSpPr>
          <p:cNvPr id="7" name="Text 5"/>
          <p:cNvSpPr/>
          <p:nvPr/>
        </p:nvSpPr>
        <p:spPr>
          <a:xfrm>
            <a:off x="742931" y="1710134"/>
            <a:ext cx="6511564" cy="238125"/>
          </a:xfrm>
          <a:prstGeom prst="rect">
            <a:avLst/>
          </a:prstGeom>
          <a:noFill/>
          <a:ln/>
        </p:spPr>
        <p:txBody>
          <a:bodyPr wrap="none" lIns="0" tIns="0" rIns="0" bIns="0" rtlCol="0" anchor="t"/>
          <a:lstStyle/>
          <a:p>
            <a:pPr algn="l" indent="0" marL="0">
              <a:lnSpc>
                <a:spcPct val="104000"/>
              </a:lnSpc>
              <a:buNone/>
            </a:pPr>
            <a:r>
              <a:rPr lang="en-US" sz="1500" b="1" dirty="0">
                <a:solidFill>
                  <a:srgbClr val="0B1F3A"/>
                </a:solidFill>
                <a:latin typeface="Arimo Bold" pitchFamily="34" charset="0"/>
                <a:ea typeface="Arimo Bold" pitchFamily="34" charset="-122"/>
                <a:cs typeface="Arimo Bold" pitchFamily="34" charset="-120"/>
              </a:rPr>
              <a:t>Compromise / Break-In Signal</a:t>
            </a:r>
            <a:endParaRPr lang="en-US" sz="1500" dirty="0"/>
          </a:p>
        </p:txBody>
      </p:sp>
      <p:sp>
        <p:nvSpPr>
          <p:cNvPr id="8" name="Text 6"/>
          <p:cNvSpPr/>
          <p:nvPr/>
        </p:nvSpPr>
        <p:spPr>
          <a:xfrm>
            <a:off x="742931" y="2049859"/>
            <a:ext cx="6511564" cy="363141"/>
          </a:xfrm>
          <a:prstGeom prst="rect">
            <a:avLst/>
          </a:prstGeom>
          <a:noFill/>
          <a:ln/>
        </p:spPr>
        <p:txBody>
          <a:bodyPr wrap="square" lIns="0" tIns="0" rIns="0" bIns="0" rtlCol="0" anchor="t">
            <a:normAutofit/>
          </a:bodyPr>
          <a:lstStyle/>
          <a:p>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Detects a successful authentication event preceded by a cluster of authentication failures for the same entity within a 900-second window.</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42931" y="2540000"/>
          <a:ext cx="6511564" cy="914400"/>
        </p:xfrm>
        <a:graphic>
          <a:graphicData uri="http://schemas.openxmlformats.org/drawingml/2006/table">
            <a:tbl>
              <a:tblPr/>
              <a:tblGrid>
                <a:gridCol w="2083641"/>
                <a:gridCol w="4427923"/>
              </a:tblGrid>
              <a:tr h="328902">
                <a:tc>
                  <a:txBody>
                    <a:bodyPr/>
                    <a:lstStyle/>
                    <a:p>
                      <a:pPr algn="l" indent="0" marL="0">
                        <a:buNone/>
                      </a:pPr>
                      <a:r>
                        <a:rPr lang="en-US" sz="1300" b="1" dirty="0">
                          <a:solidFill>
                            <a:srgbClr val="2B2F36"/>
                          </a:solidFill>
                          <a:latin typeface="Arimo" pitchFamily="34" charset="0"/>
                          <a:ea typeface="Arimo" pitchFamily="34" charset="-122"/>
                          <a:cs typeface="Arimo" pitchFamily="34" charset="-120"/>
                        </a:rPr>
                        <a:t>Rule ID</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dirty="0">
                          <a:solidFill>
                            <a:srgbClr val="2B2F36"/>
                          </a:solidFill>
                          <a:latin typeface="Consolas" pitchFamily="34" charset="0"/>
                          <a:ea typeface="Consolas" pitchFamily="34" charset="-122"/>
                          <a:cs typeface="Consolas" pitchFamily="34" charset="-120"/>
                        </a:rPr>
                        <a:t>AUTH-003</a:t>
                      </a:r>
                      <a:endParaRPr lang="en-US" sz="1300" dirty="0">
                        <a:latin typeface="Consolas" charset="0"/>
                        <a:ea typeface="Consolas" charset="0"/>
                        <a:cs typeface="Consolas"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22552">
                <a:tc>
                  <a:txBody>
                    <a:bodyPr/>
                    <a:lstStyle/>
                    <a:p>
                      <a:pPr algn="l" indent="0" marL="0">
                        <a:buNone/>
                      </a:pPr>
                      <a:r>
                        <a:rPr lang="en-US" sz="1300" b="1" dirty="0">
                          <a:solidFill>
                            <a:srgbClr val="2B2F36"/>
                          </a:solidFill>
                          <a:latin typeface="Arimo" pitchFamily="34" charset="0"/>
                          <a:ea typeface="Arimo" pitchFamily="34" charset="-122"/>
                          <a:cs typeface="Arimo" pitchFamily="34" charset="-120"/>
                        </a:rPr>
                        <a:t>Severity</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b="1" dirty="0">
                          <a:solidFill>
                            <a:srgbClr val="C0102F"/>
                          </a:solidFill>
                          <a:latin typeface="Arimo" pitchFamily="34" charset="0"/>
                          <a:ea typeface="Arimo" pitchFamily="34" charset="-122"/>
                          <a:cs typeface="Arimo" pitchFamily="34" charset="-120"/>
                        </a:rPr>
                        <a:t>High / Critical Alert</a:t>
                      </a:r>
                      <a:pPr algn="l" indent="0" marL="0">
                        <a:buNone/>
                      </a:pPr>
                      <a:r>
                        <a:rPr lang="en-US" sz="1300" b="1" dirty="0">
                          <a:solidFill>
                            <a:srgbClr val="2B2F36"/>
                          </a:solidFill>
                          <a:latin typeface="Arimo" pitchFamily="34" charset="0"/>
                          <a:ea typeface="Arimo" pitchFamily="34" charset="-122"/>
                          <a:cs typeface="Arimo" pitchFamily="34" charset="-120"/>
                        </a:rPr>
                        <a:t> (Active Access Gained)</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28902">
                <a:tc>
                  <a:txBody>
                    <a:bodyPr/>
                    <a:lstStyle/>
                    <a:p>
                      <a:pPr algn="l" indent="0" marL="0">
                        <a:buNone/>
                      </a:pPr>
                      <a:r>
                        <a:rPr lang="en-US" sz="1300" b="1" dirty="0">
                          <a:solidFill>
                            <a:srgbClr val="2B2F36"/>
                          </a:solidFill>
                          <a:latin typeface="Arimo" pitchFamily="34" charset="0"/>
                          <a:ea typeface="Arimo" pitchFamily="34" charset="-122"/>
                          <a:cs typeface="Arimo" pitchFamily="34" charset="-120"/>
                        </a:rPr>
                        <a:t>Correlation Key</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dirty="0">
                          <a:solidFill>
                            <a:srgbClr val="2B2F36"/>
                          </a:solidFill>
                          <a:latin typeface="Consolas" pitchFamily="34" charset="0"/>
                          <a:ea typeface="Consolas" pitchFamily="34" charset="-122"/>
                          <a:cs typeface="Consolas" pitchFamily="34" charset="-120"/>
                        </a:rPr>
                        <a:t>(source_ip, username)</a:t>
                      </a:r>
                      <a:endParaRPr lang="en-US" sz="1300" dirty="0">
                        <a:latin typeface="Consolas" charset="0"/>
                        <a:ea typeface="Consolas" charset="0"/>
                        <a:cs typeface="Consolas"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22552">
                <a:tc>
                  <a:txBody>
                    <a:bodyPr/>
                    <a:lstStyle/>
                    <a:p>
                      <a:pPr algn="l" indent="0" marL="0">
                        <a:buNone/>
                      </a:pPr>
                      <a:r>
                        <a:rPr lang="en-US" sz="1300" b="1" dirty="0">
                          <a:solidFill>
                            <a:srgbClr val="2B2F36"/>
                          </a:solidFill>
                          <a:latin typeface="Arimo" pitchFamily="34" charset="0"/>
                          <a:ea typeface="Arimo" pitchFamily="34" charset="-122"/>
                          <a:cs typeface="Arimo" pitchFamily="34" charset="-120"/>
                        </a:rPr>
                        <a:t>Condition</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b="1" dirty="0">
                          <a:solidFill>
                            <a:srgbClr val="2B2F36"/>
                          </a:solidFill>
                          <a:latin typeface="Arimo" pitchFamily="34" charset="0"/>
                          <a:ea typeface="Arimo" pitchFamily="34" charset="-122"/>
                          <a:cs typeface="Arimo" pitchFamily="34" charset="-120"/>
                        </a:rPr>
                        <a:t>≥ 3 failures followed by 1 SUCCESS</a:t>
                      </a:r>
                      <a:pPr algn="l" indent="0" marL="0">
                        <a:buNone/>
                      </a:pPr>
                      <a:r>
                        <a:rPr lang="en-US" sz="1300" b="1" dirty="0">
                          <a:solidFill>
                            <a:srgbClr val="2B2F36"/>
                          </a:solidFill>
                          <a:latin typeface="Arimo" pitchFamily="34" charset="0"/>
                          <a:ea typeface="Arimo" pitchFamily="34" charset="-122"/>
                          <a:cs typeface="Arimo" pitchFamily="34" charset="-120"/>
                        </a:rPr>
                        <a:t> within </a:t>
                      </a:r>
                      <a:pPr algn="l" indent="0" marL="0">
                        <a:buNone/>
                      </a:pPr>
                      <a:r>
                        <a:rPr lang="en-US" sz="1300" b="1" dirty="0">
                          <a:solidFill>
                            <a:srgbClr val="2B2F36"/>
                          </a:solidFill>
                          <a:latin typeface="Arimo" pitchFamily="34" charset="0"/>
                          <a:ea typeface="Arimo" pitchFamily="34" charset="-122"/>
                          <a:cs typeface="Arimo" pitchFamily="34" charset="-120"/>
                        </a:rPr>
                        <a:t>900s</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530807">
                <a:tc>
                  <a:txBody>
                    <a:bodyPr/>
                    <a:lstStyle/>
                    <a:p>
                      <a:pPr algn="l" indent="0" marL="0">
                        <a:buNone/>
                      </a:pPr>
                      <a:r>
                        <a:rPr lang="en-US" sz="1300" b="1" dirty="0">
                          <a:solidFill>
                            <a:srgbClr val="2B2F36"/>
                          </a:solidFill>
                          <a:latin typeface="Arimo" pitchFamily="34" charset="0"/>
                          <a:ea typeface="Arimo" pitchFamily="34" charset="-122"/>
                          <a:cs typeface="Arimo" pitchFamily="34" charset="-120"/>
                        </a:rPr>
                        <a:t>Urgency</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Potential account takeover, successful brute force, or valid password guess</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10" name="Shape 7"/>
          <p:cNvSpPr/>
          <p:nvPr/>
        </p:nvSpPr>
        <p:spPr>
          <a:xfrm>
            <a:off x="7641736" y="1298674"/>
            <a:ext cx="4041972" cy="3284637"/>
          </a:xfrm>
          <a:prstGeom prst="rect">
            <a:avLst/>
          </a:prstGeom>
          <a:solidFill>
            <a:srgbClr val="F2F4F6"/>
          </a:solidFill>
          <a:ln/>
        </p:spPr>
        <p:txBody>
          <a:bodyPr/>
          <a:p/>
        </p:txBody>
      </p:sp>
      <p:sp>
        <p:nvSpPr>
          <p:cNvPr id="11" name="Shape 8"/>
          <p:cNvSpPr/>
          <p:nvPr/>
        </p:nvSpPr>
        <p:spPr>
          <a:xfrm>
            <a:off x="7641736" y="1298674"/>
            <a:ext cx="38099" cy="3284637"/>
          </a:xfrm>
          <a:prstGeom prst="rect">
            <a:avLst/>
          </a:prstGeom>
          <a:solidFill>
            <a:srgbClr val="C0102F"/>
          </a:solidFill>
          <a:ln/>
        </p:spPr>
        <p:txBody>
          <a:bodyPr/>
          <a:p/>
        </p:txBody>
      </p:sp>
      <p:sp>
        <p:nvSpPr>
          <p:cNvPr id="12" name="Text 9"/>
          <p:cNvSpPr/>
          <p:nvPr/>
        </p:nvSpPr>
        <p:spPr>
          <a:xfrm>
            <a:off x="7908429" y="1501874"/>
            <a:ext cx="3775278"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2B2F36"/>
                </a:solidFill>
                <a:latin typeface="Arimo Bold" pitchFamily="34" charset="0"/>
                <a:ea typeface="Arimo Bold" pitchFamily="34" charset="-122"/>
                <a:cs typeface="Arimo Bold" pitchFamily="34" charset="-120"/>
              </a:rPr>
              <a:t>IMMEDIATE RESPONSE VALUE</a:t>
            </a:r>
            <a:endParaRPr lang="en-US" sz="950" dirty="0"/>
          </a:p>
        </p:txBody>
      </p:sp>
      <p:sp>
        <p:nvSpPr>
          <p:cNvPr id="13" name="Text 10"/>
          <p:cNvSpPr/>
          <p:nvPr/>
        </p:nvSpPr>
        <p:spPr>
          <a:xfrm>
            <a:off x="7908429" y="1697434"/>
            <a:ext cx="3546684" cy="1338461"/>
          </a:xfrm>
          <a:prstGeom prst="rect">
            <a:avLst/>
          </a:prstGeom>
          <a:noFill/>
          <a:ln/>
        </p:spPr>
        <p:txBody>
          <a:bodyPr wrap="square" lIns="0" tIns="0" rIns="0" bIns="0" rtlCol="0" anchor="t">
            <a:normAutofit/>
          </a:bodyPr>
          <a:lstStyle/>
          <a:p>
            <a:pPr algn="l" indent="0" marL="0">
              <a:lnSpc>
                <a:spcPct val="108000"/>
              </a:lnSpc>
              <a:spcAft>
                <a:spcPts val="350"/>
              </a:spcAft>
              <a:buNone/>
            </a:pPr>
            <a:r>
              <a:rPr lang="en-US" sz="1300" b="1" dirty="0">
                <a:solidFill>
                  <a:srgbClr val="2B2F36"/>
                </a:solidFill>
                <a:latin typeface="Arimo Bold" pitchFamily="34" charset="0"/>
                <a:ea typeface="Arimo Bold" pitchFamily="34" charset="-122"/>
                <a:cs typeface="Arimo Bold" pitchFamily="34" charset="-120"/>
              </a:rPr>
              <a:t>Differentiating Context:</a:t>
            </a:r>
            <a:pPr algn="l" indent="0" marL="0">
              <a:lnSpc>
                <a:spcPct val="108000"/>
              </a:lnSpc>
              <a:spcAft>
                <a:spcPts val="350"/>
              </a:spcAft>
              <a:buNone/>
            </a:pPr>
            <a:r>
              <a:rPr lang="en-US" sz="1300" dirty="0">
                <a:solidFill>
                  <a:srgbClr val="2B2F36"/>
                </a:solidFill>
                <a:latin typeface="Arimo" pitchFamily="34" charset="0"/>
                <a:ea typeface="Arimo" pitchFamily="34" charset="-122"/>
                <a:cs typeface="Arimo" pitchFamily="34" charset="-120"/>
              </a:rPr>
              <a:t> A success login by itself looks completely benign in audit logs.</a:t>
            </a:r>
            <a:endParaRPr lang="en-US" sz="1300" dirty="0"/>
          </a:p>
          <a:p>
            <a:pPr algn="l" indent="0" marL="0">
              <a:lnSpc>
                <a:spcPct val="108000"/>
              </a:lnSpc>
              <a:buNone/>
            </a:pPr>
            <a:r>
              <a:rPr lang="en-US" sz="1300" b="1" dirty="0">
                <a:solidFill>
                  <a:srgbClr val="2B2F36"/>
                </a:solidFill>
                <a:latin typeface="Arimo Bold" pitchFamily="34" charset="0"/>
                <a:ea typeface="Arimo Bold" pitchFamily="34" charset="-122"/>
                <a:cs typeface="Arimo Bold" pitchFamily="34" charset="-120"/>
              </a:rPr>
              <a:t>The Forensic Clue:</a:t>
            </a:r>
            <a:pPr algn="l" indent="0" marL="0">
              <a:lnSpc>
                <a:spcPct val="108000"/>
              </a:lnSpc>
              <a:buNone/>
            </a:pPr>
            <a:r>
              <a:rPr lang="en-US" sz="1300" dirty="0">
                <a:solidFill>
                  <a:srgbClr val="2B2F36"/>
                </a:solidFill>
                <a:latin typeface="Arimo" pitchFamily="34" charset="0"/>
                <a:ea typeface="Arimo" pitchFamily="34" charset="-122"/>
                <a:cs typeface="Arimo" pitchFamily="34" charset="-120"/>
              </a:rPr>
              <a:t> Tying that success directly to the preceding failure sequence transforms routine access into an urgent active session containment review.</a:t>
            </a:r>
            <a:endParaRPr lang="en-US" sz="1300" dirty="0"/>
          </a:p>
        </p:txBody>
      </p:sp>
      <p:sp>
        <p:nvSpPr>
          <p:cNvPr id="14" name="Shape 11"/>
          <p:cNvSpPr/>
          <p:nvPr/>
        </p:nvSpPr>
        <p:spPr>
          <a:xfrm>
            <a:off x="507987" y="4735711"/>
            <a:ext cx="2793930" cy="691455"/>
          </a:xfrm>
          <a:custGeom>
            <a:avLst/>
            <a:gdLst/>
            <a:ahLst/>
            <a:cxnLst/>
            <a:rect l="l" t="t" r="r" b="b"/>
            <a:pathLst>
              <a:path w="2793930" h="691455">
                <a:moveTo>
                  <a:pt x="9525" y="0"/>
                </a:moveTo>
                <a:lnTo>
                  <a:pt x="2793930" y="0"/>
                </a:lnTo>
                <a:lnTo>
                  <a:pt x="2793930" y="691455"/>
                </a:lnTo>
                <a:lnTo>
                  <a:pt x="9525" y="691455"/>
                </a:lnTo>
                <a:arcTo hR="9525" wR="9525" stAng="5400000" swAng="5400000"/>
                <a:lnTo>
                  <a:pt x="0" y="9525"/>
                </a:lnTo>
                <a:arcTo hR="9525" wR="9525" stAng="10800000" swAng="5400000"/>
                <a:close/>
              </a:path>
            </a:pathLst>
          </a:custGeom>
          <a:solidFill>
            <a:srgbClr val="F2F4F6"/>
          </a:solidFill>
          <a:ln/>
        </p:spPr>
        <p:txBody>
          <a:bodyPr/>
          <a:p/>
        </p:txBody>
      </p:sp>
      <p:sp>
        <p:nvSpPr>
          <p:cNvPr id="15" name="Text 12"/>
          <p:cNvSpPr/>
          <p:nvPr/>
        </p:nvSpPr>
        <p:spPr>
          <a:xfrm>
            <a:off x="685783" y="4862711"/>
            <a:ext cx="2616135" cy="173335"/>
          </a:xfrm>
          <a:prstGeom prst="rect">
            <a:avLst/>
          </a:prstGeom>
          <a:noFill/>
          <a:ln/>
        </p:spPr>
        <p:txBody>
          <a:bodyPr wrap="none" lIns="0" tIns="0" rIns="0" bIns="0" rtlCol="0" anchor="t"/>
          <a:lstStyle/>
          <a:p>
            <a:pPr algn="l" indent="0" marL="0">
              <a:lnSpc>
                <a:spcPct val="108000"/>
              </a:lnSpc>
              <a:buNone/>
            </a:pPr>
            <a:r>
              <a:rPr lang="en-US" sz="1050" dirty="0">
                <a:solidFill>
                  <a:srgbClr val="2B2F36"/>
                </a:solidFill>
                <a:latin typeface="Arimo" pitchFamily="34" charset="0"/>
                <a:ea typeface="Arimo" pitchFamily="34" charset="-122"/>
                <a:cs typeface="Arimo" pitchFamily="34" charset="-120"/>
              </a:rPr>
              <a:t>10:20:10 · </a:t>
            </a:r>
            <a:pPr algn="l" indent="0" marL="0">
              <a:lnSpc>
                <a:spcPct val="108000"/>
              </a:lnSpc>
              <a:buNone/>
            </a:pPr>
            <a:r>
              <a:rPr lang="en-US" sz="1050" dirty="0">
                <a:solidFill>
                  <a:srgbClr val="2B2F36"/>
                </a:solidFill>
                <a:highlight>
                  <a:srgbClr val="F2F4F6"/>
                </a:highlight>
                <a:latin typeface="Consolas" pitchFamily="34" charset="0"/>
                <a:ea typeface="Consolas" pitchFamily="34" charset="-122"/>
                <a:cs typeface="Consolas" pitchFamily="34" charset="-120"/>
              </a:rPr>
              <a:t>192.0.2.10</a:t>
            </a:r>
            <a:endParaRPr lang="en-US" sz="1050" dirty="0"/>
          </a:p>
        </p:txBody>
      </p:sp>
      <p:sp>
        <p:nvSpPr>
          <p:cNvPr id="16" name="Text 13"/>
          <p:cNvSpPr/>
          <p:nvPr/>
        </p:nvSpPr>
        <p:spPr>
          <a:xfrm>
            <a:off x="685783" y="5118596"/>
            <a:ext cx="2616135" cy="181570"/>
          </a:xfrm>
          <a:prstGeom prst="rect">
            <a:avLst/>
          </a:prstGeom>
          <a:noFill/>
          <a:ln/>
        </p:spPr>
        <p:txBody>
          <a:bodyPr wrap="none" lIns="0" tIns="0" rIns="0" bIns="0" rtlCol="0" anchor="t"/>
          <a:lstStyle/>
          <a:p>
            <a:pPr algn="l" indent="0" marL="0">
              <a:lnSpc>
                <a:spcPct val="108000"/>
              </a:lnSpc>
              <a:buNone/>
            </a:pPr>
            <a:r>
              <a:rPr lang="en-US" sz="1100" dirty="0">
                <a:solidFill>
                  <a:srgbClr val="C0102F"/>
                </a:solidFill>
                <a:latin typeface="Arimo" pitchFamily="34" charset="0"/>
                <a:ea typeface="Arimo" pitchFamily="34" charset="-122"/>
                <a:cs typeface="Arimo" pitchFamily="34" charset="-120"/>
              </a:rPr>
              <a:t>FAILED</a:t>
            </a:r>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 (analyst)</a:t>
            </a:r>
            <a:endParaRPr lang="en-US" sz="1100" dirty="0"/>
          </a:p>
        </p:txBody>
      </p:sp>
      <p:sp>
        <p:nvSpPr>
          <p:cNvPr id="17" name="Shape 14"/>
          <p:cNvSpPr/>
          <p:nvPr/>
        </p:nvSpPr>
        <p:spPr>
          <a:xfrm>
            <a:off x="3301917" y="4735711"/>
            <a:ext cx="2793930" cy="691455"/>
          </a:xfrm>
          <a:prstGeom prst="rect">
            <a:avLst/>
          </a:prstGeom>
          <a:solidFill>
            <a:srgbClr val="F2F4F6"/>
          </a:solidFill>
          <a:ln/>
        </p:spPr>
        <p:txBody>
          <a:bodyPr/>
          <a:p/>
        </p:txBody>
      </p:sp>
      <p:sp>
        <p:nvSpPr>
          <p:cNvPr id="18" name="Text 15"/>
          <p:cNvSpPr/>
          <p:nvPr/>
        </p:nvSpPr>
        <p:spPr>
          <a:xfrm>
            <a:off x="3479713" y="4862711"/>
            <a:ext cx="2616135" cy="173335"/>
          </a:xfrm>
          <a:prstGeom prst="rect">
            <a:avLst/>
          </a:prstGeom>
          <a:noFill/>
          <a:ln/>
        </p:spPr>
        <p:txBody>
          <a:bodyPr wrap="none" lIns="0" tIns="0" rIns="0" bIns="0" rtlCol="0" anchor="t"/>
          <a:lstStyle/>
          <a:p>
            <a:pPr algn="l" indent="0" marL="0">
              <a:lnSpc>
                <a:spcPct val="108000"/>
              </a:lnSpc>
              <a:buNone/>
            </a:pPr>
            <a:r>
              <a:rPr lang="en-US" sz="1050" dirty="0">
                <a:solidFill>
                  <a:srgbClr val="2B2F36"/>
                </a:solidFill>
                <a:latin typeface="Arimo" pitchFamily="34" charset="0"/>
                <a:ea typeface="Arimo" pitchFamily="34" charset="-122"/>
                <a:cs typeface="Arimo" pitchFamily="34" charset="-120"/>
              </a:rPr>
              <a:t>10:21:05 · </a:t>
            </a:r>
            <a:pPr algn="l" indent="0" marL="0">
              <a:lnSpc>
                <a:spcPct val="108000"/>
              </a:lnSpc>
              <a:buNone/>
            </a:pPr>
            <a:r>
              <a:rPr lang="en-US" sz="1050" dirty="0">
                <a:solidFill>
                  <a:srgbClr val="2B2F36"/>
                </a:solidFill>
                <a:highlight>
                  <a:srgbClr val="F2F4F6"/>
                </a:highlight>
                <a:latin typeface="Consolas" pitchFamily="34" charset="0"/>
                <a:ea typeface="Consolas" pitchFamily="34" charset="-122"/>
                <a:cs typeface="Consolas" pitchFamily="34" charset="-120"/>
              </a:rPr>
              <a:t>192.0.2.10</a:t>
            </a:r>
            <a:endParaRPr lang="en-US" sz="1050" dirty="0"/>
          </a:p>
        </p:txBody>
      </p:sp>
      <p:sp>
        <p:nvSpPr>
          <p:cNvPr id="19" name="Text 16"/>
          <p:cNvSpPr/>
          <p:nvPr/>
        </p:nvSpPr>
        <p:spPr>
          <a:xfrm>
            <a:off x="3479713" y="5118596"/>
            <a:ext cx="2616135" cy="181570"/>
          </a:xfrm>
          <a:prstGeom prst="rect">
            <a:avLst/>
          </a:prstGeom>
          <a:noFill/>
          <a:ln/>
        </p:spPr>
        <p:txBody>
          <a:bodyPr wrap="none" lIns="0" tIns="0" rIns="0" bIns="0" rtlCol="0" anchor="t"/>
          <a:lstStyle/>
          <a:p>
            <a:pPr algn="l" indent="0" marL="0">
              <a:lnSpc>
                <a:spcPct val="108000"/>
              </a:lnSpc>
              <a:buNone/>
            </a:pPr>
            <a:r>
              <a:rPr lang="en-US" sz="1100" dirty="0">
                <a:solidFill>
                  <a:srgbClr val="C0102F"/>
                </a:solidFill>
                <a:latin typeface="Arimo" pitchFamily="34" charset="0"/>
                <a:ea typeface="Arimo" pitchFamily="34" charset="-122"/>
                <a:cs typeface="Arimo" pitchFamily="34" charset="-120"/>
              </a:rPr>
              <a:t>FAILED</a:t>
            </a:r>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 (analyst)</a:t>
            </a:r>
            <a:endParaRPr lang="en-US" sz="1100" dirty="0"/>
          </a:p>
        </p:txBody>
      </p:sp>
      <p:sp>
        <p:nvSpPr>
          <p:cNvPr id="20" name="Shape 17"/>
          <p:cNvSpPr/>
          <p:nvPr/>
        </p:nvSpPr>
        <p:spPr>
          <a:xfrm>
            <a:off x="6095848" y="4735711"/>
            <a:ext cx="2793930" cy="691455"/>
          </a:xfrm>
          <a:prstGeom prst="rect">
            <a:avLst/>
          </a:prstGeom>
          <a:solidFill>
            <a:srgbClr val="F2F4F6"/>
          </a:solidFill>
          <a:ln/>
        </p:spPr>
        <p:txBody>
          <a:bodyPr/>
          <a:p/>
        </p:txBody>
      </p:sp>
      <p:sp>
        <p:nvSpPr>
          <p:cNvPr id="21" name="Text 18"/>
          <p:cNvSpPr/>
          <p:nvPr/>
        </p:nvSpPr>
        <p:spPr>
          <a:xfrm>
            <a:off x="6273643" y="4862711"/>
            <a:ext cx="2616135" cy="173335"/>
          </a:xfrm>
          <a:prstGeom prst="rect">
            <a:avLst/>
          </a:prstGeom>
          <a:noFill/>
          <a:ln/>
        </p:spPr>
        <p:txBody>
          <a:bodyPr wrap="none" lIns="0" tIns="0" rIns="0" bIns="0" rtlCol="0" anchor="t"/>
          <a:lstStyle/>
          <a:p>
            <a:pPr algn="l" indent="0" marL="0">
              <a:lnSpc>
                <a:spcPct val="108000"/>
              </a:lnSpc>
              <a:buNone/>
            </a:pPr>
            <a:r>
              <a:rPr lang="en-US" sz="1050" dirty="0">
                <a:solidFill>
                  <a:srgbClr val="2B2F36"/>
                </a:solidFill>
                <a:latin typeface="Arimo" pitchFamily="34" charset="0"/>
                <a:ea typeface="Arimo" pitchFamily="34" charset="-122"/>
                <a:cs typeface="Arimo" pitchFamily="34" charset="-120"/>
              </a:rPr>
              <a:t>10:22:30 · </a:t>
            </a:r>
            <a:pPr algn="l" indent="0" marL="0">
              <a:lnSpc>
                <a:spcPct val="108000"/>
              </a:lnSpc>
              <a:buNone/>
            </a:pPr>
            <a:r>
              <a:rPr lang="en-US" sz="1050" dirty="0">
                <a:solidFill>
                  <a:srgbClr val="2B2F36"/>
                </a:solidFill>
                <a:highlight>
                  <a:srgbClr val="F2F4F6"/>
                </a:highlight>
                <a:latin typeface="Consolas" pitchFamily="34" charset="0"/>
                <a:ea typeface="Consolas" pitchFamily="34" charset="-122"/>
                <a:cs typeface="Consolas" pitchFamily="34" charset="-120"/>
              </a:rPr>
              <a:t>192.0.2.10</a:t>
            </a:r>
            <a:endParaRPr lang="en-US" sz="1050" dirty="0"/>
          </a:p>
        </p:txBody>
      </p:sp>
      <p:sp>
        <p:nvSpPr>
          <p:cNvPr id="22" name="Text 19"/>
          <p:cNvSpPr/>
          <p:nvPr/>
        </p:nvSpPr>
        <p:spPr>
          <a:xfrm>
            <a:off x="6273643" y="5118596"/>
            <a:ext cx="2616135" cy="181570"/>
          </a:xfrm>
          <a:prstGeom prst="rect">
            <a:avLst/>
          </a:prstGeom>
          <a:noFill/>
          <a:ln/>
        </p:spPr>
        <p:txBody>
          <a:bodyPr wrap="none" lIns="0" tIns="0" rIns="0" bIns="0" rtlCol="0" anchor="t"/>
          <a:lstStyle/>
          <a:p>
            <a:pPr algn="l" indent="0" marL="0">
              <a:lnSpc>
                <a:spcPct val="108000"/>
              </a:lnSpc>
              <a:buNone/>
            </a:pPr>
            <a:r>
              <a:rPr lang="en-US" sz="1100" dirty="0">
                <a:solidFill>
                  <a:srgbClr val="C0102F"/>
                </a:solidFill>
                <a:latin typeface="Arimo" pitchFamily="34" charset="0"/>
                <a:ea typeface="Arimo" pitchFamily="34" charset="-122"/>
                <a:cs typeface="Arimo" pitchFamily="34" charset="-120"/>
              </a:rPr>
              <a:t>FAILED</a:t>
            </a:r>
            <a:pPr algn="l" indent="0" marL="0">
              <a:lnSpc>
                <a:spcPct val="108000"/>
              </a:lnSpc>
              <a:buNone/>
            </a:pPr>
            <a:r>
              <a:rPr lang="en-US" sz="1100" dirty="0">
                <a:solidFill>
                  <a:srgbClr val="2B2F36"/>
                </a:solidFill>
                <a:latin typeface="Arimo" pitchFamily="34" charset="0"/>
                <a:ea typeface="Arimo" pitchFamily="34" charset="-122"/>
                <a:cs typeface="Arimo" pitchFamily="34" charset="-120"/>
              </a:rPr>
              <a:t> (analyst)</a:t>
            </a:r>
            <a:endParaRPr lang="en-US" sz="1100" dirty="0"/>
          </a:p>
        </p:txBody>
      </p:sp>
      <p:sp>
        <p:nvSpPr>
          <p:cNvPr id="23" name="Shape 20"/>
          <p:cNvSpPr/>
          <p:nvPr/>
        </p:nvSpPr>
        <p:spPr>
          <a:xfrm>
            <a:off x="8889778" y="4735711"/>
            <a:ext cx="2793930" cy="691455"/>
          </a:xfrm>
          <a:custGeom>
            <a:avLst/>
            <a:gdLst/>
            <a:ahLst/>
            <a:cxnLst/>
            <a:rect l="l" t="t" r="r" b="b"/>
            <a:pathLst>
              <a:path w="2793930" h="691455">
                <a:moveTo>
                  <a:pt x="0" y="0"/>
                </a:moveTo>
                <a:lnTo>
                  <a:pt x="2784405" y="0"/>
                </a:lnTo>
                <a:arcTo hR="9525" wR="9525" stAng="16200000" swAng="5400000"/>
                <a:lnTo>
                  <a:pt x="2793930" y="681930"/>
                </a:lnTo>
                <a:arcTo hR="9525" wR="9525" stAng="0" swAng="5400000"/>
                <a:lnTo>
                  <a:pt x="0" y="691455"/>
                </a:lnTo>
                <a:lnTo>
                  <a:pt x="0" y="0"/>
                </a:lnTo>
                <a:close/>
              </a:path>
            </a:pathLst>
          </a:custGeom>
          <a:solidFill>
            <a:srgbClr val="0B1F3A"/>
          </a:solidFill>
          <a:ln/>
        </p:spPr>
        <p:txBody>
          <a:bodyPr/>
          <a:p/>
        </p:txBody>
      </p:sp>
      <p:sp>
        <p:nvSpPr>
          <p:cNvPr id="24" name="Text 21"/>
          <p:cNvSpPr/>
          <p:nvPr/>
        </p:nvSpPr>
        <p:spPr>
          <a:xfrm>
            <a:off x="9067573" y="4862711"/>
            <a:ext cx="2616135" cy="173335"/>
          </a:xfrm>
          <a:prstGeom prst="rect">
            <a:avLst/>
          </a:prstGeom>
          <a:noFill/>
          <a:ln/>
        </p:spPr>
        <p:txBody>
          <a:bodyPr wrap="none" lIns="0" tIns="0" rIns="0" bIns="0" rtlCol="0" anchor="t"/>
          <a:lstStyle/>
          <a:p>
            <a:pPr algn="l" indent="0" marL="0">
              <a:lnSpc>
                <a:spcPct val="108000"/>
              </a:lnSpc>
              <a:buNone/>
            </a:pPr>
            <a:r>
              <a:rPr lang="en-US" sz="1050" dirty="0">
                <a:solidFill>
                  <a:srgbClr val="FFFFFF"/>
                </a:solidFill>
                <a:latin typeface="Arimo" pitchFamily="34" charset="0"/>
                <a:ea typeface="Arimo" pitchFamily="34" charset="-122"/>
                <a:cs typeface="Arimo" pitchFamily="34" charset="-120"/>
              </a:rPr>
              <a:t>10:23:14 · </a:t>
            </a:r>
            <a:pPr algn="l" indent="0" marL="0">
              <a:lnSpc>
                <a:spcPct val="108000"/>
              </a:lnSpc>
              <a:buNone/>
            </a:pPr>
            <a:r>
              <a:rPr lang="en-US" sz="1050" dirty="0">
                <a:solidFill>
                  <a:srgbClr val="FFFFFF"/>
                </a:solidFill>
                <a:highlight>
                  <a:srgbClr val="F2F4F6"/>
                </a:highlight>
                <a:latin typeface="Consolas" pitchFamily="34" charset="0"/>
                <a:ea typeface="Consolas" pitchFamily="34" charset="-122"/>
                <a:cs typeface="Consolas" pitchFamily="34" charset="-120"/>
              </a:rPr>
              <a:t>192.0.2.10</a:t>
            </a:r>
            <a:endParaRPr lang="en-US" sz="1050" dirty="0"/>
          </a:p>
        </p:txBody>
      </p:sp>
      <p:sp>
        <p:nvSpPr>
          <p:cNvPr id="25" name="Text 22"/>
          <p:cNvSpPr/>
          <p:nvPr/>
        </p:nvSpPr>
        <p:spPr>
          <a:xfrm>
            <a:off x="9067573" y="5118596"/>
            <a:ext cx="2616135" cy="181570"/>
          </a:xfrm>
          <a:prstGeom prst="rect">
            <a:avLst/>
          </a:prstGeom>
          <a:noFill/>
          <a:ln/>
        </p:spPr>
        <p:txBody>
          <a:bodyPr wrap="none" lIns="0" tIns="0" rIns="0" bIns="0" rtlCol="0" anchor="t"/>
          <a:lstStyle/>
          <a:p>
            <a:pPr algn="l" indent="0" marL="0">
              <a:lnSpc>
                <a:spcPct val="108000"/>
              </a:lnSpc>
              <a:buNone/>
            </a:pPr>
            <a:r>
              <a:rPr lang="en-US" sz="1100" b="1" dirty="0">
                <a:solidFill>
                  <a:srgbClr val="FFFFFF"/>
                </a:solidFill>
                <a:latin typeface="Arimo Bold" pitchFamily="34" charset="0"/>
                <a:ea typeface="Arimo Bold" pitchFamily="34" charset="-122"/>
                <a:cs typeface="Arimo Bold" pitchFamily="34" charset="-120"/>
              </a:rPr>
              <a:t>SUCCESSFUL LOGIN · ALERT</a:t>
            </a:r>
            <a:endParaRPr lang="en-US" sz="1100" dirty="0"/>
          </a:p>
        </p:txBody>
      </p:sp>
      <p:sp>
        <p:nvSpPr>
          <p:cNvPr id="26" name="Text 23"/>
          <p:cNvSpPr/>
          <p:nvPr/>
        </p:nvSpPr>
        <p:spPr>
          <a:xfrm>
            <a:off x="507987" y="6379865"/>
            <a:ext cx="11683708" cy="173335"/>
          </a:xfrm>
          <a:prstGeom prst="rect">
            <a:avLst/>
          </a:prstGeom>
          <a:noFill/>
          <a:ln/>
        </p:spPr>
        <p:txBody>
          <a:bodyPr wrap="none" lIns="0" tIns="0" rIns="0" bIns="0" rtlCol="0" anchor="t"/>
          <a:lstStyle/>
          <a:p>
            <a:pPr algn="l" indent="0" marL="0">
              <a:lnSpc>
                <a:spcPct val="108000"/>
              </a:lnSpc>
              <a:buNone/>
            </a:pPr>
            <a:r>
              <a:rPr lang="en-US" sz="1050" dirty="0">
                <a:solidFill>
                  <a:srgbClr val="5B6573"/>
                </a:solidFill>
                <a:latin typeface="Arimo" pitchFamily="34" charset="0"/>
                <a:ea typeface="Arimo" pitchFamily="34" charset="-122"/>
                <a:cs typeface="Arimo" pitchFamily="34" charset="-120"/>
              </a:rPr>
              <a:t>Rule Implementation: </a:t>
            </a:r>
            <a:pPr algn="l" indent="0" marL="0">
              <a:lnSpc>
                <a:spcPct val="108000"/>
              </a:lnSpc>
              <a:buNone/>
            </a:pPr>
            <a:r>
              <a:rPr lang="en-US" sz="1050" dirty="0">
                <a:solidFill>
                  <a:srgbClr val="2B2F36"/>
                </a:solidFill>
                <a:highlight>
                  <a:srgbClr val="F2F4F6"/>
                </a:highlight>
                <a:latin typeface="Consolas" pitchFamily="34" charset="0"/>
                <a:ea typeface="Consolas" pitchFamily="34" charset="-122"/>
                <a:cs typeface="Consolas" pitchFamily="34" charset="-120"/>
              </a:rPr>
              <a:t>rules.auth_003_success_after_failure.py</a:t>
            </a:r>
            <a:pPr algn="l" indent="0" marL="0">
              <a:lnSpc>
                <a:spcPct val="108000"/>
              </a:lnSpc>
              <a:buNone/>
            </a:pPr>
            <a:r>
              <a:rPr lang="en-US" sz="1050" dirty="0">
                <a:solidFill>
                  <a:srgbClr val="5B6573"/>
                </a:solidFill>
                <a:latin typeface="Arimo" pitchFamily="34" charset="0"/>
                <a:ea typeface="Arimo" pitchFamily="34" charset="-122"/>
                <a:cs typeface="Arimo" pitchFamily="34" charset="-120"/>
              </a:rPr>
              <a:t> · State transition monitor.</a:t>
            </a:r>
            <a:endParaRPr lang="en-US" sz="1050" dirty="0"/>
          </a:p>
        </p:txBody>
      </p:sp>
      <p:sp>
        <p:nvSpPr>
          <p:cNvPr id="27" name="Shape 24"/>
          <p:cNvSpPr/>
          <p:nvPr/>
        </p:nvSpPr>
        <p:spPr>
          <a:xfrm>
            <a:off x="3295568" y="4735711"/>
            <a:ext cx="12700" cy="691455"/>
          </a:xfrm>
          <a:prstGeom prst="rect">
            <a:avLst/>
          </a:prstGeom>
          <a:solidFill>
            <a:srgbClr val="D5DAE0"/>
          </a:solidFill>
          <a:ln/>
        </p:spPr>
        <p:txBody>
          <a:bodyPr/>
          <a:p/>
        </p:txBody>
      </p:sp>
      <p:sp>
        <p:nvSpPr>
          <p:cNvPr id="28" name="Shape 25"/>
          <p:cNvSpPr/>
          <p:nvPr/>
        </p:nvSpPr>
        <p:spPr>
          <a:xfrm>
            <a:off x="6089498" y="4735711"/>
            <a:ext cx="12700" cy="691455"/>
          </a:xfrm>
          <a:prstGeom prst="rect">
            <a:avLst/>
          </a:prstGeom>
          <a:solidFill>
            <a:srgbClr val="D5DAE0"/>
          </a:solidFill>
          <a:ln/>
        </p:spPr>
        <p:txBody>
          <a:bodyPr/>
          <a:p/>
        </p:txBody>
      </p:sp>
      <p:sp>
        <p:nvSpPr>
          <p:cNvPr id="29" name="Shape 26"/>
          <p:cNvSpPr/>
          <p:nvPr/>
        </p:nvSpPr>
        <p:spPr>
          <a:xfrm>
            <a:off x="8883428" y="4735711"/>
            <a:ext cx="12700" cy="691455"/>
          </a:xfrm>
          <a:prstGeom prst="rect">
            <a:avLst/>
          </a:prstGeom>
          <a:solidFill>
            <a:srgbClr val="D5DAE0"/>
          </a:solidFill>
          <a:ln/>
        </p:spPr>
        <p:txBody>
          <a:bodyPr/>
          <a:p/>
        </p:txBody>
      </p:sp>
      <p:sp>
        <p:nvSpPr>
          <p:cNvPr id="30" name="Text 27"/>
          <p:cNvSpPr/>
          <p:nvPr/>
        </p:nvSpPr>
        <p:spPr>
          <a:xfrm>
            <a:off x="507987" y="6555085"/>
            <a:ext cx="1213415" cy="148530"/>
          </a:xfrm>
          <a:prstGeom prst="rect">
            <a:avLst/>
          </a:prstGeom>
          <a:noFill/>
          <a:ln/>
        </p:spPr>
        <p:txBody>
          <a:bodyPr wrap="none" lIns="0" tIns="0" rIns="0" bIns="0" rtlCol="0" anchor="ctr"/>
          <a:lstStyle/>
          <a:p>
            <a:pPr algn="l" indent="0" marL="0">
              <a:lnSpc>
                <a:spcPct val="108000"/>
              </a:lnSpc>
              <a:buNone/>
            </a:pPr>
            <a:r>
              <a:rPr lang="en-US" sz="900" dirty="0">
                <a:solidFill>
                  <a:srgbClr val="2B2F36"/>
                </a:solidFill>
                <a:latin typeface="Arimo" pitchFamily="34" charset="0"/>
                <a:ea typeface="Arimo" pitchFamily="34" charset="-122"/>
                <a:cs typeface="Arimo" pitchFamily="34" charset="-120"/>
              </a:rPr>
              <a:t>SentinelLog</a:t>
            </a:r>
            <a:endParaRPr lang="en-US" sz="900" dirty="0"/>
          </a:p>
        </p:txBody>
      </p:sp>
      <p:sp>
        <p:nvSpPr>
          <p:cNvPr id="31" name="Text 28"/>
          <p:cNvSpPr/>
          <p:nvPr/>
        </p:nvSpPr>
        <p:spPr>
          <a:xfrm>
            <a:off x="11620209" y="6555085"/>
            <a:ext cx="571486" cy="148530"/>
          </a:xfrm>
          <a:prstGeom prst="rect">
            <a:avLst/>
          </a:prstGeom>
          <a:noFill/>
          <a:ln/>
        </p:spPr>
        <p:txBody>
          <a:bodyPr wrap="none" lIns="0" tIns="0" rIns="0" bIns="0" rtlCol="0" anchor="ctr"/>
          <a:lstStyle/>
          <a:p>
            <a:pPr algn="l" indent="0" marL="0">
              <a:lnSpc>
                <a:spcPct val="108000"/>
              </a:lnSpc>
              <a:buNone/>
            </a:pPr>
            <a:r>
              <a:rPr lang="en-US" sz="900" dirty="0">
                <a:solidFill>
                  <a:srgbClr val="2B2F36"/>
                </a:solidFill>
                <a:latin typeface="Arimo" pitchFamily="34" charset="0"/>
                <a:ea typeface="Arimo" pitchFamily="34" charset="-122"/>
                <a:cs typeface="Arimo"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7987" y="508000"/>
            <a:ext cx="11683708" cy="144760"/>
          </a:xfrm>
          <a:prstGeom prst="rect">
            <a:avLst/>
          </a:prstGeom>
          <a:noFill/>
          <a:ln/>
        </p:spPr>
        <p:txBody>
          <a:bodyPr wrap="none" lIns="0" tIns="0" rIns="0" bIns="0" rtlCol="0" anchor="t"/>
          <a:lstStyle/>
          <a:p>
            <a:pPr algn="l" indent="0" marL="0">
              <a:lnSpc>
                <a:spcPct val="100000"/>
              </a:lnSpc>
              <a:buNone/>
            </a:pPr>
            <a:r>
              <a:rPr lang="en-US" sz="950" b="1" spc="76" kern="100" dirty="0">
                <a:solidFill>
                  <a:srgbClr val="5B6573"/>
                </a:solidFill>
                <a:latin typeface="Arimo Bold" pitchFamily="34" charset="0"/>
                <a:ea typeface="Arimo Bold" pitchFamily="34" charset="-122"/>
                <a:cs typeface="Arimo Bold" pitchFamily="34" charset="-120"/>
              </a:rPr>
              <a:t>TRIAGE READINESS &amp; PROJECT SUMMARY</a:t>
            </a:r>
            <a:endParaRPr lang="en-US" sz="950" dirty="0"/>
          </a:p>
        </p:txBody>
      </p:sp>
      <p:sp>
        <p:nvSpPr>
          <p:cNvPr id="3" name="Text 1"/>
          <p:cNvSpPr/>
          <p:nvPr/>
        </p:nvSpPr>
        <p:spPr>
          <a:xfrm>
            <a:off x="507987" y="709910"/>
            <a:ext cx="11175720" cy="398264"/>
          </a:xfrm>
          <a:prstGeom prst="rect">
            <a:avLst/>
          </a:prstGeom>
          <a:noFill/>
          <a:ln/>
        </p:spPr>
        <p:txBody>
          <a:bodyPr wrap="none" lIns="0" tIns="0" rIns="0" bIns="0" rtlCol="0" anchor="t"/>
          <a:lstStyle/>
          <a:p>
            <a:pPr algn="l" indent="0" marL="0">
              <a:lnSpc>
                <a:spcPct val="93000"/>
              </a:lnSpc>
              <a:buNone/>
            </a:pPr>
            <a:r>
              <a:rPr lang="en-US" sz="2800" b="1" spc="-14" kern="100" dirty="0">
                <a:solidFill>
                  <a:srgbClr val="0B1F3A"/>
                </a:solidFill>
                <a:latin typeface="Arimo Bold" pitchFamily="34" charset="0"/>
                <a:ea typeface="Arimo Bold" pitchFamily="34" charset="-122"/>
                <a:cs typeface="Arimo Bold" pitchFamily="34" charset="-120"/>
              </a:rPr>
              <a:t>Structured alerts keep the next step clear</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7987" y="1247874"/>
          <a:ext cx="11175721" cy="914400"/>
        </p:xfrm>
        <a:graphic>
          <a:graphicData uri="http://schemas.openxmlformats.org/drawingml/2006/table">
            <a:tbl>
              <a:tblPr/>
              <a:tblGrid>
                <a:gridCol w="3129182"/>
                <a:gridCol w="8046539"/>
              </a:tblGrid>
              <a:tr h="322552">
                <a:tc>
                  <a:txBody>
                    <a:bodyPr/>
                    <a:lstStyle/>
                    <a:p>
                      <a:pPr algn="l" indent="0" marL="0">
                        <a:buNone/>
                      </a:pPr>
                      <a:r>
                        <a:rPr lang="en-US" sz="1300" b="1" dirty="0">
                          <a:solidFill>
                            <a:srgbClr val="FFFFFF"/>
                          </a:solidFill>
                          <a:latin typeface="Arimo" pitchFamily="34" charset="0"/>
                          <a:ea typeface="Arimo" pitchFamily="34" charset="-122"/>
                          <a:cs typeface="Arimo" pitchFamily="34" charset="-120"/>
                        </a:rPr>
                        <a:t>Field</a:t>
                      </a:r>
                      <a:endParaRPr lang="en-US" sz="1300" dirty="0">
                        <a:latin typeface="Arimo" charset="0"/>
                        <a:ea typeface="Arimo" charset="0"/>
                        <a:cs typeface="Arimo" charset="0"/>
                      </a:endParaRPr>
                    </a:p>
                  </a:txBody>
                  <a:tcPr marL="88898" marR="88898" marT="50799" marB="50799"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0B1F3A"/>
                    </a:solidFill>
                  </a:tcPr>
                </a:tc>
                <a:tc>
                  <a:txBody>
                    <a:bodyPr/>
                    <a:lstStyle/>
                    <a:p>
                      <a:pPr algn="l" indent="0" marL="0">
                        <a:buNone/>
                      </a:pPr>
                      <a:r>
                        <a:rPr lang="en-US" sz="1300" b="1" dirty="0">
                          <a:solidFill>
                            <a:srgbClr val="FFFFFF"/>
                          </a:solidFill>
                          <a:latin typeface="Arimo" pitchFamily="34" charset="0"/>
                          <a:ea typeface="Arimo" pitchFamily="34" charset="-122"/>
                          <a:cs typeface="Arimo" pitchFamily="34" charset="-120"/>
                        </a:rPr>
                        <a:t>Value</a:t>
                      </a:r>
                      <a:endParaRPr lang="en-US" sz="1300" dirty="0">
                        <a:latin typeface="Arimo" charset="0"/>
                        <a:ea typeface="Arimo" charset="0"/>
                        <a:cs typeface="Arimo" charset="0"/>
                      </a:endParaRPr>
                    </a:p>
                  </a:txBody>
                  <a:tcPr marL="88898" marR="88898" marT="50799" marB="50799"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D5DAE0"/>
                      </a:solidFill>
                      <a:prstDash val="solid"/>
                      <a:round/>
                      <a:headEnd type="none" w="med" len="med"/>
                      <a:tailEnd type="none" w="med" len="med"/>
                    </a:lnB>
                    <a:solidFill>
                      <a:srgbClr val="0B1F3A"/>
                    </a:solidFill>
                  </a:tcPr>
                </a:tc>
              </a:tr>
              <a:tr h="322552">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alert_id</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ALT-2026-0091</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22552">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rule_id</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AUTH-001</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22552">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severity</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medium</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22552">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confidence</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high</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22552">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source_ip</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192.0.2.10</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22552">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username</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analyst</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22552">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failure_count</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5</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22552">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first_seen</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2026-01-15T10:00:00Z</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22552">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last_seen</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2026-01-15T10:04:12Z</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22552">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message</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Repeated authentication failures for the same source and username</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D5DAE0"/>
                      </a:solidFill>
                      <a:prstDash val="solid"/>
                      <a:round/>
                      <a:headEnd type="none" w="med" len="med"/>
                      <a:tailEnd type="none" w="med" len="med"/>
                    </a:lnB>
                  </a:tcPr>
                </a:tc>
              </a:tr>
              <a:tr h="316202">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recommended_action</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indent="0" marL="0">
                        <a:buNone/>
                      </a:pPr>
                      <a:r>
                        <a:rPr lang="en-US" sz="1300" dirty="0">
                          <a:solidFill>
                            <a:srgbClr val="2B2F36"/>
                          </a:solidFill>
                          <a:latin typeface="Arimo" pitchFamily="34" charset="0"/>
                          <a:ea typeface="Arimo" pitchFamily="34" charset="-122"/>
                          <a:cs typeface="Arimo" pitchFamily="34" charset="-120"/>
                        </a:rPr>
                        <a:t>Verify host ownership for 192.0.2.10 and review active sessions.</a:t>
                      </a:r>
                      <a:endParaRPr lang="en-US" sz="1300" dirty="0">
                        <a:latin typeface="Arimo" charset="0"/>
                        <a:ea typeface="Arimo" charset="0"/>
                        <a:cs typeface="Arimo" charset="0"/>
                      </a:endParaRPr>
                    </a:p>
                  </a:txBody>
                  <a:tcPr marL="88898" marR="88898"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5DAE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5" name="Text 2"/>
          <p:cNvSpPr/>
          <p:nvPr/>
        </p:nvSpPr>
        <p:spPr>
          <a:xfrm>
            <a:off x="507987" y="5239246"/>
            <a:ext cx="11683708" cy="173335"/>
          </a:xfrm>
          <a:prstGeom prst="rect">
            <a:avLst/>
          </a:prstGeom>
          <a:noFill/>
          <a:ln/>
        </p:spPr>
        <p:txBody>
          <a:bodyPr wrap="none" lIns="0" tIns="0" rIns="0" bIns="0" rtlCol="0" anchor="t"/>
          <a:lstStyle/>
          <a:p>
            <a:pPr algn="l" indent="0" marL="0">
              <a:lnSpc>
                <a:spcPct val="108000"/>
              </a:lnSpc>
              <a:buNone/>
            </a:pPr>
            <a:r>
              <a:rPr lang="en-US" sz="1050" dirty="0">
                <a:solidFill>
                  <a:srgbClr val="5B6573"/>
                </a:solidFill>
                <a:latin typeface="Arimo" pitchFamily="34" charset="0"/>
                <a:ea typeface="Arimo" pitchFamily="34" charset="-122"/>
                <a:cs typeface="Arimo" pitchFamily="34" charset="-120"/>
              </a:rPr>
              <a:t>Author: Debraj Dutta · Architecture: Python 3.11+ / Dataclasses / Unit Tested · Repository: https://github.com/debrajdutta/SentinelLog</a:t>
            </a:r>
            <a:endParaRPr lang="en-US" sz="1050" dirty="0"/>
          </a:p>
        </p:txBody>
      </p:sp>
      <p:sp>
        <p:nvSpPr>
          <p:cNvPr id="6" name="Text 3"/>
          <p:cNvSpPr/>
          <p:nvPr/>
        </p:nvSpPr>
        <p:spPr>
          <a:xfrm>
            <a:off x="507987" y="6555085"/>
            <a:ext cx="1213415" cy="148530"/>
          </a:xfrm>
          <a:prstGeom prst="rect">
            <a:avLst/>
          </a:prstGeom>
          <a:noFill/>
          <a:ln/>
        </p:spPr>
        <p:txBody>
          <a:bodyPr wrap="none" lIns="0" tIns="0" rIns="0" bIns="0" rtlCol="0" anchor="ctr"/>
          <a:lstStyle/>
          <a:p>
            <a:pPr algn="l" indent="0" marL="0">
              <a:lnSpc>
                <a:spcPct val="108000"/>
              </a:lnSpc>
              <a:buNone/>
            </a:pPr>
            <a:r>
              <a:rPr lang="en-US" sz="900" dirty="0">
                <a:solidFill>
                  <a:srgbClr val="2B2F36"/>
                </a:solidFill>
                <a:latin typeface="Arimo" pitchFamily="34" charset="0"/>
                <a:ea typeface="Arimo" pitchFamily="34" charset="-122"/>
                <a:cs typeface="Arimo" pitchFamily="34" charset="-120"/>
              </a:rPr>
              <a:t>SentinelLog</a:t>
            </a:r>
            <a:endParaRPr lang="en-US" sz="900" dirty="0"/>
          </a:p>
        </p:txBody>
      </p:sp>
      <p:sp>
        <p:nvSpPr>
          <p:cNvPr id="7" name="Text 4"/>
          <p:cNvSpPr/>
          <p:nvPr/>
        </p:nvSpPr>
        <p:spPr>
          <a:xfrm>
            <a:off x="11556612" y="6555085"/>
            <a:ext cx="635083" cy="148530"/>
          </a:xfrm>
          <a:prstGeom prst="rect">
            <a:avLst/>
          </a:prstGeom>
          <a:noFill/>
          <a:ln/>
        </p:spPr>
        <p:txBody>
          <a:bodyPr wrap="none" lIns="0" tIns="0" rIns="0" bIns="0" rtlCol="0" anchor="ctr"/>
          <a:lstStyle/>
          <a:p>
            <a:pPr algn="l" indent="0" marL="0">
              <a:lnSpc>
                <a:spcPct val="108000"/>
              </a:lnSpc>
              <a:buNone/>
            </a:pPr>
            <a:r>
              <a:rPr lang="en-US" sz="900" dirty="0">
                <a:solidFill>
                  <a:srgbClr val="2B2F36"/>
                </a:solidFill>
                <a:latin typeface="Arimo" pitchFamily="34" charset="0"/>
                <a:ea typeface="Arimo" pitchFamily="34" charset="-122"/>
                <a:cs typeface="Arimo" pitchFamily="34" charset="-120"/>
              </a:rPr>
              <a:t>10</a:t>
            </a:r>
            <a:endParaRPr lang="en-US" sz="9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661475" y="549573"/>
            <a:ext cx="1781031" cy="210741"/>
          </a:xfrm>
          <a:prstGeom prst="roundRect">
            <a:avLst>
              <a:gd name="adj" fmla="val 22132"/>
            </a:avLst>
          </a:prstGeom>
          <a:noFill/>
          <a:ln w="6350">
            <a:solidFill>
              <a:srgbClr val="1B1B27"/>
            </a:solidFill>
            <a:prstDash val="solid"/>
          </a:ln>
        </p:spPr>
        <p:txBody>
          <a:bodyPr/>
          <a:p/>
        </p:txBody>
      </p:sp>
      <p:pic>
        <p:nvPicPr>
          <p:cNvPr id="3" name="Picture 2" descr="image.png"/>
          <p:cNvPicPr>
            <a:picLocks noChangeAspect="1"/>
          </p:cNvPicPr>
          <p:nvPr/>
        </p:nvPicPr>
        <p:blipFill>
          <a:blip r:embed="rId2"/>
          <a:srcRect/>
          <a:stretch>
            <a:fillRect/>
          </a:stretch>
        </p:blipFill>
        <p:spPr>
          <a:xfrm>
            <a:off x="744717" y="599380"/>
            <a:ext cx="111023" cy="111026"/>
          </a:xfrm>
          <a:prstGeom prst="rect">
            <a:avLst/>
          </a:prstGeom>
        </p:spPr>
      </p:pic>
      <p:sp>
        <p:nvSpPr>
          <p:cNvPr id="4" name="Text 1"/>
          <p:cNvSpPr/>
          <p:nvPr/>
        </p:nvSpPr>
        <p:spPr>
          <a:xfrm>
            <a:off x="911202" y="591145"/>
            <a:ext cx="2057646" cy="127595"/>
          </a:xfrm>
          <a:prstGeom prst="rect">
            <a:avLst/>
          </a:prstGeom>
          <a:noFill/>
          <a:ln/>
        </p:spPr>
        <p:txBody>
          <a:bodyPr wrap="none" lIns="0" tIns="0" rIns="0" bIns="0" rtlCol="0" anchor="t"/>
          <a:lstStyle/>
          <a:p>
            <a:pPr marL="0" indent="0" algn="l">
              <a:lnSpc>
                <a:spcPct val="96000"/>
              </a:lnSpc>
              <a:buNone/>
            </a:pPr>
            <a:r>
              <a:rPr lang="en-US" sz="850" dirty="0">
                <a:solidFill>
                  <a:srgbClr val="1B1B27"/>
                </a:solidFill>
                <a:latin typeface="Roboto" pitchFamily="34" charset="0"/>
                <a:ea typeface="Roboto" pitchFamily="34" charset="-122"/>
                <a:cs typeface="Roboto" pitchFamily="34" charset="-120"/>
              </a:rPr>
              <a:t>ENGINEERING &amp; VALIDATION</a:t>
            </a:r>
            <a:endParaRPr lang="en-US" sz="850" dirty="0"/>
          </a:p>
        </p:txBody>
      </p:sp>
      <p:sp>
        <p:nvSpPr>
          <p:cNvPr id="5" name="Text 2"/>
          <p:cNvSpPr/>
          <p:nvPr/>
        </p:nvSpPr>
        <p:spPr>
          <a:xfrm>
            <a:off x="661475" y="800993"/>
            <a:ext cx="10868745" cy="433784"/>
          </a:xfrm>
          <a:prstGeom prst="rect">
            <a:avLst/>
          </a:prstGeom>
          <a:noFill/>
          <a:ln/>
        </p:spPr>
        <p:txBody>
          <a:bodyPr wrap="none" lIns="0" tIns="0" rIns="0" bIns="0" rtlCol="0" anchor="t"/>
          <a:lstStyle/>
          <a:p>
            <a:pPr marL="0" indent="0" algn="l">
              <a:lnSpc>
                <a:spcPct val="104000"/>
              </a:lnSpc>
              <a:buNone/>
            </a:pPr>
            <a:r>
              <a:rPr lang="en-US" sz="2700" dirty="0">
                <a:solidFill>
                  <a:srgbClr val="1B1B27"/>
                </a:solidFill>
                <a:latin typeface="Raleway" pitchFamily="34" charset="0"/>
                <a:ea typeface="Raleway" pitchFamily="34" charset="-122"/>
                <a:cs typeface="Raleway" pitchFamily="34" charset="-120"/>
              </a:rPr>
              <a:t>Engineering &amp; Validation</a:t>
            </a:r>
            <a:endParaRPr lang="en-US" sz="2700" dirty="0"/>
          </a:p>
        </p:txBody>
      </p:sp>
      <p:sp>
        <p:nvSpPr>
          <p:cNvPr id="6" name="Text 3"/>
          <p:cNvSpPr/>
          <p:nvPr/>
        </p:nvSpPr>
        <p:spPr>
          <a:xfrm>
            <a:off x="661475" y="1387673"/>
            <a:ext cx="11478330" cy="192584"/>
          </a:xfrm>
          <a:prstGeom prst="rect">
            <a:avLst/>
          </a:prstGeom>
          <a:noFill/>
          <a:ln/>
        </p:spPr>
        <p:txBody>
          <a:bodyPr wrap="none" lIns="0" tIns="0" rIns="0" bIns="0" rtlCol="0" anchor="t"/>
          <a:lstStyle/>
          <a:p>
            <a:pPr marL="0" indent="0" algn="l">
              <a:lnSpc>
                <a:spcPct val="116000"/>
              </a:lnSpc>
              <a:buNone/>
            </a:pPr>
            <a:r>
              <a:rPr lang="en-US" sz="1050" b="1" dirty="0">
                <a:solidFill>
                  <a:srgbClr val="3C3939"/>
                </a:solidFill>
                <a:latin typeface="Roboto Bold" pitchFamily="34" charset="0"/>
                <a:ea typeface="Roboto Bold" pitchFamily="34" charset="-122"/>
                <a:cs typeface="Roboto Bold" pitchFamily="34" charset="-120"/>
              </a:rPr>
              <a:t>A modular, tested, and continuously validated Python implementation</a:t>
            </a:r>
            <a:endParaRPr lang="en-US" sz="1050" dirty="0"/>
          </a:p>
        </p:txBody>
      </p:sp>
      <p:sp>
        <p:nvSpPr>
          <p:cNvPr id="8" name="Text 4"/>
          <p:cNvSpPr/>
          <p:nvPr/>
        </p:nvSpPr>
        <p:spPr>
          <a:xfrm>
            <a:off x="895526" y="1967309"/>
            <a:ext cx="3192085" cy="216892"/>
          </a:xfrm>
          <a:prstGeom prst="rect">
            <a:avLst/>
          </a:prstGeom>
          <a:noFill/>
          <a:ln/>
        </p:spPr>
        <p:txBody>
          <a:bodyPr wrap="none" lIns="0" tIns="0" rIns="0" bIns="0" rtlCol="0" anchor="t"/>
          <a:lstStyle/>
          <a:p>
            <a:pPr marL="0" indent="0" algn="l">
              <a:lnSpc>
                <a:spcPct val="104000"/>
              </a:lnSpc>
              <a:buNone/>
            </a:pPr>
            <a:r>
              <a:rPr lang="en-US" sz="1350" dirty="0">
                <a:solidFill>
                  <a:srgbClr val="3C3939"/>
                </a:solidFill>
                <a:latin typeface="Raleway" pitchFamily="34" charset="0"/>
                <a:ea typeface="Raleway" pitchFamily="34" charset="-122"/>
                <a:cs typeface="Raleway" pitchFamily="34" charset="-120"/>
              </a:rPr>
              <a:t>Standard-Library-Focused</a:t>
            </a:r>
            <a:endParaRPr lang="en-US" sz="1350" dirty="0"/>
          </a:p>
        </p:txBody>
      </p:sp>
      <p:sp>
        <p:nvSpPr>
          <p:cNvPr id="9" name="Text 5"/>
          <p:cNvSpPr/>
          <p:nvPr/>
        </p:nvSpPr>
        <p:spPr>
          <a:xfrm>
            <a:off x="895526" y="2286099"/>
            <a:ext cx="3192085" cy="385167"/>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3C3939"/>
                </a:solidFill>
                <a:latin typeface="Roboto" pitchFamily="34" charset="0"/>
                <a:ea typeface="Roboto" pitchFamily="34" charset="-122"/>
                <a:cs typeface="Roboto" pitchFamily="34" charset="-120"/>
              </a:rPr>
              <a:t>No heavyweight external dependencies. Pure Python 3.11+ dataclasses, regex, and collections.</a:t>
            </a:r>
            <a:endParaRPr lang="en-US" sz="1050" dirty="0"/>
          </a:p>
        </p:txBody>
      </p:sp>
      <p:sp>
        <p:nvSpPr>
          <p:cNvPr id="11" name="Text 6"/>
          <p:cNvSpPr/>
          <p:nvPr/>
        </p:nvSpPr>
        <p:spPr>
          <a:xfrm>
            <a:off x="895526" y="3088878"/>
            <a:ext cx="3192085" cy="216892"/>
          </a:xfrm>
          <a:prstGeom prst="rect">
            <a:avLst/>
          </a:prstGeom>
          <a:noFill/>
          <a:ln/>
        </p:spPr>
        <p:txBody>
          <a:bodyPr wrap="none" lIns="0" tIns="0" rIns="0" bIns="0" rtlCol="0" anchor="t"/>
          <a:lstStyle/>
          <a:p>
            <a:pPr marL="0" indent="0" algn="l">
              <a:lnSpc>
                <a:spcPct val="104000"/>
              </a:lnSpc>
              <a:buNone/>
            </a:pPr>
            <a:r>
              <a:rPr lang="en-US" sz="1350" dirty="0">
                <a:solidFill>
                  <a:srgbClr val="3C3939"/>
                </a:solidFill>
                <a:latin typeface="Raleway" pitchFamily="34" charset="0"/>
                <a:ea typeface="Raleway" pitchFamily="34" charset="-122"/>
                <a:cs typeface="Raleway" pitchFamily="34" charset="-120"/>
              </a:rPr>
              <a:t>Modular Architecture</a:t>
            </a:r>
            <a:endParaRPr lang="en-US" sz="1350" dirty="0"/>
          </a:p>
        </p:txBody>
      </p:sp>
      <p:sp>
        <p:nvSpPr>
          <p:cNvPr id="12" name="Text 7"/>
          <p:cNvSpPr/>
          <p:nvPr/>
        </p:nvSpPr>
        <p:spPr>
          <a:xfrm>
            <a:off x="895526" y="3407668"/>
            <a:ext cx="3192085" cy="385167"/>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3C3939"/>
                </a:solidFill>
                <a:latin typeface="Roboto" pitchFamily="34" charset="0"/>
                <a:ea typeface="Roboto" pitchFamily="34" charset="-122"/>
                <a:cs typeface="Roboto" pitchFamily="34" charset="-120"/>
              </a:rPr>
              <a:t>Parser → Event → Detector → CLI. Each component independently testable and extensible.</a:t>
            </a:r>
            <a:endParaRPr lang="en-US" sz="1050" dirty="0"/>
          </a:p>
        </p:txBody>
      </p:sp>
      <p:sp>
        <p:nvSpPr>
          <p:cNvPr id="14" name="Text 8"/>
          <p:cNvSpPr/>
          <p:nvPr/>
        </p:nvSpPr>
        <p:spPr>
          <a:xfrm>
            <a:off x="895526" y="4210447"/>
            <a:ext cx="3192085" cy="216892"/>
          </a:xfrm>
          <a:prstGeom prst="rect">
            <a:avLst/>
          </a:prstGeom>
          <a:noFill/>
          <a:ln/>
        </p:spPr>
        <p:txBody>
          <a:bodyPr wrap="none" lIns="0" tIns="0" rIns="0" bIns="0" rtlCol="0" anchor="t"/>
          <a:lstStyle/>
          <a:p>
            <a:pPr marL="0" indent="0" algn="l">
              <a:lnSpc>
                <a:spcPct val="104000"/>
              </a:lnSpc>
              <a:buNone/>
            </a:pPr>
            <a:r>
              <a:rPr lang="en-US" sz="1350" dirty="0">
                <a:solidFill>
                  <a:srgbClr val="3C3939"/>
                </a:solidFill>
                <a:latin typeface="Raleway" pitchFamily="34" charset="0"/>
                <a:ea typeface="Raleway" pitchFamily="34" charset="-122"/>
                <a:cs typeface="Raleway" pitchFamily="34" charset="-120"/>
              </a:rPr>
              <a:t>Deterministic Tests</a:t>
            </a:r>
            <a:endParaRPr lang="en-US" sz="1350" dirty="0"/>
          </a:p>
        </p:txBody>
      </p:sp>
      <p:sp>
        <p:nvSpPr>
          <p:cNvPr id="15" name="Text 9"/>
          <p:cNvSpPr/>
          <p:nvPr/>
        </p:nvSpPr>
        <p:spPr>
          <a:xfrm>
            <a:off x="895526" y="4529237"/>
            <a:ext cx="3192085" cy="385167"/>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3C3939"/>
                </a:solidFill>
                <a:latin typeface="Roboto" pitchFamily="34" charset="0"/>
                <a:ea typeface="Roboto" pitchFamily="34" charset="-122"/>
                <a:cs typeface="Roboto" pitchFamily="34" charset="-120"/>
              </a:rPr>
              <a:t>Unit test suite validates parser correctness, event normalization, and detection rule logic in isolation.</a:t>
            </a:r>
            <a:endParaRPr lang="en-US" sz="1050" dirty="0"/>
          </a:p>
        </p:txBody>
      </p:sp>
      <p:sp>
        <p:nvSpPr>
          <p:cNvPr id="17" name="Text 10"/>
          <p:cNvSpPr/>
          <p:nvPr/>
        </p:nvSpPr>
        <p:spPr>
          <a:xfrm>
            <a:off x="895526" y="5332016"/>
            <a:ext cx="3192085" cy="216892"/>
          </a:xfrm>
          <a:prstGeom prst="rect">
            <a:avLst/>
          </a:prstGeom>
          <a:noFill/>
          <a:ln/>
        </p:spPr>
        <p:txBody>
          <a:bodyPr wrap="none" lIns="0" tIns="0" rIns="0" bIns="0" rtlCol="0" anchor="t"/>
          <a:lstStyle/>
          <a:p>
            <a:pPr marL="0" indent="0" algn="l">
              <a:lnSpc>
                <a:spcPct val="104000"/>
              </a:lnSpc>
              <a:buNone/>
            </a:pPr>
            <a:r>
              <a:rPr lang="en-US" sz="1350" dirty="0">
                <a:solidFill>
                  <a:srgbClr val="3C3939"/>
                </a:solidFill>
                <a:latin typeface="Raleway" pitchFamily="34" charset="0"/>
                <a:ea typeface="Raleway" pitchFamily="34" charset="-122"/>
                <a:cs typeface="Raleway" pitchFamily="34" charset="-120"/>
              </a:rPr>
              <a:t>Automated CI Validation</a:t>
            </a:r>
            <a:endParaRPr lang="en-US" sz="1350" dirty="0"/>
          </a:p>
        </p:txBody>
      </p:sp>
      <p:sp>
        <p:nvSpPr>
          <p:cNvPr id="18" name="Text 11"/>
          <p:cNvSpPr/>
          <p:nvPr/>
        </p:nvSpPr>
        <p:spPr>
          <a:xfrm>
            <a:off x="895526" y="5650805"/>
            <a:ext cx="3192085" cy="385167"/>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3C3939"/>
                </a:solidFill>
                <a:latin typeface="Roboto" pitchFamily="34" charset="0"/>
                <a:ea typeface="Roboto" pitchFamily="34" charset="-122"/>
                <a:cs typeface="Roboto" pitchFamily="34" charset="-120"/>
              </a:rPr>
              <a:t>GitHub Actions pipeline tests across Python 3.11, 3.12, and 3.13 on every commit.</a:t>
            </a:r>
            <a:endParaRPr lang="en-US" sz="1050" dirty="0"/>
          </a:p>
        </p:txBody>
      </p:sp>
      <p:sp>
        <p:nvSpPr>
          <p:cNvPr id="19" name="Text 12"/>
          <p:cNvSpPr/>
          <p:nvPr/>
        </p:nvSpPr>
        <p:spPr>
          <a:xfrm>
            <a:off x="4590340" y="2329359"/>
            <a:ext cx="6946131" cy="216892"/>
          </a:xfrm>
          <a:prstGeom prst="rect">
            <a:avLst/>
          </a:prstGeom>
          <a:noFill/>
          <a:ln/>
        </p:spPr>
        <p:txBody>
          <a:bodyPr wrap="none" lIns="0" tIns="0" rIns="0" bIns="0" rtlCol="0" anchor="t"/>
          <a:lstStyle/>
          <a:p>
            <a:pPr marL="0" indent="0" algn="l">
              <a:lnSpc>
                <a:spcPct val="104000"/>
              </a:lnSpc>
              <a:buNone/>
            </a:pPr>
            <a:r>
              <a:rPr lang="en-US" sz="1350" dirty="0">
                <a:solidFill>
                  <a:srgbClr val="1B1B27"/>
                </a:solidFill>
                <a:latin typeface="Raleway" pitchFamily="34" charset="0"/>
                <a:ea typeface="Raleway" pitchFamily="34" charset="-122"/>
                <a:cs typeface="Raleway" pitchFamily="34" charset="-120"/>
              </a:rPr>
              <a:t>Validation Pipeline</a:t>
            </a:r>
            <a:endParaRPr lang="en-US" sz="1350" dirty="0"/>
          </a:p>
        </p:txBody>
      </p:sp>
      <p:pic>
        <p:nvPicPr>
          <p:cNvPr id="20" name="Picture 19" descr="image.png"/>
          <p:cNvPicPr>
            <a:picLocks noChangeAspect="1"/>
          </p:cNvPicPr>
          <p:nvPr/>
        </p:nvPicPr>
        <p:blipFill>
          <a:blip r:embed="rId3"/>
          <a:srcRect/>
          <a:stretch>
            <a:fillRect/>
          </a:stretch>
        </p:blipFill>
        <p:spPr>
          <a:xfrm>
            <a:off x="4590340" y="2660848"/>
            <a:ext cx="6946131" cy="3000375"/>
          </a:xfrm>
          <a:prstGeom prst="rect">
            <a:avLst/>
          </a:prstGeom>
        </p:spPr>
      </p:pic>
      <p:sp>
        <p:nvSpPr>
          <p:cNvPr id="21" name="Text 13"/>
          <p:cNvSpPr/>
          <p:nvPr/>
        </p:nvSpPr>
        <p:spPr>
          <a:xfrm>
            <a:off x="6247891" y="4699751"/>
            <a:ext cx="1031362" cy="375695"/>
          </a:xfrm>
          <a:prstGeom prst="rect">
            <a:avLst/>
          </a:prstGeom>
          <a:noFill/>
          <a:ln/>
        </p:spPr>
        <p:txBody>
          <a:bodyPr wrap="square" lIns="0" tIns="0" rIns="0" bIns="0" rtlCol="0" anchor="t">
            <a:normAutofit/>
          </a:bodyPr>
          <a:lstStyle/>
          <a:p>
            <a:pPr marL="0" indent="0" algn="ctr">
              <a:lnSpc>
                <a:spcPct val="104000"/>
              </a:lnSpc>
              <a:buNone/>
            </a:pPr>
            <a:r>
              <a:rPr lang="en-US" sz="1150" dirty="0">
                <a:solidFill>
                  <a:srgbClr val="3C3939"/>
                </a:solidFill>
                <a:latin typeface="Raleway" pitchFamily="34" charset="0"/>
                <a:ea typeface="Raleway" pitchFamily="34" charset="-122"/>
                <a:cs typeface="Raleway" pitchFamily="34" charset="-120"/>
              </a:rPr>
              <a:t>Modular Package</a:t>
            </a:r>
            <a:endParaRPr lang="en-US" sz="1150" dirty="0"/>
          </a:p>
        </p:txBody>
      </p:sp>
      <p:sp>
        <p:nvSpPr>
          <p:cNvPr id="22" name="Text 14"/>
          <p:cNvSpPr/>
          <p:nvPr/>
        </p:nvSpPr>
        <p:spPr>
          <a:xfrm>
            <a:off x="6247891" y="5128878"/>
            <a:ext cx="1031362" cy="260482"/>
          </a:xfrm>
          <a:prstGeom prst="rect">
            <a:avLst/>
          </a:prstGeom>
          <a:noFill/>
          <a:ln/>
        </p:spPr>
        <p:txBody>
          <a:bodyPr wrap="square" lIns="0" tIns="0" rIns="0" bIns="0" rtlCol="0" anchor="t">
            <a:normAutofit/>
          </a:bodyPr>
          <a:lstStyle/>
          <a:p>
            <a:pPr marL="0" indent="0" algn="ctr">
              <a:lnSpc>
                <a:spcPct val="90000"/>
              </a:lnSpc>
              <a:buNone/>
            </a:pPr>
            <a:r>
              <a:rPr lang="en-US" sz="900" dirty="0">
                <a:solidFill>
                  <a:srgbClr val="3C3939"/>
                </a:solidFill>
                <a:latin typeface="Roboto" pitchFamily="34" charset="0"/>
                <a:ea typeface="Roboto" pitchFamily="34" charset="-122"/>
                <a:cs typeface="Roboto" pitchFamily="34" charset="-120"/>
              </a:rPr>
              <a:t>Clean, decoupled modules</a:t>
            </a:r>
            <a:endParaRPr lang="en-US" sz="900" dirty="0"/>
          </a:p>
        </p:txBody>
      </p:sp>
      <p:sp>
        <p:nvSpPr>
          <p:cNvPr id="23" name="Text 15"/>
          <p:cNvSpPr/>
          <p:nvPr/>
        </p:nvSpPr>
        <p:spPr>
          <a:xfrm>
            <a:off x="8896162" y="4887599"/>
            <a:ext cx="1031362" cy="187847"/>
          </a:xfrm>
          <a:prstGeom prst="rect">
            <a:avLst/>
          </a:prstGeom>
          <a:noFill/>
          <a:ln/>
        </p:spPr>
        <p:txBody>
          <a:bodyPr wrap="none" lIns="0" tIns="0" rIns="0" bIns="0" rtlCol="0" anchor="t"/>
          <a:lstStyle/>
          <a:p>
            <a:pPr marL="0" indent="0" algn="ctr">
              <a:lnSpc>
                <a:spcPct val="104000"/>
              </a:lnSpc>
              <a:buNone/>
            </a:pPr>
            <a:r>
              <a:rPr lang="en-US" sz="1150" dirty="0">
                <a:solidFill>
                  <a:srgbClr val="1B1B27"/>
                </a:solidFill>
                <a:latin typeface="Raleway" pitchFamily="34" charset="0"/>
                <a:ea typeface="Raleway" pitchFamily="34" charset="-122"/>
                <a:cs typeface="Raleway" pitchFamily="34" charset="-120"/>
              </a:rPr>
              <a:t>Unit Tests</a:t>
            </a:r>
            <a:endParaRPr lang="en-US" sz="1150" dirty="0"/>
          </a:p>
        </p:txBody>
      </p:sp>
      <p:sp>
        <p:nvSpPr>
          <p:cNvPr id="24" name="Text 16"/>
          <p:cNvSpPr/>
          <p:nvPr/>
        </p:nvSpPr>
        <p:spPr>
          <a:xfrm>
            <a:off x="8896162" y="5128878"/>
            <a:ext cx="1031362" cy="260482"/>
          </a:xfrm>
          <a:prstGeom prst="rect">
            <a:avLst/>
          </a:prstGeom>
          <a:noFill/>
          <a:ln/>
        </p:spPr>
        <p:txBody>
          <a:bodyPr wrap="square" lIns="0" tIns="0" rIns="0" bIns="0" rtlCol="0" anchor="t">
            <a:normAutofit/>
          </a:bodyPr>
          <a:lstStyle/>
          <a:p>
            <a:pPr marL="0" indent="0" algn="ctr">
              <a:lnSpc>
                <a:spcPct val="90000"/>
              </a:lnSpc>
              <a:buNone/>
            </a:pPr>
            <a:r>
              <a:rPr lang="en-US" sz="900" dirty="0">
                <a:solidFill>
                  <a:srgbClr val="3C3939"/>
                </a:solidFill>
                <a:latin typeface="Roboto" pitchFamily="34" charset="0"/>
                <a:ea typeface="Roboto" pitchFamily="34" charset="-122"/>
                <a:cs typeface="Roboto" pitchFamily="34" charset="-120"/>
              </a:rPr>
              <a:t>Coverage for logic and edge cases</a:t>
            </a:r>
            <a:endParaRPr lang="en-US" sz="900" dirty="0"/>
          </a:p>
        </p:txBody>
      </p:sp>
      <p:sp>
        <p:nvSpPr>
          <p:cNvPr id="25" name="Text 17"/>
          <p:cNvSpPr/>
          <p:nvPr/>
        </p:nvSpPr>
        <p:spPr>
          <a:xfrm>
            <a:off x="4927042" y="2931583"/>
            <a:ext cx="1031362" cy="187848"/>
          </a:xfrm>
          <a:prstGeom prst="rect">
            <a:avLst/>
          </a:prstGeom>
          <a:noFill/>
          <a:ln/>
        </p:spPr>
        <p:txBody>
          <a:bodyPr wrap="none" lIns="0" tIns="0" rIns="0" bIns="0" rtlCol="0" anchor="t"/>
          <a:lstStyle/>
          <a:p>
            <a:pPr marL="0" indent="0" algn="ctr">
              <a:lnSpc>
                <a:spcPct val="104000"/>
              </a:lnSpc>
              <a:buNone/>
            </a:pPr>
            <a:r>
              <a:rPr lang="en-US" sz="1150" dirty="0">
                <a:solidFill>
                  <a:srgbClr val="3C3939"/>
                </a:solidFill>
                <a:latin typeface="Raleway" pitchFamily="34" charset="0"/>
                <a:ea typeface="Raleway" pitchFamily="34" charset="-122"/>
                <a:cs typeface="Raleway" pitchFamily="34" charset="-120"/>
              </a:rPr>
              <a:t>Python Source</a:t>
            </a:r>
            <a:endParaRPr lang="en-US" sz="1150" dirty="0"/>
          </a:p>
        </p:txBody>
      </p:sp>
      <p:sp>
        <p:nvSpPr>
          <p:cNvPr id="26" name="Text 18"/>
          <p:cNvSpPr/>
          <p:nvPr/>
        </p:nvSpPr>
        <p:spPr>
          <a:xfrm>
            <a:off x="4927042" y="3172863"/>
            <a:ext cx="1031362" cy="260482"/>
          </a:xfrm>
          <a:prstGeom prst="rect">
            <a:avLst/>
          </a:prstGeom>
          <a:noFill/>
          <a:ln/>
        </p:spPr>
        <p:txBody>
          <a:bodyPr wrap="square" lIns="0" tIns="0" rIns="0" bIns="0" rtlCol="0" anchor="t">
            <a:normAutofit/>
          </a:bodyPr>
          <a:lstStyle/>
          <a:p>
            <a:pPr marL="0" indent="0" algn="ctr">
              <a:lnSpc>
                <a:spcPct val="90000"/>
              </a:lnSpc>
              <a:buNone/>
            </a:pPr>
            <a:r>
              <a:rPr lang="en-US" sz="900" dirty="0">
                <a:solidFill>
                  <a:srgbClr val="3C3939"/>
                </a:solidFill>
                <a:latin typeface="Roboto" pitchFamily="34" charset="0"/>
                <a:ea typeface="Roboto" pitchFamily="34" charset="-122"/>
                <a:cs typeface="Roboto" pitchFamily="34" charset="-120"/>
              </a:rPr>
              <a:t>Standard-library focused code</a:t>
            </a:r>
            <a:endParaRPr lang="en-US" sz="900" dirty="0"/>
          </a:p>
        </p:txBody>
      </p:sp>
      <p:sp>
        <p:nvSpPr>
          <p:cNvPr id="27" name="Text 19"/>
          <p:cNvSpPr/>
          <p:nvPr/>
        </p:nvSpPr>
        <p:spPr>
          <a:xfrm>
            <a:off x="10177668" y="2931583"/>
            <a:ext cx="1031362" cy="375695"/>
          </a:xfrm>
          <a:prstGeom prst="rect">
            <a:avLst/>
          </a:prstGeom>
          <a:noFill/>
          <a:ln/>
        </p:spPr>
        <p:txBody>
          <a:bodyPr wrap="square" lIns="0" tIns="0" rIns="0" bIns="0" rtlCol="0" anchor="t">
            <a:normAutofit/>
          </a:bodyPr>
          <a:lstStyle/>
          <a:p>
            <a:pPr marL="0" indent="0" algn="ctr">
              <a:lnSpc>
                <a:spcPct val="104000"/>
              </a:lnSpc>
              <a:buNone/>
            </a:pPr>
            <a:r>
              <a:rPr lang="en-US" sz="1150" dirty="0">
                <a:solidFill>
                  <a:srgbClr val="3C3939"/>
                </a:solidFill>
                <a:latin typeface="Raleway" pitchFamily="34" charset="0"/>
                <a:ea typeface="Raleway" pitchFamily="34" charset="-122"/>
                <a:cs typeface="Raleway" pitchFamily="34" charset="-120"/>
              </a:rPr>
              <a:t>GitHub Actions CI</a:t>
            </a:r>
            <a:endParaRPr lang="en-US" sz="1150" dirty="0"/>
          </a:p>
        </p:txBody>
      </p:sp>
      <p:sp>
        <p:nvSpPr>
          <p:cNvPr id="28" name="Text 20"/>
          <p:cNvSpPr/>
          <p:nvPr/>
        </p:nvSpPr>
        <p:spPr>
          <a:xfrm>
            <a:off x="10177668" y="3360711"/>
            <a:ext cx="1031362" cy="260482"/>
          </a:xfrm>
          <a:prstGeom prst="rect">
            <a:avLst/>
          </a:prstGeom>
          <a:noFill/>
          <a:ln/>
        </p:spPr>
        <p:txBody>
          <a:bodyPr wrap="square" lIns="0" tIns="0" rIns="0" bIns="0" rtlCol="0" anchor="t">
            <a:normAutofit/>
          </a:bodyPr>
          <a:lstStyle/>
          <a:p>
            <a:pPr marL="0" indent="0" algn="ctr">
              <a:lnSpc>
                <a:spcPct val="90000"/>
              </a:lnSpc>
              <a:buNone/>
            </a:pPr>
            <a:r>
              <a:rPr lang="en-US" sz="900" dirty="0">
                <a:solidFill>
                  <a:srgbClr val="3C3939"/>
                </a:solidFill>
                <a:latin typeface="Roboto" pitchFamily="34" charset="0"/>
                <a:ea typeface="Roboto" pitchFamily="34" charset="-122"/>
                <a:cs typeface="Roboto" pitchFamily="34" charset="-120"/>
              </a:rPr>
              <a:t>Automated validation pipeline</a:t>
            </a:r>
            <a:endParaRPr lang="en-US" sz="900" dirty="0"/>
          </a:p>
        </p:txBody>
      </p:sp>
      <p:sp>
        <p:nvSpPr>
          <p:cNvPr id="29" name="Text 21"/>
          <p:cNvSpPr/>
          <p:nvPr/>
        </p:nvSpPr>
        <p:spPr>
          <a:xfrm>
            <a:off x="7588462" y="2931583"/>
            <a:ext cx="1031362" cy="375695"/>
          </a:xfrm>
          <a:prstGeom prst="rect">
            <a:avLst/>
          </a:prstGeom>
          <a:noFill/>
          <a:ln/>
        </p:spPr>
        <p:txBody>
          <a:bodyPr wrap="square" lIns="0" tIns="0" rIns="0" bIns="0" rtlCol="0" anchor="t">
            <a:normAutofit/>
          </a:bodyPr>
          <a:lstStyle/>
          <a:p>
            <a:pPr marL="0" indent="0" algn="ctr">
              <a:lnSpc>
                <a:spcPct val="104000"/>
              </a:lnSpc>
              <a:buNone/>
            </a:pPr>
            <a:r>
              <a:rPr lang="en-US" sz="1150" dirty="0">
                <a:solidFill>
                  <a:srgbClr val="1B1B27"/>
                </a:solidFill>
                <a:latin typeface="Raleway" pitchFamily="34" charset="0"/>
                <a:ea typeface="Raleway" pitchFamily="34" charset="-122"/>
                <a:cs typeface="Raleway" pitchFamily="34" charset="-120"/>
              </a:rPr>
              <a:t>Detection Rules</a:t>
            </a:r>
            <a:endParaRPr lang="en-US" sz="1150" dirty="0"/>
          </a:p>
        </p:txBody>
      </p:sp>
      <p:sp>
        <p:nvSpPr>
          <p:cNvPr id="30" name="Text 22"/>
          <p:cNvSpPr/>
          <p:nvPr/>
        </p:nvSpPr>
        <p:spPr>
          <a:xfrm>
            <a:off x="7588462" y="3360711"/>
            <a:ext cx="1031362" cy="260482"/>
          </a:xfrm>
          <a:prstGeom prst="rect">
            <a:avLst/>
          </a:prstGeom>
          <a:noFill/>
          <a:ln/>
        </p:spPr>
        <p:txBody>
          <a:bodyPr wrap="square" lIns="0" tIns="0" rIns="0" bIns="0" rtlCol="0" anchor="t">
            <a:normAutofit/>
          </a:bodyPr>
          <a:lstStyle/>
          <a:p>
            <a:pPr marL="0" indent="0" algn="ctr">
              <a:lnSpc>
                <a:spcPct val="90000"/>
              </a:lnSpc>
              <a:buNone/>
            </a:pPr>
            <a:r>
              <a:rPr lang="en-US" sz="900" dirty="0">
                <a:solidFill>
                  <a:srgbClr val="3C3939"/>
                </a:solidFill>
                <a:latin typeface="Roboto" pitchFamily="34" charset="0"/>
                <a:ea typeface="Roboto" pitchFamily="34" charset="-122"/>
                <a:cs typeface="Roboto" pitchFamily="34" charset="-120"/>
              </a:rPr>
              <a:t>Regex and dataclass rules</a:t>
            </a:r>
            <a:endParaRPr lang="en-US" sz="9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661475" y="579735"/>
            <a:ext cx="1713564" cy="246856"/>
          </a:xfrm>
          <a:prstGeom prst="roundRect">
            <a:avLst>
              <a:gd name="adj" fmla="val 22110"/>
            </a:avLst>
          </a:prstGeom>
          <a:noFill/>
          <a:ln w="6350">
            <a:solidFill>
              <a:srgbClr val="1B1B27"/>
            </a:solidFill>
            <a:prstDash val="solid"/>
          </a:ln>
        </p:spPr>
        <p:txBody>
          <a:bodyPr/>
          <a:p/>
        </p:txBody>
      </p:sp>
      <p:pic>
        <p:nvPicPr>
          <p:cNvPr id="3" name="Picture 2" descr="image.png"/>
          <p:cNvPicPr>
            <a:picLocks noChangeAspect="1"/>
          </p:cNvPicPr>
          <p:nvPr/>
        </p:nvPicPr>
        <p:blipFill>
          <a:blip r:embed="rId2"/>
          <a:srcRect/>
          <a:stretch>
            <a:fillRect/>
          </a:stretch>
        </p:blipFill>
        <p:spPr>
          <a:xfrm>
            <a:off x="758905" y="638175"/>
            <a:ext cx="129874" cy="129877"/>
          </a:xfrm>
          <a:prstGeom prst="rect">
            <a:avLst/>
          </a:prstGeom>
        </p:spPr>
      </p:pic>
      <p:sp>
        <p:nvSpPr>
          <p:cNvPr id="4" name="Text 1"/>
          <p:cNvSpPr/>
          <p:nvPr/>
        </p:nvSpPr>
        <p:spPr>
          <a:xfrm>
            <a:off x="953667" y="628452"/>
            <a:ext cx="1933527" cy="149423"/>
          </a:xfrm>
          <a:prstGeom prst="rect">
            <a:avLst/>
          </a:prstGeom>
          <a:noFill/>
          <a:ln/>
        </p:spPr>
        <p:txBody>
          <a:bodyPr wrap="none" lIns="0" tIns="0" rIns="0" bIns="0" rtlCol="0" anchor="t"/>
          <a:lstStyle/>
          <a:p>
            <a:pPr marL="0" indent="0" algn="l">
              <a:lnSpc>
                <a:spcPct val="96000"/>
              </a:lnSpc>
              <a:buNone/>
            </a:pPr>
            <a:r>
              <a:rPr lang="en-US" sz="1000" dirty="0">
                <a:solidFill>
                  <a:srgbClr val="1B1B27"/>
                </a:solidFill>
                <a:latin typeface="Roboto" pitchFamily="34" charset="0"/>
                <a:ea typeface="Roboto" pitchFamily="34" charset="-122"/>
                <a:cs typeface="Roboto" pitchFamily="34" charset="-120"/>
              </a:rPr>
              <a:t>TELEMETRY TO ALERT</a:t>
            </a:r>
            <a:endParaRPr lang="en-US" sz="1000" dirty="0"/>
          </a:p>
        </p:txBody>
      </p:sp>
      <p:sp>
        <p:nvSpPr>
          <p:cNvPr id="5" name="Text 2"/>
          <p:cNvSpPr/>
          <p:nvPr/>
        </p:nvSpPr>
        <p:spPr>
          <a:xfrm>
            <a:off x="661475" y="882352"/>
            <a:ext cx="10868745" cy="507603"/>
          </a:xfrm>
          <a:prstGeom prst="rect">
            <a:avLst/>
          </a:prstGeom>
          <a:noFill/>
          <a:ln/>
        </p:spPr>
        <p:txBody>
          <a:bodyPr wrap="none" lIns="0" tIns="0" rIns="0" bIns="0" rtlCol="0" anchor="t"/>
          <a:lstStyle/>
          <a:p>
            <a:pPr marL="0" indent="0" algn="l">
              <a:lnSpc>
                <a:spcPct val="104000"/>
              </a:lnSpc>
              <a:buNone/>
            </a:pPr>
            <a:r>
              <a:rPr lang="en-US" sz="3150" dirty="0">
                <a:solidFill>
                  <a:srgbClr val="1B1B27"/>
                </a:solidFill>
                <a:latin typeface="Raleway" pitchFamily="34" charset="0"/>
                <a:ea typeface="Raleway" pitchFamily="34" charset="-122"/>
                <a:cs typeface="Raleway" pitchFamily="34" charset="-120"/>
              </a:rPr>
              <a:t>From Telemetry to Alert</a:t>
            </a:r>
            <a:endParaRPr lang="en-US" sz="3150" dirty="0"/>
          </a:p>
        </p:txBody>
      </p:sp>
      <p:sp>
        <p:nvSpPr>
          <p:cNvPr id="6" name="Text 3"/>
          <p:cNvSpPr/>
          <p:nvPr/>
        </p:nvSpPr>
        <p:spPr>
          <a:xfrm>
            <a:off x="661475" y="1599307"/>
            <a:ext cx="11478330" cy="241598"/>
          </a:xfrm>
          <a:prstGeom prst="rect">
            <a:avLst/>
          </a:prstGeom>
          <a:noFill/>
          <a:ln/>
        </p:spPr>
        <p:txBody>
          <a:bodyPr wrap="none" lIns="0" tIns="0" rIns="0" bIns="0" rtlCol="0" anchor="t"/>
          <a:lstStyle/>
          <a:p>
            <a:pPr marL="0" indent="0" algn="l">
              <a:lnSpc>
                <a:spcPct val="124000"/>
              </a:lnSpc>
              <a:buNone/>
            </a:pPr>
            <a:r>
              <a:rPr lang="en-US" sz="1250" b="1" dirty="0">
                <a:solidFill>
                  <a:srgbClr val="3C3939"/>
                </a:solidFill>
                <a:latin typeface="Roboto Bold" pitchFamily="34" charset="0"/>
                <a:ea typeface="Roboto Bold" pitchFamily="34" charset="-122"/>
                <a:cs typeface="Roboto Bold" pitchFamily="34" charset="-120"/>
              </a:rPr>
              <a:t>Synthetic demonstration: How raw events become investigation-ready signals</a:t>
            </a:r>
            <a:endParaRPr lang="en-US" sz="1250" dirty="0"/>
          </a:p>
        </p:txBody>
      </p:sp>
      <p:pic>
        <p:nvPicPr>
          <p:cNvPr id="7" name="Picture 6" descr="image.png"/>
          <p:cNvPicPr>
            <a:picLocks noChangeAspect="1"/>
          </p:cNvPicPr>
          <p:nvPr/>
        </p:nvPicPr>
        <p:blipFill>
          <a:blip r:embed="rId3"/>
          <a:srcRect/>
          <a:stretch>
            <a:fillRect/>
          </a:stretch>
        </p:blipFill>
        <p:spPr>
          <a:xfrm>
            <a:off x="661475" y="3130451"/>
            <a:ext cx="4672987" cy="2015133"/>
          </a:xfrm>
          <a:prstGeom prst="rect">
            <a:avLst/>
          </a:prstGeom>
        </p:spPr>
      </p:pic>
      <p:sp>
        <p:nvSpPr>
          <p:cNvPr id="8" name="Text 4"/>
          <p:cNvSpPr/>
          <p:nvPr/>
        </p:nvSpPr>
        <p:spPr>
          <a:xfrm>
            <a:off x="975936" y="4763439"/>
            <a:ext cx="1060134" cy="132521"/>
          </a:xfrm>
          <a:prstGeom prst="rect">
            <a:avLst/>
          </a:prstGeom>
          <a:noFill/>
          <a:ln/>
        </p:spPr>
        <p:txBody>
          <a:bodyPr wrap="none" lIns="0" tIns="0" rIns="0" bIns="0" rtlCol="0" anchor="t"/>
          <a:lstStyle/>
          <a:p>
            <a:pPr marL="0" indent="0" algn="l">
              <a:lnSpc>
                <a:spcPct val="104000"/>
              </a:lnSpc>
              <a:buNone/>
            </a:pPr>
            <a:r>
              <a:rPr lang="en-US" sz="800" dirty="0">
                <a:solidFill>
                  <a:srgbClr val="FFFFFF"/>
                </a:solidFill>
                <a:latin typeface="Raleway" pitchFamily="34" charset="0"/>
                <a:ea typeface="Raleway" pitchFamily="34" charset="-122"/>
                <a:cs typeface="Raleway" pitchFamily="34" charset="-120"/>
              </a:rPr>
              <a:t>Correlation</a:t>
            </a:r>
            <a:endParaRPr lang="en-US" sz="800" dirty="0"/>
          </a:p>
        </p:txBody>
      </p:sp>
      <p:sp>
        <p:nvSpPr>
          <p:cNvPr id="9" name="Text 5"/>
          <p:cNvSpPr/>
          <p:nvPr/>
        </p:nvSpPr>
        <p:spPr>
          <a:xfrm>
            <a:off x="975936" y="4296968"/>
            <a:ext cx="1060134" cy="132520"/>
          </a:xfrm>
          <a:prstGeom prst="rect">
            <a:avLst/>
          </a:prstGeom>
          <a:noFill/>
          <a:ln/>
        </p:spPr>
        <p:txBody>
          <a:bodyPr wrap="none" lIns="0" tIns="0" rIns="0" bIns="0" rtlCol="0" anchor="t"/>
          <a:lstStyle/>
          <a:p>
            <a:pPr marL="0" indent="0" algn="l">
              <a:lnSpc>
                <a:spcPct val="104000"/>
              </a:lnSpc>
              <a:buNone/>
            </a:pPr>
            <a:r>
              <a:rPr lang="en-US" sz="800" dirty="0">
                <a:solidFill>
                  <a:srgbClr val="FFFFFF"/>
                </a:solidFill>
                <a:latin typeface="Raleway" pitchFamily="34" charset="0"/>
                <a:ea typeface="Raleway" pitchFamily="34" charset="-122"/>
                <a:cs typeface="Raleway" pitchFamily="34" charset="-120"/>
              </a:rPr>
              <a:t>Normalized Event</a:t>
            </a:r>
            <a:endParaRPr lang="en-US" sz="800" dirty="0"/>
          </a:p>
        </p:txBody>
      </p:sp>
      <p:sp>
        <p:nvSpPr>
          <p:cNvPr id="10" name="Text 6"/>
          <p:cNvSpPr/>
          <p:nvPr/>
        </p:nvSpPr>
        <p:spPr>
          <a:xfrm>
            <a:off x="975936" y="3835209"/>
            <a:ext cx="1060134" cy="132520"/>
          </a:xfrm>
          <a:prstGeom prst="rect">
            <a:avLst/>
          </a:prstGeom>
          <a:noFill/>
          <a:ln/>
        </p:spPr>
        <p:txBody>
          <a:bodyPr wrap="none" lIns="0" tIns="0" rIns="0" bIns="0" rtlCol="0" anchor="t"/>
          <a:lstStyle/>
          <a:p>
            <a:pPr marL="0" indent="0" algn="l">
              <a:lnSpc>
                <a:spcPct val="104000"/>
              </a:lnSpc>
              <a:buNone/>
            </a:pPr>
            <a:r>
              <a:rPr lang="en-US" sz="800" dirty="0">
                <a:solidFill>
                  <a:srgbClr val="FFFFFF"/>
                </a:solidFill>
                <a:latin typeface="Raleway" pitchFamily="34" charset="0"/>
                <a:ea typeface="Raleway" pitchFamily="34" charset="-122"/>
                <a:cs typeface="Raleway" pitchFamily="34" charset="-120"/>
              </a:rPr>
              <a:t>Parser</a:t>
            </a:r>
            <a:endParaRPr lang="en-US" sz="800" dirty="0"/>
          </a:p>
        </p:txBody>
      </p:sp>
      <p:sp>
        <p:nvSpPr>
          <p:cNvPr id="11" name="Text 7"/>
          <p:cNvSpPr/>
          <p:nvPr/>
        </p:nvSpPr>
        <p:spPr>
          <a:xfrm>
            <a:off x="975936" y="3368739"/>
            <a:ext cx="1060134" cy="132520"/>
          </a:xfrm>
          <a:prstGeom prst="rect">
            <a:avLst/>
          </a:prstGeom>
          <a:noFill/>
          <a:ln/>
        </p:spPr>
        <p:txBody>
          <a:bodyPr wrap="none" lIns="0" tIns="0" rIns="0" bIns="0" rtlCol="0" anchor="t"/>
          <a:lstStyle/>
          <a:p>
            <a:pPr marL="0" indent="0" algn="l">
              <a:lnSpc>
                <a:spcPct val="104000"/>
              </a:lnSpc>
              <a:buNone/>
            </a:pPr>
            <a:r>
              <a:rPr lang="en-US" sz="800" dirty="0">
                <a:solidFill>
                  <a:srgbClr val="FFFFFF"/>
                </a:solidFill>
                <a:latin typeface="Raleway" pitchFamily="34" charset="0"/>
                <a:ea typeface="Raleway" pitchFamily="34" charset="-122"/>
                <a:cs typeface="Raleway" pitchFamily="34" charset="-120"/>
              </a:rPr>
              <a:t>Synthetic Events</a:t>
            </a:r>
            <a:endParaRPr lang="en-US" sz="800" dirty="0"/>
          </a:p>
        </p:txBody>
      </p:sp>
      <p:sp>
        <p:nvSpPr>
          <p:cNvPr id="12" name="Shape 8"/>
          <p:cNvSpPr/>
          <p:nvPr/>
        </p:nvSpPr>
        <p:spPr>
          <a:xfrm>
            <a:off x="5620105" y="1997869"/>
            <a:ext cx="6033440" cy="4280297"/>
          </a:xfrm>
          <a:prstGeom prst="roundRect">
            <a:avLst>
              <a:gd name="adj" fmla="val 2732"/>
            </a:avLst>
          </a:prstGeom>
          <a:solidFill>
            <a:srgbClr val="64C8FF">
              <a:alpha val="95000"/>
            </a:srgbClr>
          </a:solidFill>
          <a:ln/>
        </p:spPr>
        <p:txBody>
          <a:bodyPr/>
          <a:p/>
        </p:txBody>
      </p:sp>
      <p:sp>
        <p:nvSpPr>
          <p:cNvPr id="13" name="Text 9"/>
          <p:cNvSpPr/>
          <p:nvPr/>
        </p:nvSpPr>
        <p:spPr>
          <a:xfrm>
            <a:off x="5782523" y="2137370"/>
            <a:ext cx="5708606" cy="253802"/>
          </a:xfrm>
          <a:prstGeom prst="rect">
            <a:avLst/>
          </a:prstGeom>
          <a:noFill/>
          <a:ln/>
        </p:spPr>
        <p:txBody>
          <a:bodyPr wrap="none" lIns="0" tIns="0" rIns="0" bIns="0" rtlCol="0" anchor="t"/>
          <a:lstStyle/>
          <a:p>
            <a:pPr marL="0" indent="0" algn="l">
              <a:lnSpc>
                <a:spcPct val="104000"/>
              </a:lnSpc>
              <a:buNone/>
            </a:pPr>
            <a:r>
              <a:rPr lang="en-US" sz="1550" dirty="0">
                <a:solidFill>
                  <a:srgbClr val="1B1B27"/>
                </a:solidFill>
                <a:latin typeface="Raleway" pitchFamily="34" charset="0"/>
                <a:ea typeface="Raleway" pitchFamily="34" charset="-122"/>
                <a:cs typeface="Raleway" pitchFamily="34" charset="-120"/>
              </a:rPr>
              <a:t>Example Alert — </a:t>
            </a:r>
            <a:r>
              <a:rPr lang="en-US" sz="1550" i="1" dirty="0">
                <a:solidFill>
                  <a:srgbClr val="1B1B27"/>
                </a:solidFill>
                <a:latin typeface="Raleway" pitchFamily="34" charset="0"/>
                <a:ea typeface="Raleway" pitchFamily="34" charset="-122"/>
                <a:cs typeface="Raleway" pitchFamily="34" charset="-120"/>
              </a:rPr>
              <a:t>Synthetic Data</a:t>
            </a:r>
            <a:endParaRPr lang="en-US" sz="15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782523" y="2548136"/>
          <a:ext cx="5708607" cy="914400"/>
        </p:xfrm>
        <a:graphic>
          <a:graphicData uri="http://schemas.openxmlformats.org/drawingml/2006/table">
            <a:tbl>
              <a:tblPr/>
              <a:tblGrid>
                <a:gridCol w="2854303">
                  <a:extLst>
                    <a:ext uri="{9D8B030D-6E8A-4147-A177-3AD203B41FA5}">
                      <a16:colId xmlns:a16="http://schemas.microsoft.com/office/drawing/2014/main" val="20000"/>
                    </a:ext>
                  </a:extLst>
                </a:gridCol>
                <a:gridCol w="2854303">
                  <a:extLst>
                    <a:ext uri="{9D8B030D-6E8A-4147-A177-3AD203B41FA5}">
                      <a16:colId xmlns:a16="http://schemas.microsoft.com/office/drawing/2014/main" val="20001"/>
                    </a:ext>
                  </a:extLst>
                </a:gridCol>
              </a:tblGrid>
              <a:tr h="424943">
                <a:tc>
                  <a:txBody>
                    <a:bodyPr/>
                    <a:lstStyle/>
                    <a:p>
                      <a:pPr marL="0" indent="0" algn="l">
                        <a:buNone/>
                      </a:pPr>
                      <a:r>
                        <a:rPr lang="en-US" sz="1250" b="1" dirty="0">
                          <a:solidFill>
                            <a:srgbClr val="3C3939"/>
                          </a:solidFill>
                          <a:latin typeface="Roboto" pitchFamily="34" charset="0"/>
                          <a:ea typeface="Roboto" pitchFamily="34" charset="-122"/>
                          <a:cs typeface="Roboto" pitchFamily="34" charset="-120"/>
                        </a:rPr>
                        <a:t>Field</a:t>
                      </a:r>
                      <a:endParaRPr lang="en-US" sz="1250" dirty="0">
                        <a:latin typeface="Roboto" charset="0"/>
                        <a:ea typeface="Roboto" charset="0"/>
                        <a:cs typeface="Roboto" charset="0"/>
                      </a:endParaRPr>
                    </a:p>
                  </a:txBody>
                  <a:tcPr marL="162438" marR="162438" marT="6350" marB="6350" anchor="ctr">
                    <a:lnL w="12700" cap="flat" cmpd="sng" algn="ctr">
                      <a:solidFill>
                        <a:srgbClr val="3C3939"/>
                      </a:solidFill>
                      <a:prstDash val="solid"/>
                      <a:round/>
                      <a:headEnd type="none" w="med" len="med"/>
                      <a:tailEnd type="none" w="med" len="med"/>
                    </a:lnL>
                    <a:lnR w="12700" cap="flat" cmpd="sng" algn="ctr">
                      <a:solidFill>
                        <a:srgbClr val="6CCBFF"/>
                      </a:solidFill>
                      <a:prstDash val="solid"/>
                      <a:round/>
                      <a:headEnd type="none" w="med" len="med"/>
                      <a:tailEnd type="none" w="med" len="med"/>
                    </a:lnR>
                    <a:lnT w="12700" cap="flat" cmpd="sng" algn="ctr">
                      <a:solidFill>
                        <a:srgbClr val="3C3939"/>
                      </a:solidFill>
                      <a:prstDash val="solid"/>
                      <a:round/>
                      <a:headEnd type="none" w="med" len="med"/>
                      <a:tailEnd type="none" w="med" len="med"/>
                    </a:lnT>
                    <a:lnB w="12700" cap="flat" cmpd="sng" algn="ctr">
                      <a:solidFill>
                        <a:srgbClr val="3C3939"/>
                      </a:solidFill>
                      <a:prstDash val="solid"/>
                      <a:round/>
                      <a:headEnd type="none" w="med" len="med"/>
                      <a:tailEnd type="none" w="med" len="med"/>
                    </a:lnB>
                  </a:tcPr>
                </a:tc>
                <a:tc>
                  <a:txBody>
                    <a:bodyPr/>
                    <a:lstStyle/>
                    <a:p>
                      <a:pPr marL="0" indent="0" algn="l">
                        <a:buNone/>
                      </a:pPr>
                      <a:r>
                        <a:rPr lang="en-US" sz="1250" b="1" dirty="0">
                          <a:solidFill>
                            <a:srgbClr val="3C3939"/>
                          </a:solidFill>
                          <a:latin typeface="Roboto" pitchFamily="34" charset="0"/>
                          <a:ea typeface="Roboto" pitchFamily="34" charset="-122"/>
                          <a:cs typeface="Roboto" pitchFamily="34" charset="-120"/>
                        </a:rPr>
                        <a:t>Value</a:t>
                      </a:r>
                      <a:endParaRPr lang="en-US" sz="1250" dirty="0">
                        <a:latin typeface="Roboto" charset="0"/>
                        <a:ea typeface="Roboto" charset="0"/>
                        <a:cs typeface="Roboto" charset="0"/>
                      </a:endParaRPr>
                    </a:p>
                  </a:txBody>
                  <a:tcPr marL="162438" marR="162438" marT="6350" marB="6350" anchor="ctr">
                    <a:lnL w="12700" cap="flat" cmpd="sng" algn="ctr">
                      <a:solidFill>
                        <a:srgbClr val="6CCBFF"/>
                      </a:solidFill>
                      <a:prstDash val="solid"/>
                      <a:round/>
                      <a:headEnd type="none" w="med" len="med"/>
                      <a:tailEnd type="none" w="med" len="med"/>
                    </a:lnL>
                    <a:lnR w="12700" cap="flat" cmpd="sng" algn="ctr">
                      <a:solidFill>
                        <a:srgbClr val="3C3939"/>
                      </a:solidFill>
                      <a:prstDash val="solid"/>
                      <a:round/>
                      <a:headEnd type="none" w="med" len="med"/>
                      <a:tailEnd type="none" w="med" len="med"/>
                    </a:lnR>
                    <a:lnT w="12700" cap="flat" cmpd="sng" algn="ctr">
                      <a:solidFill>
                        <a:srgbClr val="3C3939"/>
                      </a:solidFill>
                      <a:prstDash val="solid"/>
                      <a:round/>
                      <a:headEnd type="none" w="med" len="med"/>
                      <a:tailEnd type="none" w="med" len="med"/>
                    </a:lnT>
                    <a:lnB w="12700" cap="flat" cmpd="sng" algn="ctr">
                      <a:solidFill>
                        <a:srgbClr val="3C3939"/>
                      </a:solidFill>
                      <a:prstDash val="solid"/>
                      <a:round/>
                      <a:headEnd type="none" w="med" len="med"/>
                      <a:tailEnd type="none" w="med" len="med"/>
                    </a:lnB>
                  </a:tcPr>
                </a:tc>
                <a:extLst>
                  <a:ext uri="{0D108BD9-81ED-4DB2-BD59-A6C34878D82A}">
                    <a16:rowId xmlns:a16="http://schemas.microsoft.com/office/drawing/2014/main" val="10000"/>
                  </a:ext>
                </a:extLst>
              </a:tr>
              <a:tr h="434468">
                <a:tc>
                  <a:txBody>
                    <a:bodyPr/>
                    <a:lstStyle/>
                    <a:p>
                      <a:pPr marL="0" indent="0" algn="l">
                        <a:buNone/>
                      </a:pPr>
                      <a:r>
                        <a:rPr lang="en-US" sz="1250" dirty="0">
                          <a:solidFill>
                            <a:srgbClr val="3C3939"/>
                          </a:solidFill>
                          <a:latin typeface="Roboto" pitchFamily="34" charset="0"/>
                          <a:ea typeface="Roboto" pitchFamily="34" charset="-122"/>
                          <a:cs typeface="Roboto" pitchFamily="34" charset="-120"/>
                        </a:rPr>
                        <a:t>Source IP</a:t>
                      </a:r>
                      <a:endParaRPr lang="en-US" sz="1250" dirty="0">
                        <a:latin typeface="Roboto" charset="0"/>
                        <a:ea typeface="Roboto" charset="0"/>
                        <a:cs typeface="Roboto" charset="0"/>
                      </a:endParaRPr>
                    </a:p>
                  </a:txBody>
                  <a:tcPr marL="162438" marR="162438" marT="6350" marB="6350" anchor="ctr">
                    <a:lnL w="12700" cap="flat" cmpd="sng" algn="ctr">
                      <a:solidFill>
                        <a:srgbClr val="3C3939"/>
                      </a:solidFill>
                      <a:prstDash val="solid"/>
                      <a:round/>
                      <a:headEnd type="none" w="med" len="med"/>
                      <a:tailEnd type="none" w="med" len="med"/>
                    </a:lnL>
                    <a:lnR w="12700" cap="flat" cmpd="sng" algn="ctr">
                      <a:solidFill>
                        <a:srgbClr val="6CCBFF"/>
                      </a:solidFill>
                      <a:prstDash val="solid"/>
                      <a:round/>
                      <a:headEnd type="none" w="med" len="med"/>
                      <a:tailEnd type="none" w="med" len="med"/>
                    </a:lnR>
                    <a:lnT w="12700" cap="flat" cmpd="sng" algn="ctr">
                      <a:solidFill>
                        <a:srgbClr val="3C3939"/>
                      </a:solidFill>
                      <a:prstDash val="solid"/>
                      <a:round/>
                      <a:headEnd type="none" w="med" len="med"/>
                      <a:tailEnd type="none" w="med" len="med"/>
                    </a:lnT>
                    <a:lnB w="12700" cap="flat" cmpd="sng" algn="ctr">
                      <a:solidFill>
                        <a:srgbClr val="3C3939"/>
                      </a:solidFill>
                      <a:prstDash val="solid"/>
                      <a:round/>
                      <a:headEnd type="none" w="med" len="med"/>
                      <a:tailEnd type="none" w="med" len="med"/>
                    </a:lnB>
                  </a:tcPr>
                </a:tc>
                <a:tc>
                  <a:txBody>
                    <a:bodyPr/>
                    <a:lstStyle/>
                    <a:p>
                      <a:pPr marL="0" indent="0" algn="l">
                        <a:buNone/>
                      </a:pPr>
                      <a:r>
                        <a:rPr lang="en-US" sz="1250" dirty="0">
                          <a:solidFill>
                            <a:srgbClr val="3C3939"/>
                          </a:solidFill>
                          <a:latin typeface="Consolas" pitchFamily="34" charset="0"/>
                          <a:ea typeface="Consolas" pitchFamily="34" charset="-122"/>
                          <a:cs typeface="Consolas" pitchFamily="34" charset="-120"/>
                        </a:rPr>
                        <a:t>192.0.2.10</a:t>
                      </a:r>
                      <a:endParaRPr lang="en-US" sz="1250" dirty="0">
                        <a:latin typeface="Consolas" charset="0"/>
                        <a:ea typeface="Consolas" charset="0"/>
                        <a:cs typeface="Consolas" charset="0"/>
                      </a:endParaRPr>
                    </a:p>
                  </a:txBody>
                  <a:tcPr marL="162438" marR="162438" marT="6350" marB="6350" anchor="ctr">
                    <a:lnL w="12700" cap="flat" cmpd="sng" algn="ctr">
                      <a:solidFill>
                        <a:srgbClr val="6CCBFF"/>
                      </a:solidFill>
                      <a:prstDash val="solid"/>
                      <a:round/>
                      <a:headEnd type="none" w="med" len="med"/>
                      <a:tailEnd type="none" w="med" len="med"/>
                    </a:lnL>
                    <a:lnR w="12700" cap="flat" cmpd="sng" algn="ctr">
                      <a:solidFill>
                        <a:srgbClr val="3C3939"/>
                      </a:solidFill>
                      <a:prstDash val="solid"/>
                      <a:round/>
                      <a:headEnd type="none" w="med" len="med"/>
                      <a:tailEnd type="none" w="med" len="med"/>
                    </a:lnR>
                    <a:lnT w="12700" cap="flat" cmpd="sng" algn="ctr">
                      <a:solidFill>
                        <a:srgbClr val="3C3939"/>
                      </a:solidFill>
                      <a:prstDash val="solid"/>
                      <a:round/>
                      <a:headEnd type="none" w="med" len="med"/>
                      <a:tailEnd type="none" w="med" len="med"/>
                    </a:lnT>
                    <a:lnB w="12700" cap="flat" cmpd="sng" algn="ctr">
                      <a:solidFill>
                        <a:srgbClr val="3C3939"/>
                      </a:solidFill>
                      <a:prstDash val="solid"/>
                      <a:round/>
                      <a:headEnd type="none" w="med" len="med"/>
                      <a:tailEnd type="none" w="med" len="med"/>
                    </a:lnB>
                  </a:tcPr>
                </a:tc>
                <a:extLst>
                  <a:ext uri="{0D108BD9-81ED-4DB2-BD59-A6C34878D82A}">
                    <a16:rowId xmlns:a16="http://schemas.microsoft.com/office/drawing/2014/main" val="10001"/>
                  </a:ext>
                </a:extLst>
              </a:tr>
              <a:tr h="434468">
                <a:tc>
                  <a:txBody>
                    <a:bodyPr/>
                    <a:lstStyle/>
                    <a:p>
                      <a:pPr marL="0" indent="0" algn="l">
                        <a:buNone/>
                      </a:pPr>
                      <a:r>
                        <a:rPr lang="en-US" sz="1250" dirty="0">
                          <a:solidFill>
                            <a:srgbClr val="3C3939"/>
                          </a:solidFill>
                          <a:latin typeface="Roboto" pitchFamily="34" charset="0"/>
                          <a:ea typeface="Roboto" pitchFamily="34" charset="-122"/>
                          <a:cs typeface="Roboto" pitchFamily="34" charset="-120"/>
                        </a:rPr>
                        <a:t>Username</a:t>
                      </a:r>
                      <a:endParaRPr lang="en-US" sz="1250" dirty="0">
                        <a:latin typeface="Roboto" charset="0"/>
                        <a:ea typeface="Roboto" charset="0"/>
                        <a:cs typeface="Roboto" charset="0"/>
                      </a:endParaRPr>
                    </a:p>
                  </a:txBody>
                  <a:tcPr marL="162438" marR="162438" marT="6350" marB="6350" anchor="ctr">
                    <a:lnL w="12700" cap="flat" cmpd="sng" algn="ctr">
                      <a:solidFill>
                        <a:srgbClr val="3C3939"/>
                      </a:solidFill>
                      <a:prstDash val="solid"/>
                      <a:round/>
                      <a:headEnd type="none" w="med" len="med"/>
                      <a:tailEnd type="none" w="med" len="med"/>
                    </a:lnL>
                    <a:lnR w="12700" cap="flat" cmpd="sng" algn="ctr">
                      <a:solidFill>
                        <a:srgbClr val="6CCBFF"/>
                      </a:solidFill>
                      <a:prstDash val="solid"/>
                      <a:round/>
                      <a:headEnd type="none" w="med" len="med"/>
                      <a:tailEnd type="none" w="med" len="med"/>
                    </a:lnR>
                    <a:lnT w="12700" cap="flat" cmpd="sng" algn="ctr">
                      <a:solidFill>
                        <a:srgbClr val="3C3939"/>
                      </a:solidFill>
                      <a:prstDash val="solid"/>
                      <a:round/>
                      <a:headEnd type="none" w="med" len="med"/>
                      <a:tailEnd type="none" w="med" len="med"/>
                    </a:lnT>
                    <a:lnB w="12700" cap="flat" cmpd="sng" algn="ctr">
                      <a:solidFill>
                        <a:srgbClr val="3C3939"/>
                      </a:solidFill>
                      <a:prstDash val="solid"/>
                      <a:round/>
                      <a:headEnd type="none" w="med" len="med"/>
                      <a:tailEnd type="none" w="med" len="med"/>
                    </a:lnB>
                  </a:tcPr>
                </a:tc>
                <a:tc>
                  <a:txBody>
                    <a:bodyPr/>
                    <a:lstStyle/>
                    <a:p>
                      <a:pPr marL="0" indent="0" algn="l">
                        <a:buNone/>
                      </a:pPr>
                      <a:r>
                        <a:rPr lang="en-US" sz="1250" dirty="0">
                          <a:solidFill>
                            <a:srgbClr val="3C3939"/>
                          </a:solidFill>
                          <a:latin typeface="Consolas" pitchFamily="34" charset="0"/>
                          <a:ea typeface="Consolas" pitchFamily="34" charset="-122"/>
                          <a:cs typeface="Consolas" pitchFamily="34" charset="-120"/>
                        </a:rPr>
                        <a:t>alice</a:t>
                      </a:r>
                      <a:endParaRPr lang="en-US" sz="1250" dirty="0">
                        <a:latin typeface="Consolas" charset="0"/>
                        <a:ea typeface="Consolas" charset="0"/>
                        <a:cs typeface="Consolas" charset="0"/>
                      </a:endParaRPr>
                    </a:p>
                  </a:txBody>
                  <a:tcPr marL="162438" marR="162438" marT="6350" marB="6350" anchor="ctr">
                    <a:lnL w="12700" cap="flat" cmpd="sng" algn="ctr">
                      <a:solidFill>
                        <a:srgbClr val="6CCBFF"/>
                      </a:solidFill>
                      <a:prstDash val="solid"/>
                      <a:round/>
                      <a:headEnd type="none" w="med" len="med"/>
                      <a:tailEnd type="none" w="med" len="med"/>
                    </a:lnL>
                    <a:lnR w="12700" cap="flat" cmpd="sng" algn="ctr">
                      <a:solidFill>
                        <a:srgbClr val="3C3939"/>
                      </a:solidFill>
                      <a:prstDash val="solid"/>
                      <a:round/>
                      <a:headEnd type="none" w="med" len="med"/>
                      <a:tailEnd type="none" w="med" len="med"/>
                    </a:lnR>
                    <a:lnT w="12700" cap="flat" cmpd="sng" algn="ctr">
                      <a:solidFill>
                        <a:srgbClr val="3C3939"/>
                      </a:solidFill>
                      <a:prstDash val="solid"/>
                      <a:round/>
                      <a:headEnd type="none" w="med" len="med"/>
                      <a:tailEnd type="none" w="med" len="med"/>
                    </a:lnT>
                    <a:lnB w="12700" cap="flat" cmpd="sng" algn="ctr">
                      <a:solidFill>
                        <a:srgbClr val="3C3939"/>
                      </a:solidFill>
                      <a:prstDash val="solid"/>
                      <a:round/>
                      <a:headEnd type="none" w="med" len="med"/>
                      <a:tailEnd type="none" w="med" len="med"/>
                    </a:lnB>
                  </a:tcPr>
                </a:tc>
                <a:extLst>
                  <a:ext uri="{0D108BD9-81ED-4DB2-BD59-A6C34878D82A}">
                    <a16:rowId xmlns:a16="http://schemas.microsoft.com/office/drawing/2014/main" val="10002"/>
                  </a:ext>
                </a:extLst>
              </a:tr>
              <a:tr h="434468">
                <a:tc>
                  <a:txBody>
                    <a:bodyPr/>
                    <a:lstStyle/>
                    <a:p>
                      <a:pPr marL="0" indent="0" algn="l">
                        <a:buNone/>
                      </a:pPr>
                      <a:r>
                        <a:rPr lang="en-US" sz="1250" dirty="0">
                          <a:solidFill>
                            <a:srgbClr val="3C3939"/>
                          </a:solidFill>
                          <a:latin typeface="Roboto" pitchFamily="34" charset="0"/>
                          <a:ea typeface="Roboto" pitchFamily="34" charset="-122"/>
                          <a:cs typeface="Roboto" pitchFamily="34" charset="-120"/>
                        </a:rPr>
                        <a:t>Pattern</a:t>
                      </a:r>
                      <a:endParaRPr lang="en-US" sz="1250" dirty="0">
                        <a:latin typeface="Roboto" charset="0"/>
                        <a:ea typeface="Roboto" charset="0"/>
                        <a:cs typeface="Roboto" charset="0"/>
                      </a:endParaRPr>
                    </a:p>
                  </a:txBody>
                  <a:tcPr marL="162438" marR="162438" marT="6350" marB="6350" anchor="ctr">
                    <a:lnL w="12700" cap="flat" cmpd="sng" algn="ctr">
                      <a:solidFill>
                        <a:srgbClr val="3C3939"/>
                      </a:solidFill>
                      <a:prstDash val="solid"/>
                      <a:round/>
                      <a:headEnd type="none" w="med" len="med"/>
                      <a:tailEnd type="none" w="med" len="med"/>
                    </a:lnL>
                    <a:lnR w="12700" cap="flat" cmpd="sng" algn="ctr">
                      <a:solidFill>
                        <a:srgbClr val="6CCBFF"/>
                      </a:solidFill>
                      <a:prstDash val="solid"/>
                      <a:round/>
                      <a:headEnd type="none" w="med" len="med"/>
                      <a:tailEnd type="none" w="med" len="med"/>
                    </a:lnR>
                    <a:lnT w="12700" cap="flat" cmpd="sng" algn="ctr">
                      <a:solidFill>
                        <a:srgbClr val="3C3939"/>
                      </a:solidFill>
                      <a:prstDash val="solid"/>
                      <a:round/>
                      <a:headEnd type="none" w="med" len="med"/>
                      <a:tailEnd type="none" w="med" len="med"/>
                    </a:lnT>
                    <a:lnB w="12700" cap="flat" cmpd="sng" algn="ctr">
                      <a:solidFill>
                        <a:srgbClr val="3C3939"/>
                      </a:solidFill>
                      <a:prstDash val="solid"/>
                      <a:round/>
                      <a:headEnd type="none" w="med" len="med"/>
                      <a:tailEnd type="none" w="med" len="med"/>
                    </a:lnB>
                  </a:tcPr>
                </a:tc>
                <a:tc>
                  <a:txBody>
                    <a:bodyPr/>
                    <a:lstStyle/>
                    <a:p>
                      <a:pPr marL="0" indent="0" algn="l">
                        <a:buNone/>
                      </a:pPr>
                      <a:r>
                        <a:rPr lang="en-US" sz="1250" dirty="0">
                          <a:solidFill>
                            <a:srgbClr val="3C3939"/>
                          </a:solidFill>
                          <a:latin typeface="Consolas" pitchFamily="34" charset="0"/>
                          <a:ea typeface="Consolas" pitchFamily="34" charset="-122"/>
                          <a:cs typeface="Consolas" pitchFamily="34" charset="-120"/>
                        </a:rPr>
                        <a:t>Failed × 5</a:t>
                      </a:r>
                      <a:endParaRPr lang="en-US" sz="1250" dirty="0">
                        <a:latin typeface="Consolas" charset="0"/>
                        <a:ea typeface="Consolas" charset="0"/>
                        <a:cs typeface="Consolas" charset="0"/>
                      </a:endParaRPr>
                    </a:p>
                  </a:txBody>
                  <a:tcPr marL="162438" marR="162438" marT="6350" marB="6350" anchor="ctr">
                    <a:lnL w="12700" cap="flat" cmpd="sng" algn="ctr">
                      <a:solidFill>
                        <a:srgbClr val="6CCBFF"/>
                      </a:solidFill>
                      <a:prstDash val="solid"/>
                      <a:round/>
                      <a:headEnd type="none" w="med" len="med"/>
                      <a:tailEnd type="none" w="med" len="med"/>
                    </a:lnL>
                    <a:lnR w="12700" cap="flat" cmpd="sng" algn="ctr">
                      <a:solidFill>
                        <a:srgbClr val="3C3939"/>
                      </a:solidFill>
                      <a:prstDash val="solid"/>
                      <a:round/>
                      <a:headEnd type="none" w="med" len="med"/>
                      <a:tailEnd type="none" w="med" len="med"/>
                    </a:lnR>
                    <a:lnT w="12700" cap="flat" cmpd="sng" algn="ctr">
                      <a:solidFill>
                        <a:srgbClr val="3C3939"/>
                      </a:solidFill>
                      <a:prstDash val="solid"/>
                      <a:round/>
                      <a:headEnd type="none" w="med" len="med"/>
                      <a:tailEnd type="none" w="med" len="med"/>
                    </a:lnT>
                    <a:lnB w="12700" cap="flat" cmpd="sng" algn="ctr">
                      <a:solidFill>
                        <a:srgbClr val="3C3939"/>
                      </a:solidFill>
                      <a:prstDash val="solid"/>
                      <a:round/>
                      <a:headEnd type="none" w="med" len="med"/>
                      <a:tailEnd type="none" w="med" len="med"/>
                    </a:lnB>
                  </a:tcPr>
                </a:tc>
                <a:extLst>
                  <a:ext uri="{0D108BD9-81ED-4DB2-BD59-A6C34878D82A}">
                    <a16:rowId xmlns:a16="http://schemas.microsoft.com/office/drawing/2014/main" val="10003"/>
                  </a:ext>
                </a:extLst>
              </a:tr>
              <a:tr h="434468">
                <a:tc>
                  <a:txBody>
                    <a:bodyPr/>
                    <a:lstStyle/>
                    <a:p>
                      <a:pPr marL="0" indent="0" algn="l">
                        <a:buNone/>
                      </a:pPr>
                      <a:r>
                        <a:rPr lang="en-US" sz="1250" dirty="0">
                          <a:solidFill>
                            <a:srgbClr val="3C3939"/>
                          </a:solidFill>
                          <a:latin typeface="Roboto" pitchFamily="34" charset="0"/>
                          <a:ea typeface="Roboto" pitchFamily="34" charset="-122"/>
                          <a:cs typeface="Roboto" pitchFamily="34" charset="-120"/>
                        </a:rPr>
                        <a:t>Rule Triggered</a:t>
                      </a:r>
                      <a:endParaRPr lang="en-US" sz="1250" dirty="0">
                        <a:latin typeface="Roboto" charset="0"/>
                        <a:ea typeface="Roboto" charset="0"/>
                        <a:cs typeface="Roboto" charset="0"/>
                      </a:endParaRPr>
                    </a:p>
                  </a:txBody>
                  <a:tcPr marL="162438" marR="162438" marT="6350" marB="6350" anchor="ctr">
                    <a:lnL w="12700" cap="flat" cmpd="sng" algn="ctr">
                      <a:solidFill>
                        <a:srgbClr val="3C3939"/>
                      </a:solidFill>
                      <a:prstDash val="solid"/>
                      <a:round/>
                      <a:headEnd type="none" w="med" len="med"/>
                      <a:tailEnd type="none" w="med" len="med"/>
                    </a:lnL>
                    <a:lnR w="12700" cap="flat" cmpd="sng" algn="ctr">
                      <a:solidFill>
                        <a:srgbClr val="6CCBFF"/>
                      </a:solidFill>
                      <a:prstDash val="solid"/>
                      <a:round/>
                      <a:headEnd type="none" w="med" len="med"/>
                      <a:tailEnd type="none" w="med" len="med"/>
                    </a:lnR>
                    <a:lnT w="12700" cap="flat" cmpd="sng" algn="ctr">
                      <a:solidFill>
                        <a:srgbClr val="3C3939"/>
                      </a:solidFill>
                      <a:prstDash val="solid"/>
                      <a:round/>
                      <a:headEnd type="none" w="med" len="med"/>
                      <a:tailEnd type="none" w="med" len="med"/>
                    </a:lnT>
                    <a:lnB w="12700" cap="flat" cmpd="sng" algn="ctr">
                      <a:solidFill>
                        <a:srgbClr val="3C3939"/>
                      </a:solidFill>
                      <a:prstDash val="solid"/>
                      <a:round/>
                      <a:headEnd type="none" w="med" len="med"/>
                      <a:tailEnd type="none" w="med" len="med"/>
                    </a:lnB>
                  </a:tcPr>
                </a:tc>
                <a:tc>
                  <a:txBody>
                    <a:bodyPr/>
                    <a:lstStyle/>
                    <a:p>
                      <a:pPr marL="0" indent="0" algn="l">
                        <a:buNone/>
                      </a:pPr>
                      <a:r>
                        <a:rPr lang="en-US" sz="1250" dirty="0">
                          <a:solidFill>
                            <a:srgbClr val="3C3939"/>
                          </a:solidFill>
                          <a:latin typeface="Consolas" pitchFamily="34" charset="0"/>
                          <a:ea typeface="Consolas" pitchFamily="34" charset="-122"/>
                          <a:cs typeface="Consolas" pitchFamily="34" charset="-120"/>
                        </a:rPr>
                        <a:t>AUTH-001</a:t>
                      </a:r>
                      <a:endParaRPr lang="en-US" sz="1250" dirty="0">
                        <a:latin typeface="Consolas" charset="0"/>
                        <a:ea typeface="Consolas" charset="0"/>
                        <a:cs typeface="Consolas" charset="0"/>
                      </a:endParaRPr>
                    </a:p>
                  </a:txBody>
                  <a:tcPr marL="162438" marR="162438" marT="6350" marB="6350" anchor="ctr">
                    <a:lnL w="12700" cap="flat" cmpd="sng" algn="ctr">
                      <a:solidFill>
                        <a:srgbClr val="6CCBFF"/>
                      </a:solidFill>
                      <a:prstDash val="solid"/>
                      <a:round/>
                      <a:headEnd type="none" w="med" len="med"/>
                      <a:tailEnd type="none" w="med" len="med"/>
                    </a:lnL>
                    <a:lnR w="12700" cap="flat" cmpd="sng" algn="ctr">
                      <a:solidFill>
                        <a:srgbClr val="3C3939"/>
                      </a:solidFill>
                      <a:prstDash val="solid"/>
                      <a:round/>
                      <a:headEnd type="none" w="med" len="med"/>
                      <a:tailEnd type="none" w="med" len="med"/>
                    </a:lnR>
                    <a:lnT w="12700" cap="flat" cmpd="sng" algn="ctr">
                      <a:solidFill>
                        <a:srgbClr val="3C3939"/>
                      </a:solidFill>
                      <a:prstDash val="solid"/>
                      <a:round/>
                      <a:headEnd type="none" w="med" len="med"/>
                      <a:tailEnd type="none" w="med" len="med"/>
                    </a:lnT>
                    <a:lnB w="12700" cap="flat" cmpd="sng" algn="ctr">
                      <a:solidFill>
                        <a:srgbClr val="3C3939"/>
                      </a:solidFill>
                      <a:prstDash val="solid"/>
                      <a:round/>
                      <a:headEnd type="none" w="med" len="med"/>
                      <a:tailEnd type="none" w="med" len="med"/>
                    </a:lnB>
                  </a:tcPr>
                </a:tc>
                <a:extLst>
                  <a:ext uri="{0D108BD9-81ED-4DB2-BD59-A6C34878D82A}">
                    <a16:rowId xmlns:a16="http://schemas.microsoft.com/office/drawing/2014/main" val="10004"/>
                  </a:ext>
                </a:extLst>
              </a:tr>
              <a:tr h="424943">
                <a:tc>
                  <a:txBody>
                    <a:bodyPr/>
                    <a:lstStyle/>
                    <a:p>
                      <a:pPr marL="0" indent="0" algn="l">
                        <a:buNone/>
                      </a:pPr>
                      <a:r>
                        <a:rPr lang="en-US" sz="1250" dirty="0">
                          <a:solidFill>
                            <a:srgbClr val="3C3939"/>
                          </a:solidFill>
                          <a:latin typeface="Roboto" pitchFamily="34" charset="0"/>
                          <a:ea typeface="Roboto" pitchFamily="34" charset="-122"/>
                          <a:cs typeface="Roboto" pitchFamily="34" charset="-120"/>
                        </a:rPr>
                        <a:t>Severity</a:t>
                      </a:r>
                      <a:endParaRPr lang="en-US" sz="1250" dirty="0">
                        <a:latin typeface="Roboto" charset="0"/>
                        <a:ea typeface="Roboto" charset="0"/>
                        <a:cs typeface="Roboto" charset="0"/>
                      </a:endParaRPr>
                    </a:p>
                  </a:txBody>
                  <a:tcPr marL="162438" marR="162438" marT="6350" marB="6350" anchor="ctr">
                    <a:lnL w="12700" cap="flat" cmpd="sng" algn="ctr">
                      <a:solidFill>
                        <a:srgbClr val="3C3939"/>
                      </a:solidFill>
                      <a:prstDash val="solid"/>
                      <a:round/>
                      <a:headEnd type="none" w="med" len="med"/>
                      <a:tailEnd type="none" w="med" len="med"/>
                    </a:lnL>
                    <a:lnR w="12700" cap="flat" cmpd="sng" algn="ctr">
                      <a:solidFill>
                        <a:srgbClr val="6CCBFF"/>
                      </a:solidFill>
                      <a:prstDash val="solid"/>
                      <a:round/>
                      <a:headEnd type="none" w="med" len="med"/>
                      <a:tailEnd type="none" w="med" len="med"/>
                    </a:lnR>
                    <a:lnT w="12700" cap="flat" cmpd="sng" algn="ctr">
                      <a:solidFill>
                        <a:srgbClr val="3C3939"/>
                      </a:solidFill>
                      <a:prstDash val="solid"/>
                      <a:round/>
                      <a:headEnd type="none" w="med" len="med"/>
                      <a:tailEnd type="none" w="med" len="med"/>
                    </a:lnT>
                    <a:lnB w="12700" cap="flat" cmpd="sng" algn="ctr">
                      <a:solidFill>
                        <a:srgbClr val="3C3939"/>
                      </a:solidFill>
                      <a:prstDash val="solid"/>
                      <a:round/>
                      <a:headEnd type="none" w="med" len="med"/>
                      <a:tailEnd type="none" w="med" len="med"/>
                    </a:lnB>
                  </a:tcPr>
                </a:tc>
                <a:tc>
                  <a:txBody>
                    <a:bodyPr/>
                    <a:lstStyle/>
                    <a:p>
                      <a:pPr marL="0" indent="0" algn="l">
                        <a:buNone/>
                      </a:pPr>
                      <a:r>
                        <a:rPr lang="en-US" sz="1250" dirty="0">
                          <a:solidFill>
                            <a:srgbClr val="3C3939"/>
                          </a:solidFill>
                          <a:latin typeface="Roboto" pitchFamily="34" charset="0"/>
                          <a:ea typeface="Roboto" pitchFamily="34" charset="-122"/>
                          <a:cs typeface="Roboto" pitchFamily="34" charset="-120"/>
                        </a:rPr>
                        <a:t>Medium</a:t>
                      </a:r>
                      <a:endParaRPr lang="en-US" sz="1250" dirty="0">
                        <a:latin typeface="Roboto" charset="0"/>
                        <a:ea typeface="Roboto" charset="0"/>
                        <a:cs typeface="Roboto" charset="0"/>
                      </a:endParaRPr>
                    </a:p>
                  </a:txBody>
                  <a:tcPr marL="162438" marR="162438" marT="6350" marB="6350" anchor="ctr">
                    <a:lnL w="12700" cap="flat" cmpd="sng" algn="ctr">
                      <a:solidFill>
                        <a:srgbClr val="6CCBFF"/>
                      </a:solidFill>
                      <a:prstDash val="solid"/>
                      <a:round/>
                      <a:headEnd type="none" w="med" len="med"/>
                      <a:tailEnd type="none" w="med" len="med"/>
                    </a:lnL>
                    <a:lnR w="12700" cap="flat" cmpd="sng" algn="ctr">
                      <a:solidFill>
                        <a:srgbClr val="3C3939"/>
                      </a:solidFill>
                      <a:prstDash val="solid"/>
                      <a:round/>
                      <a:headEnd type="none" w="med" len="med"/>
                      <a:tailEnd type="none" w="med" len="med"/>
                    </a:lnR>
                    <a:lnT w="12700" cap="flat" cmpd="sng" algn="ctr">
                      <a:solidFill>
                        <a:srgbClr val="3C3939"/>
                      </a:solidFill>
                      <a:prstDash val="solid"/>
                      <a:round/>
                      <a:headEnd type="none" w="med" len="med"/>
                      <a:tailEnd type="none" w="med" len="med"/>
                    </a:lnT>
                    <a:lnB w="12700" cap="flat" cmpd="sng" algn="ctr">
                      <a:solidFill>
                        <a:srgbClr val="3C393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5" name="Shape 10"/>
          <p:cNvSpPr/>
          <p:nvPr/>
        </p:nvSpPr>
        <p:spPr>
          <a:xfrm>
            <a:off x="5782523" y="5305623"/>
            <a:ext cx="5708606" cy="815578"/>
          </a:xfrm>
          <a:prstGeom prst="roundRect">
            <a:avLst>
              <a:gd name="adj" fmla="val 8365"/>
            </a:avLst>
          </a:prstGeom>
          <a:solidFill>
            <a:srgbClr val="E1E1EA"/>
          </a:solidFill>
          <a:ln/>
        </p:spPr>
        <p:txBody>
          <a:bodyPr/>
          <a:p/>
        </p:txBody>
      </p:sp>
      <p:pic>
        <p:nvPicPr>
          <p:cNvPr id="16" name="Picture 15" descr="image.png"/>
          <p:cNvPicPr>
            <a:picLocks noChangeAspect="1"/>
          </p:cNvPicPr>
          <p:nvPr/>
        </p:nvPicPr>
        <p:blipFill>
          <a:blip r:embed="rId4"/>
          <a:srcRect/>
          <a:stretch>
            <a:fillRect/>
          </a:stretch>
        </p:blipFill>
        <p:spPr>
          <a:xfrm>
            <a:off x="5944940" y="5521325"/>
            <a:ext cx="202996" cy="162421"/>
          </a:xfrm>
          <a:prstGeom prst="rect">
            <a:avLst/>
          </a:prstGeom>
        </p:spPr>
      </p:pic>
      <p:sp>
        <p:nvSpPr>
          <p:cNvPr id="17" name="Text 11"/>
          <p:cNvSpPr/>
          <p:nvPr/>
        </p:nvSpPr>
        <p:spPr>
          <a:xfrm>
            <a:off x="6310353" y="5471815"/>
            <a:ext cx="5018359" cy="483195"/>
          </a:xfrm>
          <a:prstGeom prst="rect">
            <a:avLst/>
          </a:prstGeom>
          <a:noFill/>
          <a:ln/>
        </p:spPr>
        <p:txBody>
          <a:bodyPr wrap="square" lIns="0" tIns="0" rIns="0" bIns="0" rtlCol="0" anchor="t">
            <a:normAutofit/>
          </a:bodyPr>
          <a:lstStyle/>
          <a:p>
            <a:pPr marL="0" indent="0" algn="l">
              <a:lnSpc>
                <a:spcPct val="124000"/>
              </a:lnSpc>
              <a:buNone/>
            </a:pPr>
            <a:r>
              <a:rPr lang="en-US" sz="1250" i="1" dirty="0">
                <a:solidFill>
                  <a:srgbClr val="000000"/>
                </a:solidFill>
                <a:latin typeface="Roboto" pitchFamily="34" charset="0"/>
                <a:ea typeface="Roboto" pitchFamily="34" charset="-122"/>
                <a:cs typeface="Roboto" pitchFamily="34" charset="-120"/>
              </a:rPr>
              <a:t>Synthetic demonstration data — no real unauthorized access depicted</a:t>
            </a:r>
            <a:endParaRPr lang="en-US" sz="125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661475" y="598190"/>
            <a:ext cx="1793632" cy="246856"/>
          </a:xfrm>
          <a:prstGeom prst="roundRect">
            <a:avLst>
              <a:gd name="adj" fmla="val 22110"/>
            </a:avLst>
          </a:prstGeom>
          <a:noFill/>
          <a:ln w="6350">
            <a:solidFill>
              <a:srgbClr val="1B1B27"/>
            </a:solidFill>
            <a:prstDash val="solid"/>
          </a:ln>
        </p:spPr>
        <p:txBody>
          <a:bodyPr/>
          <a:p/>
        </p:txBody>
      </p:sp>
      <p:pic>
        <p:nvPicPr>
          <p:cNvPr id="3" name="Picture 2" descr="image.png"/>
          <p:cNvPicPr>
            <a:picLocks noChangeAspect="1"/>
          </p:cNvPicPr>
          <p:nvPr/>
        </p:nvPicPr>
        <p:blipFill>
          <a:blip r:embed="rId2"/>
          <a:srcRect/>
          <a:stretch>
            <a:fillRect/>
          </a:stretch>
        </p:blipFill>
        <p:spPr>
          <a:xfrm>
            <a:off x="758905" y="656630"/>
            <a:ext cx="129874" cy="129877"/>
          </a:xfrm>
          <a:prstGeom prst="rect">
            <a:avLst/>
          </a:prstGeom>
        </p:spPr>
      </p:pic>
      <p:sp>
        <p:nvSpPr>
          <p:cNvPr id="4" name="Text 1"/>
          <p:cNvSpPr/>
          <p:nvPr/>
        </p:nvSpPr>
        <p:spPr>
          <a:xfrm>
            <a:off x="953667" y="646906"/>
            <a:ext cx="2013594" cy="149423"/>
          </a:xfrm>
          <a:prstGeom prst="rect">
            <a:avLst/>
          </a:prstGeom>
          <a:noFill/>
          <a:ln/>
        </p:spPr>
        <p:txBody>
          <a:bodyPr wrap="none" lIns="0" tIns="0" rIns="0" bIns="0" rtlCol="0" anchor="t"/>
          <a:lstStyle/>
          <a:p>
            <a:pPr marL="0" indent="0" algn="l">
              <a:lnSpc>
                <a:spcPct val="96000"/>
              </a:lnSpc>
              <a:buNone/>
            </a:pPr>
            <a:r>
              <a:rPr lang="en-US" sz="1000" dirty="0">
                <a:solidFill>
                  <a:srgbClr val="1B1B27"/>
                </a:solidFill>
                <a:latin typeface="Roboto" pitchFamily="34" charset="0"/>
                <a:ea typeface="Roboto" pitchFamily="34" charset="-122"/>
                <a:cs typeface="Roboto" pitchFamily="34" charset="-120"/>
              </a:rPr>
              <a:t>SECURITY BOUNDARIES</a:t>
            </a:r>
            <a:endParaRPr lang="en-US" sz="1000" dirty="0"/>
          </a:p>
        </p:txBody>
      </p:sp>
      <p:sp>
        <p:nvSpPr>
          <p:cNvPr id="5" name="Text 2"/>
          <p:cNvSpPr/>
          <p:nvPr/>
        </p:nvSpPr>
        <p:spPr>
          <a:xfrm>
            <a:off x="661475" y="900807"/>
            <a:ext cx="10868745" cy="507603"/>
          </a:xfrm>
          <a:prstGeom prst="rect">
            <a:avLst/>
          </a:prstGeom>
          <a:noFill/>
          <a:ln/>
        </p:spPr>
        <p:txBody>
          <a:bodyPr wrap="none" lIns="0" tIns="0" rIns="0" bIns="0" rtlCol="0" anchor="t"/>
          <a:lstStyle/>
          <a:p>
            <a:pPr marL="0" indent="0" algn="l">
              <a:lnSpc>
                <a:spcPct val="104000"/>
              </a:lnSpc>
              <a:buNone/>
            </a:pPr>
            <a:r>
              <a:rPr lang="en-US" sz="3150" dirty="0">
                <a:solidFill>
                  <a:srgbClr val="1B1B27"/>
                </a:solidFill>
                <a:latin typeface="Raleway" pitchFamily="34" charset="0"/>
                <a:ea typeface="Raleway" pitchFamily="34" charset="-122"/>
                <a:cs typeface="Raleway" pitchFamily="34" charset="-120"/>
              </a:rPr>
              <a:t>Security Boundaries &amp; Limitations</a:t>
            </a:r>
            <a:endParaRPr lang="en-US" sz="3150" dirty="0"/>
          </a:p>
        </p:txBody>
      </p:sp>
      <p:sp>
        <p:nvSpPr>
          <p:cNvPr id="6" name="Text 3"/>
          <p:cNvSpPr/>
          <p:nvPr/>
        </p:nvSpPr>
        <p:spPr>
          <a:xfrm>
            <a:off x="661475" y="1617762"/>
            <a:ext cx="11478330" cy="241598"/>
          </a:xfrm>
          <a:prstGeom prst="rect">
            <a:avLst/>
          </a:prstGeom>
          <a:noFill/>
          <a:ln/>
        </p:spPr>
        <p:txBody>
          <a:bodyPr wrap="none" lIns="0" tIns="0" rIns="0" bIns="0" rtlCol="0" anchor="t"/>
          <a:lstStyle/>
          <a:p>
            <a:pPr marL="0" indent="0" algn="l">
              <a:lnSpc>
                <a:spcPct val="124000"/>
              </a:lnSpc>
              <a:buNone/>
            </a:pPr>
            <a:r>
              <a:rPr lang="en-US" sz="1250" b="1" dirty="0">
                <a:solidFill>
                  <a:srgbClr val="3C3939"/>
                </a:solidFill>
                <a:latin typeface="Roboto Bold" pitchFamily="34" charset="0"/>
                <a:ea typeface="Roboto Bold" pitchFamily="34" charset="-122"/>
                <a:cs typeface="Roboto Bold" pitchFamily="34" charset="-120"/>
              </a:rPr>
              <a:t>Honest scope definition for defensive security operations</a:t>
            </a:r>
            <a:endParaRPr lang="en-US" sz="1250" dirty="0"/>
          </a:p>
        </p:txBody>
      </p:sp>
      <p:sp>
        <p:nvSpPr>
          <p:cNvPr id="7" name="Text 4"/>
          <p:cNvSpPr/>
          <p:nvPr/>
        </p:nvSpPr>
        <p:spPr>
          <a:xfrm>
            <a:off x="661475" y="2155825"/>
            <a:ext cx="5236238" cy="253802"/>
          </a:xfrm>
          <a:prstGeom prst="rect">
            <a:avLst/>
          </a:prstGeom>
          <a:noFill/>
          <a:ln/>
        </p:spPr>
        <p:txBody>
          <a:bodyPr wrap="none" lIns="0" tIns="0" rIns="0" bIns="0" rtlCol="0" anchor="t"/>
          <a:lstStyle/>
          <a:p>
            <a:pPr marL="0" indent="0" algn="l">
              <a:lnSpc>
                <a:spcPct val="104000"/>
              </a:lnSpc>
              <a:buNone/>
            </a:pPr>
            <a:r>
              <a:rPr lang="en-US" sz="1550" dirty="0">
                <a:solidFill>
                  <a:srgbClr val="64C8FF"/>
                </a:solidFill>
                <a:latin typeface="Raleway" pitchFamily="34" charset="0"/>
                <a:ea typeface="Raleway" pitchFamily="34" charset="-122"/>
                <a:cs typeface="Raleway" pitchFamily="34" charset="-120"/>
              </a:rPr>
              <a:t>✓ Designed For</a:t>
            </a:r>
            <a:endParaRPr lang="en-US" sz="1550" dirty="0"/>
          </a:p>
        </p:txBody>
      </p:sp>
      <p:sp>
        <p:nvSpPr>
          <p:cNvPr id="9" name="Text 5"/>
          <p:cNvSpPr/>
          <p:nvPr/>
        </p:nvSpPr>
        <p:spPr>
          <a:xfrm>
            <a:off x="919140" y="2748062"/>
            <a:ext cx="2109239" cy="483195"/>
          </a:xfrm>
          <a:prstGeom prst="rect">
            <a:avLst/>
          </a:prstGeom>
          <a:noFill/>
          <a:ln/>
        </p:spPr>
        <p:txBody>
          <a:bodyPr wrap="square" lIns="0" tIns="0" rIns="0" bIns="0" rtlCol="0" anchor="t">
            <a:normAutofit/>
          </a:bodyPr>
          <a:lstStyle/>
          <a:p>
            <a:pPr marL="0" indent="0" algn="l">
              <a:lnSpc>
                <a:spcPct val="124000"/>
              </a:lnSpc>
              <a:buNone/>
            </a:pPr>
            <a:r>
              <a:rPr lang="en-US" sz="1250" dirty="0">
                <a:solidFill>
                  <a:srgbClr val="3C3939"/>
                </a:solidFill>
                <a:latin typeface="Roboto" pitchFamily="34" charset="0"/>
                <a:ea typeface="Roboto" pitchFamily="34" charset="-122"/>
                <a:cs typeface="Roboto" pitchFamily="34" charset="-120"/>
              </a:rPr>
              <a:t>Authorized security monitoring</a:t>
            </a:r>
            <a:endParaRPr lang="en-US" sz="1250" dirty="0"/>
          </a:p>
        </p:txBody>
      </p:sp>
      <p:sp>
        <p:nvSpPr>
          <p:cNvPr id="11" name="Text 6"/>
          <p:cNvSpPr/>
          <p:nvPr/>
        </p:nvSpPr>
        <p:spPr>
          <a:xfrm>
            <a:off x="3607007" y="2748062"/>
            <a:ext cx="2109239" cy="241598"/>
          </a:xfrm>
          <a:prstGeom prst="rect">
            <a:avLst/>
          </a:prstGeom>
          <a:noFill/>
          <a:ln/>
        </p:spPr>
        <p:txBody>
          <a:bodyPr wrap="none" lIns="0" tIns="0" rIns="0" bIns="0" rtlCol="0" anchor="t"/>
          <a:lstStyle/>
          <a:p>
            <a:pPr marL="0" indent="0" algn="l">
              <a:lnSpc>
                <a:spcPct val="124000"/>
              </a:lnSpc>
              <a:buNone/>
            </a:pPr>
            <a:r>
              <a:rPr lang="en-US" sz="1250" dirty="0">
                <a:solidFill>
                  <a:srgbClr val="3C3939"/>
                </a:solidFill>
                <a:latin typeface="Roboto" pitchFamily="34" charset="0"/>
                <a:ea typeface="Roboto" pitchFamily="34" charset="-122"/>
                <a:cs typeface="Roboto" pitchFamily="34" charset="-120"/>
              </a:rPr>
              <a:t>Local security labs</a:t>
            </a:r>
            <a:endParaRPr lang="en-US" sz="1250" dirty="0"/>
          </a:p>
        </p:txBody>
      </p:sp>
      <p:sp>
        <p:nvSpPr>
          <p:cNvPr id="13" name="Text 7"/>
          <p:cNvSpPr/>
          <p:nvPr/>
        </p:nvSpPr>
        <p:spPr>
          <a:xfrm>
            <a:off x="919140" y="3733701"/>
            <a:ext cx="2109239" cy="483195"/>
          </a:xfrm>
          <a:prstGeom prst="rect">
            <a:avLst/>
          </a:prstGeom>
          <a:noFill/>
          <a:ln/>
        </p:spPr>
        <p:txBody>
          <a:bodyPr wrap="square" lIns="0" tIns="0" rIns="0" bIns="0" rtlCol="0" anchor="t">
            <a:normAutofit/>
          </a:bodyPr>
          <a:lstStyle/>
          <a:p>
            <a:pPr marL="0" indent="0" algn="l">
              <a:lnSpc>
                <a:spcPct val="124000"/>
              </a:lnSpc>
              <a:buNone/>
            </a:pPr>
            <a:r>
              <a:rPr lang="en-US" sz="1250" dirty="0">
                <a:solidFill>
                  <a:srgbClr val="3C3939"/>
                </a:solidFill>
                <a:latin typeface="Roboto" pitchFamily="34" charset="0"/>
                <a:ea typeface="Roboto" pitchFamily="34" charset="-122"/>
                <a:cs typeface="Roboto" pitchFamily="34" charset="-120"/>
              </a:rPr>
              <a:t>Detection engineering research</a:t>
            </a:r>
            <a:endParaRPr lang="en-US" sz="1250" dirty="0"/>
          </a:p>
        </p:txBody>
      </p:sp>
      <p:sp>
        <p:nvSpPr>
          <p:cNvPr id="15" name="Text 8"/>
          <p:cNvSpPr/>
          <p:nvPr/>
        </p:nvSpPr>
        <p:spPr>
          <a:xfrm>
            <a:off x="3607007" y="3733701"/>
            <a:ext cx="2109239" cy="483195"/>
          </a:xfrm>
          <a:prstGeom prst="rect">
            <a:avLst/>
          </a:prstGeom>
          <a:noFill/>
          <a:ln/>
        </p:spPr>
        <p:txBody>
          <a:bodyPr wrap="square" lIns="0" tIns="0" rIns="0" bIns="0" rtlCol="0" anchor="t">
            <a:normAutofit/>
          </a:bodyPr>
          <a:lstStyle/>
          <a:p>
            <a:pPr marL="0" indent="0" algn="l">
              <a:lnSpc>
                <a:spcPct val="124000"/>
              </a:lnSpc>
              <a:buNone/>
            </a:pPr>
            <a:r>
              <a:rPr lang="en-US" sz="1250" dirty="0">
                <a:solidFill>
                  <a:srgbClr val="3C3939"/>
                </a:solidFill>
                <a:latin typeface="Roboto" pitchFamily="34" charset="0"/>
                <a:ea typeface="Roboto" pitchFamily="34" charset="-122"/>
                <a:cs typeface="Roboto" pitchFamily="34" charset="-120"/>
              </a:rPr>
              <a:t>Authentication telemetry analysis</a:t>
            </a:r>
            <a:endParaRPr lang="en-US" sz="1250" dirty="0"/>
          </a:p>
        </p:txBody>
      </p:sp>
      <p:sp>
        <p:nvSpPr>
          <p:cNvPr id="17" name="Text 9"/>
          <p:cNvSpPr/>
          <p:nvPr/>
        </p:nvSpPr>
        <p:spPr>
          <a:xfrm>
            <a:off x="919140" y="4719340"/>
            <a:ext cx="2109239" cy="483195"/>
          </a:xfrm>
          <a:prstGeom prst="rect">
            <a:avLst/>
          </a:prstGeom>
          <a:noFill/>
          <a:ln/>
        </p:spPr>
        <p:txBody>
          <a:bodyPr wrap="square" lIns="0" tIns="0" rIns="0" bIns="0" rtlCol="0" anchor="t">
            <a:normAutofit/>
          </a:bodyPr>
          <a:lstStyle/>
          <a:p>
            <a:pPr marL="0" indent="0" algn="l">
              <a:lnSpc>
                <a:spcPct val="124000"/>
              </a:lnSpc>
              <a:buNone/>
            </a:pPr>
            <a:r>
              <a:rPr lang="en-US" sz="1250" dirty="0">
                <a:solidFill>
                  <a:srgbClr val="3C3939"/>
                </a:solidFill>
                <a:latin typeface="Roboto" pitchFamily="34" charset="0"/>
                <a:ea typeface="Roboto" pitchFamily="34" charset="-122"/>
                <a:cs typeface="Roboto" pitchFamily="34" charset="-120"/>
              </a:rPr>
              <a:t>Security automation experiments</a:t>
            </a:r>
            <a:endParaRPr lang="en-US" sz="1250" dirty="0"/>
          </a:p>
        </p:txBody>
      </p:sp>
      <p:sp>
        <p:nvSpPr>
          <p:cNvPr id="18" name="Text 10"/>
          <p:cNvSpPr/>
          <p:nvPr/>
        </p:nvSpPr>
        <p:spPr>
          <a:xfrm>
            <a:off x="6300332" y="2155825"/>
            <a:ext cx="5236238" cy="260152"/>
          </a:xfrm>
          <a:prstGeom prst="rect">
            <a:avLst/>
          </a:prstGeom>
          <a:noFill/>
          <a:ln/>
        </p:spPr>
        <p:txBody>
          <a:bodyPr wrap="none" lIns="0" tIns="0" rIns="0" bIns="0" rtlCol="0" anchor="t"/>
          <a:lstStyle/>
          <a:p>
            <a:pPr marL="0" indent="0" algn="l">
              <a:lnSpc>
                <a:spcPct val="104000"/>
              </a:lnSpc>
              <a:buNone/>
            </a:pPr>
            <a:r>
              <a:rPr lang="en-US" sz="1550" dirty="0">
                <a:solidFill>
                  <a:srgbClr val="000000"/>
                </a:solidFill>
                <a:latin typeface="Noto Color Emoji" pitchFamily="34" charset="0"/>
                <a:ea typeface="Noto Color Emoji" pitchFamily="34" charset="-122"/>
                <a:cs typeface="Noto Color Emoji" pitchFamily="34" charset="-120"/>
              </a:rPr>
              <a:t>⚠</a:t>
            </a:r>
            <a:r>
              <a:rPr lang="en-US" sz="1550" dirty="0">
                <a:solidFill>
                  <a:srgbClr val="00D9FF"/>
                </a:solidFill>
                <a:latin typeface="Raleway" pitchFamily="34" charset="0"/>
                <a:ea typeface="Raleway" pitchFamily="34" charset="-122"/>
                <a:cs typeface="Raleway" pitchFamily="34" charset="-120"/>
              </a:rPr>
              <a:t> Current Boundaries</a:t>
            </a:r>
            <a:endParaRPr lang="en-US" sz="1550" dirty="0"/>
          </a:p>
        </p:txBody>
      </p:sp>
      <p:sp>
        <p:nvSpPr>
          <p:cNvPr id="20" name="Text 11"/>
          <p:cNvSpPr/>
          <p:nvPr/>
        </p:nvSpPr>
        <p:spPr>
          <a:xfrm>
            <a:off x="6557997" y="2754412"/>
            <a:ext cx="2109239" cy="483195"/>
          </a:xfrm>
          <a:prstGeom prst="rect">
            <a:avLst/>
          </a:prstGeom>
          <a:noFill/>
          <a:ln/>
        </p:spPr>
        <p:txBody>
          <a:bodyPr wrap="square" lIns="0" tIns="0" rIns="0" bIns="0" rtlCol="0" anchor="t">
            <a:normAutofit/>
          </a:bodyPr>
          <a:lstStyle/>
          <a:p>
            <a:pPr marL="0" indent="0" algn="l">
              <a:lnSpc>
                <a:spcPct val="124000"/>
              </a:lnSpc>
              <a:buNone/>
            </a:pPr>
            <a:r>
              <a:rPr lang="en-US" sz="1250" dirty="0">
                <a:solidFill>
                  <a:srgbClr val="3C3939"/>
                </a:solidFill>
                <a:latin typeface="Roboto" pitchFamily="34" charset="0"/>
                <a:ea typeface="Roboto" pitchFamily="34" charset="-122"/>
                <a:cs typeface="Roboto" pitchFamily="34" charset="-120"/>
              </a:rPr>
              <a:t>Alerts are investigation signals, not proof</a:t>
            </a:r>
            <a:endParaRPr lang="en-US" sz="1250" dirty="0"/>
          </a:p>
        </p:txBody>
      </p:sp>
      <p:sp>
        <p:nvSpPr>
          <p:cNvPr id="22" name="Text 12"/>
          <p:cNvSpPr/>
          <p:nvPr/>
        </p:nvSpPr>
        <p:spPr>
          <a:xfrm>
            <a:off x="9245865" y="2754412"/>
            <a:ext cx="2109239" cy="483195"/>
          </a:xfrm>
          <a:prstGeom prst="rect">
            <a:avLst/>
          </a:prstGeom>
          <a:noFill/>
          <a:ln/>
        </p:spPr>
        <p:txBody>
          <a:bodyPr wrap="square" lIns="0" tIns="0" rIns="0" bIns="0" rtlCol="0" anchor="t">
            <a:normAutofit/>
          </a:bodyPr>
          <a:lstStyle/>
          <a:p>
            <a:pPr marL="0" indent="0" algn="l">
              <a:lnSpc>
                <a:spcPct val="124000"/>
              </a:lnSpc>
              <a:buNone/>
            </a:pPr>
            <a:r>
              <a:rPr lang="en-US" sz="1250" dirty="0">
                <a:solidFill>
                  <a:srgbClr val="3C3939"/>
                </a:solidFill>
                <a:latin typeface="Roboto" pitchFamily="34" charset="0"/>
                <a:ea typeface="Roboto" pitchFamily="34" charset="-122"/>
                <a:cs typeface="Roboto" pitchFamily="34" charset="-120"/>
              </a:rPr>
              <a:t>Thresholds can produce false positives</a:t>
            </a:r>
            <a:endParaRPr lang="en-US" sz="1250" dirty="0"/>
          </a:p>
        </p:txBody>
      </p:sp>
      <p:sp>
        <p:nvSpPr>
          <p:cNvPr id="24" name="Text 13"/>
          <p:cNvSpPr/>
          <p:nvPr/>
        </p:nvSpPr>
        <p:spPr>
          <a:xfrm>
            <a:off x="6557997" y="3740051"/>
            <a:ext cx="2109239" cy="483195"/>
          </a:xfrm>
          <a:prstGeom prst="rect">
            <a:avLst/>
          </a:prstGeom>
          <a:noFill/>
          <a:ln/>
        </p:spPr>
        <p:txBody>
          <a:bodyPr wrap="square" lIns="0" tIns="0" rIns="0" bIns="0" rtlCol="0" anchor="t">
            <a:normAutofit/>
          </a:bodyPr>
          <a:lstStyle/>
          <a:p>
            <a:pPr marL="0" indent="0" algn="l">
              <a:lnSpc>
                <a:spcPct val="124000"/>
              </a:lnSpc>
              <a:buNone/>
            </a:pPr>
            <a:r>
              <a:rPr lang="en-US" sz="1250" dirty="0">
                <a:solidFill>
                  <a:srgbClr val="3C3939"/>
                </a:solidFill>
                <a:latin typeface="Roboto" pitchFamily="34" charset="0"/>
                <a:ea typeface="Roboto" pitchFamily="34" charset="-122"/>
                <a:cs typeface="Roboto" pitchFamily="34" charset="-120"/>
              </a:rPr>
              <a:t>Current scope: authentication telemetry only</a:t>
            </a:r>
            <a:endParaRPr lang="en-US" sz="1250" dirty="0"/>
          </a:p>
        </p:txBody>
      </p:sp>
      <p:sp>
        <p:nvSpPr>
          <p:cNvPr id="26" name="Text 14"/>
          <p:cNvSpPr/>
          <p:nvPr/>
        </p:nvSpPr>
        <p:spPr>
          <a:xfrm>
            <a:off x="9245865" y="3740051"/>
            <a:ext cx="2109239" cy="241598"/>
          </a:xfrm>
          <a:prstGeom prst="rect">
            <a:avLst/>
          </a:prstGeom>
          <a:noFill/>
          <a:ln/>
        </p:spPr>
        <p:txBody>
          <a:bodyPr wrap="none" lIns="0" tIns="0" rIns="0" bIns="0" rtlCol="0" anchor="t"/>
          <a:lstStyle/>
          <a:p>
            <a:pPr marL="0" indent="0" algn="l">
              <a:lnSpc>
                <a:spcPct val="124000"/>
              </a:lnSpc>
              <a:buNone/>
            </a:pPr>
            <a:r>
              <a:rPr lang="en-US" sz="1250" dirty="0">
                <a:solidFill>
                  <a:srgbClr val="3C3939"/>
                </a:solidFill>
                <a:latin typeface="Roboto" pitchFamily="34" charset="0"/>
                <a:ea typeface="Roboto" pitchFamily="34" charset="-122"/>
                <a:cs typeface="Roboto" pitchFamily="34" charset="-120"/>
              </a:rPr>
              <a:t>Not a full SIEM replacement</a:t>
            </a:r>
            <a:endParaRPr lang="en-US" sz="1250" dirty="0"/>
          </a:p>
        </p:txBody>
      </p:sp>
      <p:sp>
        <p:nvSpPr>
          <p:cNvPr id="28" name="Text 15"/>
          <p:cNvSpPr/>
          <p:nvPr/>
        </p:nvSpPr>
        <p:spPr>
          <a:xfrm>
            <a:off x="6557997" y="4725690"/>
            <a:ext cx="2109239" cy="483195"/>
          </a:xfrm>
          <a:prstGeom prst="rect">
            <a:avLst/>
          </a:prstGeom>
          <a:noFill/>
          <a:ln/>
        </p:spPr>
        <p:txBody>
          <a:bodyPr wrap="square" lIns="0" tIns="0" rIns="0" bIns="0" rtlCol="0" anchor="t">
            <a:normAutofit/>
          </a:bodyPr>
          <a:lstStyle/>
          <a:p>
            <a:pPr marL="0" indent="0" algn="l">
              <a:lnSpc>
                <a:spcPct val="124000"/>
              </a:lnSpc>
              <a:buNone/>
            </a:pPr>
            <a:r>
              <a:rPr lang="en-US" sz="1250" dirty="0">
                <a:solidFill>
                  <a:srgbClr val="3C3939"/>
                </a:solidFill>
                <a:latin typeface="Roboto" pitchFamily="34" charset="0"/>
                <a:ea typeface="Roboto" pitchFamily="34" charset="-122"/>
                <a:cs typeface="Roboto" pitchFamily="34" charset="-120"/>
              </a:rPr>
              <a:t>Does not establish attacker intent by itself</a:t>
            </a:r>
            <a:endParaRPr lang="en-US" sz="1250" dirty="0"/>
          </a:p>
        </p:txBody>
      </p:sp>
      <p:sp>
        <p:nvSpPr>
          <p:cNvPr id="29" name="Text 16"/>
          <p:cNvSpPr/>
          <p:nvPr/>
        </p:nvSpPr>
        <p:spPr>
          <a:xfrm>
            <a:off x="905051" y="5861248"/>
            <a:ext cx="11234754" cy="241598"/>
          </a:xfrm>
          <a:prstGeom prst="rect">
            <a:avLst/>
          </a:prstGeom>
          <a:noFill/>
          <a:ln/>
        </p:spPr>
        <p:txBody>
          <a:bodyPr wrap="none" lIns="0" tIns="0" rIns="0" bIns="0" rtlCol="0" anchor="t"/>
          <a:lstStyle/>
          <a:p>
            <a:pPr marL="0" indent="0" algn="l">
              <a:lnSpc>
                <a:spcPct val="124000"/>
              </a:lnSpc>
              <a:buNone/>
            </a:pPr>
            <a:r>
              <a:rPr lang="en-US" sz="1250" b="1" dirty="0">
                <a:solidFill>
                  <a:srgbClr val="3C3939"/>
                </a:solidFill>
                <a:latin typeface="Roboto Bold" pitchFamily="34" charset="0"/>
                <a:ea typeface="Roboto Bold" pitchFamily="34" charset="-122"/>
                <a:cs typeface="Roboto Bold" pitchFamily="34" charset="-120"/>
              </a:rPr>
              <a:t>Core Principle:</a:t>
            </a:r>
            <a:r>
              <a:rPr lang="en-US" sz="1250" dirty="0">
                <a:solidFill>
                  <a:srgbClr val="3C3939"/>
                </a:solidFill>
                <a:latin typeface="Roboto" pitchFamily="34" charset="0"/>
                <a:ea typeface="Roboto" pitchFamily="34" charset="-122"/>
                <a:cs typeface="Roboto" pitchFamily="34" charset="-120"/>
              </a:rPr>
              <a:t> SentinelLog produces investigation signals for defensive analysts. Alerts require human judgment and contextual verification.</a:t>
            </a:r>
            <a:endParaRPr lang="en-US" sz="1250" dirty="0"/>
          </a:p>
        </p:txBody>
      </p:sp>
      <p:sp>
        <p:nvSpPr>
          <p:cNvPr id="30" name="Shape 17"/>
          <p:cNvSpPr/>
          <p:nvPr/>
        </p:nvSpPr>
        <p:spPr>
          <a:xfrm>
            <a:off x="661475" y="5704284"/>
            <a:ext cx="19050" cy="555526"/>
          </a:xfrm>
          <a:prstGeom prst="roundRect">
            <a:avLst>
              <a:gd name="adj" fmla="val 49999"/>
            </a:avLst>
          </a:prstGeom>
          <a:solidFill>
            <a:srgbClr val="1B1B27"/>
          </a:solidFill>
          <a:ln/>
        </p:spPr>
        <p:txBody>
          <a:body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661475" y="669727"/>
            <a:ext cx="1174125" cy="287139"/>
          </a:xfrm>
          <a:prstGeom prst="roundRect">
            <a:avLst>
              <a:gd name="adj" fmla="val 22118"/>
            </a:avLst>
          </a:prstGeom>
          <a:noFill/>
          <a:ln w="6350">
            <a:solidFill>
              <a:srgbClr val="1B1B27"/>
            </a:solidFill>
            <a:prstDash val="solid"/>
          </a:ln>
        </p:spPr>
        <p:txBody>
          <a:bodyPr/>
          <a:p/>
        </p:txBody>
      </p:sp>
      <p:pic>
        <p:nvPicPr>
          <p:cNvPr id="3" name="Picture 2" descr="image.png"/>
          <p:cNvPicPr>
            <a:picLocks noChangeAspect="1"/>
          </p:cNvPicPr>
          <p:nvPr/>
        </p:nvPicPr>
        <p:blipFill>
          <a:blip r:embed="rId2"/>
          <a:srcRect/>
          <a:stretch>
            <a:fillRect/>
          </a:stretch>
        </p:blipFill>
        <p:spPr>
          <a:xfrm>
            <a:off x="774879" y="737691"/>
            <a:ext cx="151206" cy="151209"/>
          </a:xfrm>
          <a:prstGeom prst="rect">
            <a:avLst/>
          </a:prstGeom>
        </p:spPr>
      </p:pic>
      <p:sp>
        <p:nvSpPr>
          <p:cNvPr id="4" name="Text 1"/>
          <p:cNvSpPr/>
          <p:nvPr/>
        </p:nvSpPr>
        <p:spPr>
          <a:xfrm>
            <a:off x="1001687" y="726380"/>
            <a:ext cx="1330093" cy="173831"/>
          </a:xfrm>
          <a:prstGeom prst="rect">
            <a:avLst/>
          </a:prstGeom>
          <a:noFill/>
          <a:ln/>
        </p:spPr>
        <p:txBody>
          <a:bodyPr wrap="none" lIns="0" tIns="0" rIns="0" bIns="0" rtlCol="0" anchor="t"/>
          <a:lstStyle/>
          <a:p>
            <a:pPr marL="0" indent="0" algn="l">
              <a:lnSpc>
                <a:spcPct val="96000"/>
              </a:lnSpc>
              <a:buNone/>
            </a:pPr>
            <a:r>
              <a:rPr lang="en-US" sz="1150" dirty="0">
                <a:solidFill>
                  <a:srgbClr val="1B1B27"/>
                </a:solidFill>
                <a:latin typeface="Roboto" pitchFamily="34" charset="0"/>
                <a:ea typeface="Roboto" pitchFamily="34" charset="-122"/>
                <a:cs typeface="Roboto" pitchFamily="34" charset="-120"/>
              </a:rPr>
              <a:t>ROADMAP</a:t>
            </a:r>
            <a:endParaRPr lang="en-US" sz="1150" dirty="0"/>
          </a:p>
        </p:txBody>
      </p:sp>
      <p:sp>
        <p:nvSpPr>
          <p:cNvPr id="5" name="Text 2"/>
          <p:cNvSpPr/>
          <p:nvPr/>
        </p:nvSpPr>
        <p:spPr>
          <a:xfrm>
            <a:off x="661475" y="1032470"/>
            <a:ext cx="10868745"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From Detection Engine to Security Monitoring Platform</a:t>
            </a:r>
            <a:endParaRPr lang="en-US" sz="3700" dirty="0"/>
          </a:p>
        </p:txBody>
      </p:sp>
      <p:sp>
        <p:nvSpPr>
          <p:cNvPr id="6" name="Text 3"/>
          <p:cNvSpPr/>
          <p:nvPr/>
        </p:nvSpPr>
        <p:spPr>
          <a:xfrm>
            <a:off x="661475" y="2497237"/>
            <a:ext cx="11478330" cy="302419"/>
          </a:xfrm>
          <a:prstGeom prst="rect">
            <a:avLst/>
          </a:prstGeom>
          <a:noFill/>
          <a:ln/>
        </p:spPr>
        <p:txBody>
          <a:bodyPr wrap="none" lIns="0" tIns="0" rIns="0" bIns="0" rtlCol="0" anchor="t"/>
          <a:lstStyle/>
          <a:p>
            <a:pPr marL="0" indent="0" algn="l">
              <a:lnSpc>
                <a:spcPct val="133000"/>
              </a:lnSpc>
              <a:buNone/>
            </a:pPr>
            <a:r>
              <a:rPr lang="en-US" sz="1450" b="1" dirty="0">
                <a:solidFill>
                  <a:srgbClr val="3C3939"/>
                </a:solidFill>
                <a:latin typeface="Roboto Bold" pitchFamily="34" charset="0"/>
                <a:ea typeface="Roboto Bold" pitchFamily="34" charset="-122"/>
                <a:cs typeface="Roboto Bold" pitchFamily="34" charset="-120"/>
              </a:rPr>
              <a:t>Roadmap: Current capabilities and planned evolution</a:t>
            </a:r>
            <a:endParaRPr lang="en-US" sz="1450" dirty="0"/>
          </a:p>
        </p:txBody>
      </p:sp>
      <p:sp>
        <p:nvSpPr>
          <p:cNvPr id="7" name="Shape 4"/>
          <p:cNvSpPr/>
          <p:nvPr/>
        </p:nvSpPr>
        <p:spPr>
          <a:xfrm>
            <a:off x="661475" y="3012281"/>
            <a:ext cx="10868745" cy="2207320"/>
          </a:xfrm>
          <a:prstGeom prst="roundRect">
            <a:avLst>
              <a:gd name="adj" fmla="val 3597"/>
            </a:avLst>
          </a:prstGeom>
          <a:solidFill>
            <a:srgbClr val="E1E1EA"/>
          </a:solidFill>
          <a:ln w="6350">
            <a:solidFill>
              <a:srgbClr val="C7C7D0"/>
            </a:solidFill>
            <a:prstDash val="solid"/>
          </a:ln>
        </p:spPr>
        <p:txBody>
          <a:bodyPr/>
          <a:p/>
        </p:txBody>
      </p:sp>
      <p:sp>
        <p:nvSpPr>
          <p:cNvPr id="8" name="Shape 5"/>
          <p:cNvSpPr/>
          <p:nvPr/>
        </p:nvSpPr>
        <p:spPr>
          <a:xfrm>
            <a:off x="667825" y="3018631"/>
            <a:ext cx="3618616" cy="2194620"/>
          </a:xfrm>
          <a:custGeom>
            <a:avLst/>
            <a:gdLst/>
            <a:ahLst/>
            <a:cxnLst/>
            <a:rect l="l" t="t" r="r" b="b"/>
            <a:pathLst>
              <a:path w="3618616" h="2194620">
                <a:moveTo>
                  <a:pt x="66156" y="0"/>
                </a:moveTo>
                <a:lnTo>
                  <a:pt x="3618616" y="0"/>
                </a:lnTo>
                <a:lnTo>
                  <a:pt x="3618616" y="2194620"/>
                </a:lnTo>
                <a:lnTo>
                  <a:pt x="66156" y="2194620"/>
                </a:lnTo>
                <a:arcTo wR="66156" hR="66158" stAng="5400000" swAng="5400000"/>
                <a:lnTo>
                  <a:pt x="0" y="66158"/>
                </a:lnTo>
                <a:arcTo wR="66156" hR="66158" stAng="10800000" swAng="5400000"/>
                <a:close/>
              </a:path>
            </a:pathLst>
          </a:custGeom>
          <a:solidFill>
            <a:srgbClr val="E1E1EA"/>
          </a:solidFill>
          <a:ln/>
        </p:spPr>
        <p:txBody>
          <a:bodyPr/>
          <a:p/>
        </p:txBody>
      </p:sp>
      <p:sp>
        <p:nvSpPr>
          <p:cNvPr id="9" name="Text 6"/>
          <p:cNvSpPr/>
          <p:nvPr/>
        </p:nvSpPr>
        <p:spPr>
          <a:xfrm>
            <a:off x="856832" y="3207643"/>
            <a:ext cx="3240602"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CURRENT</a:t>
            </a:r>
            <a:endParaRPr lang="en-US" sz="1850" dirty="0"/>
          </a:p>
        </p:txBody>
      </p:sp>
      <p:sp>
        <p:nvSpPr>
          <p:cNvPr id="10" name="Text 7"/>
          <p:cNvSpPr/>
          <p:nvPr/>
        </p:nvSpPr>
        <p:spPr>
          <a:xfrm>
            <a:off x="856832" y="3616325"/>
            <a:ext cx="3240602" cy="1407914"/>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Core Detection Engine</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CLI Interface</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AUTH-001 Rule Set</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Modular Parser</a:t>
            </a:r>
            <a:endParaRPr lang="en-US" sz="1450" dirty="0"/>
          </a:p>
        </p:txBody>
      </p:sp>
      <p:sp>
        <p:nvSpPr>
          <p:cNvPr id="11" name="Shape 8"/>
          <p:cNvSpPr/>
          <p:nvPr/>
        </p:nvSpPr>
        <p:spPr>
          <a:xfrm>
            <a:off x="4286440" y="3018631"/>
            <a:ext cx="3618715" cy="2194620"/>
          </a:xfrm>
          <a:prstGeom prst="rect">
            <a:avLst/>
          </a:prstGeom>
          <a:solidFill>
            <a:srgbClr val="E1E1EA"/>
          </a:solidFill>
          <a:ln/>
        </p:spPr>
        <p:txBody>
          <a:bodyPr/>
          <a:p/>
        </p:txBody>
      </p:sp>
      <p:sp>
        <p:nvSpPr>
          <p:cNvPr id="12" name="Shape 9"/>
          <p:cNvSpPr/>
          <p:nvPr/>
        </p:nvSpPr>
        <p:spPr>
          <a:xfrm>
            <a:off x="4286440" y="3018631"/>
            <a:ext cx="25399" cy="2194620"/>
          </a:xfrm>
          <a:prstGeom prst="roundRect">
            <a:avLst>
              <a:gd name="adj" fmla="val 50001"/>
            </a:avLst>
          </a:prstGeom>
          <a:solidFill>
            <a:srgbClr val="C7C7D0"/>
          </a:solidFill>
          <a:ln/>
        </p:spPr>
        <p:txBody>
          <a:bodyPr/>
          <a:p/>
        </p:txBody>
      </p:sp>
      <p:sp>
        <p:nvSpPr>
          <p:cNvPr id="13" name="Text 10"/>
          <p:cNvSpPr/>
          <p:nvPr/>
        </p:nvSpPr>
        <p:spPr>
          <a:xfrm>
            <a:off x="4475447" y="3207643"/>
            <a:ext cx="3240701"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NEXT</a:t>
            </a:r>
            <a:endParaRPr lang="en-US" sz="1850" dirty="0"/>
          </a:p>
        </p:txBody>
      </p:sp>
      <p:sp>
        <p:nvSpPr>
          <p:cNvPr id="14" name="Text 11"/>
          <p:cNvSpPr/>
          <p:nvPr/>
        </p:nvSpPr>
        <p:spPr>
          <a:xfrm>
            <a:off x="4475447" y="3616325"/>
            <a:ext cx="3240701" cy="1407914"/>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Stateful Real-Time Tailing</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Rule Configuration UI</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Alert Persistence</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Pluggable Output Sinks</a:t>
            </a:r>
            <a:endParaRPr lang="en-US" sz="1450" dirty="0"/>
          </a:p>
        </p:txBody>
      </p:sp>
      <p:sp>
        <p:nvSpPr>
          <p:cNvPr id="15" name="Shape 12"/>
          <p:cNvSpPr/>
          <p:nvPr/>
        </p:nvSpPr>
        <p:spPr>
          <a:xfrm>
            <a:off x="7905155" y="3018631"/>
            <a:ext cx="3618715" cy="2194620"/>
          </a:xfrm>
          <a:custGeom>
            <a:avLst/>
            <a:gdLst/>
            <a:ahLst/>
            <a:cxnLst/>
            <a:rect l="l" t="t" r="r" b="b"/>
            <a:pathLst>
              <a:path w="3618715" h="2194620">
                <a:moveTo>
                  <a:pt x="0" y="0"/>
                </a:moveTo>
                <a:lnTo>
                  <a:pt x="3552558" y="0"/>
                </a:lnTo>
                <a:arcTo wR="66156" hR="66158" stAng="16200000" swAng="5400000"/>
                <a:lnTo>
                  <a:pt x="3618715" y="2128461"/>
                </a:lnTo>
                <a:arcTo wR="66156" hR="66158" stAng="0" swAng="5400000"/>
                <a:lnTo>
                  <a:pt x="0" y="2194620"/>
                </a:lnTo>
                <a:lnTo>
                  <a:pt x="0" y="0"/>
                </a:lnTo>
                <a:close/>
              </a:path>
            </a:pathLst>
          </a:custGeom>
          <a:solidFill>
            <a:srgbClr val="E1E1EA"/>
          </a:solidFill>
          <a:ln/>
        </p:spPr>
        <p:txBody>
          <a:bodyPr/>
          <a:p/>
        </p:txBody>
      </p:sp>
      <p:sp>
        <p:nvSpPr>
          <p:cNvPr id="16" name="Shape 13"/>
          <p:cNvSpPr/>
          <p:nvPr/>
        </p:nvSpPr>
        <p:spPr>
          <a:xfrm>
            <a:off x="7905155" y="3018631"/>
            <a:ext cx="25399" cy="2194620"/>
          </a:xfrm>
          <a:prstGeom prst="roundRect">
            <a:avLst>
              <a:gd name="adj" fmla="val 50001"/>
            </a:avLst>
          </a:prstGeom>
          <a:solidFill>
            <a:srgbClr val="C7C7D0"/>
          </a:solidFill>
          <a:ln/>
        </p:spPr>
        <p:txBody>
          <a:bodyPr/>
          <a:p/>
        </p:txBody>
      </p:sp>
      <p:sp>
        <p:nvSpPr>
          <p:cNvPr id="17" name="Text 14"/>
          <p:cNvSpPr/>
          <p:nvPr/>
        </p:nvSpPr>
        <p:spPr>
          <a:xfrm>
            <a:off x="8094162" y="3207643"/>
            <a:ext cx="3240701"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FUTURE</a:t>
            </a:r>
            <a:endParaRPr lang="en-US" sz="1850" dirty="0"/>
          </a:p>
        </p:txBody>
      </p:sp>
      <p:sp>
        <p:nvSpPr>
          <p:cNvPr id="18" name="Text 15"/>
          <p:cNvSpPr/>
          <p:nvPr/>
        </p:nvSpPr>
        <p:spPr>
          <a:xfrm>
            <a:off x="8094162" y="3616325"/>
            <a:ext cx="3240701" cy="1407914"/>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Security Metrics &amp; Dashboards</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Additional Auth Formats</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Full SIEM Integration</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Multi-Source Correlation</a:t>
            </a:r>
            <a:endParaRPr lang="en-US" sz="1450" dirty="0"/>
          </a:p>
        </p:txBody>
      </p:sp>
      <p:sp>
        <p:nvSpPr>
          <p:cNvPr id="19" name="Shape 16"/>
          <p:cNvSpPr/>
          <p:nvPr/>
        </p:nvSpPr>
        <p:spPr>
          <a:xfrm>
            <a:off x="661475" y="5432227"/>
            <a:ext cx="10868745" cy="755948"/>
          </a:xfrm>
          <a:prstGeom prst="roundRect">
            <a:avLst>
              <a:gd name="adj" fmla="val 10502"/>
            </a:avLst>
          </a:prstGeom>
          <a:solidFill>
            <a:srgbClr val="B6D6FC"/>
          </a:solidFill>
          <a:ln/>
        </p:spPr>
        <p:txBody>
          <a:bodyPr/>
          <a:p/>
        </p:txBody>
      </p:sp>
      <p:pic>
        <p:nvPicPr>
          <p:cNvPr id="20" name="Picture 19" descr="image.png"/>
          <p:cNvPicPr>
            <a:picLocks noChangeAspect="1"/>
          </p:cNvPicPr>
          <p:nvPr/>
        </p:nvPicPr>
        <p:blipFill>
          <a:blip r:embed="rId3"/>
          <a:srcRect/>
          <a:stretch>
            <a:fillRect/>
          </a:stretch>
        </p:blipFill>
        <p:spPr>
          <a:xfrm>
            <a:off x="850482" y="5699919"/>
            <a:ext cx="236234" cy="189012"/>
          </a:xfrm>
          <a:prstGeom prst="rect">
            <a:avLst/>
          </a:prstGeom>
        </p:spPr>
      </p:pic>
      <p:sp>
        <p:nvSpPr>
          <p:cNvPr id="21" name="Text 17"/>
          <p:cNvSpPr/>
          <p:nvPr/>
        </p:nvSpPr>
        <p:spPr>
          <a:xfrm>
            <a:off x="1275723" y="5668466"/>
            <a:ext cx="10675075" cy="302419"/>
          </a:xfrm>
          <a:prstGeom prst="rect">
            <a:avLst/>
          </a:prstGeom>
          <a:noFill/>
          <a:ln/>
        </p:spPr>
        <p:txBody>
          <a:bodyPr wrap="none" lIns="0" tIns="0" rIns="0" bIns="0" rtlCol="0" anchor="t"/>
          <a:lstStyle/>
          <a:p>
            <a:pPr marL="0" indent="0" algn="l">
              <a:lnSpc>
                <a:spcPct val="133000"/>
              </a:lnSpc>
              <a:buNone/>
            </a:pPr>
            <a:r>
              <a:rPr lang="en-US" sz="1450" dirty="0">
                <a:solidFill>
                  <a:srgbClr val="000000"/>
                </a:solidFill>
                <a:latin typeface="Roboto" pitchFamily="34" charset="0"/>
                <a:ea typeface="Roboto" pitchFamily="34" charset="-122"/>
                <a:cs typeface="Roboto" pitchFamily="34" charset="-120"/>
              </a:rPr>
              <a:t>Future features are planned enhancements. Current release focuses on the core detection engine and CLI interface.</a:t>
            </a:r>
            <a:endParaRPr lang="en-US" sz="145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61425" y="519807"/>
            <a:ext cx="10868745" cy="295275"/>
          </a:xfrm>
          <a:prstGeom prst="rect">
            <a:avLst/>
          </a:prstGeom>
          <a:noFill/>
          <a:ln/>
        </p:spPr>
        <p:txBody>
          <a:bodyPr wrap="none" lIns="0" tIns="0" rIns="0" bIns="0" rtlCol="0" anchor="t"/>
          <a:lstStyle/>
          <a:p>
            <a:pPr marL="0" indent="0" algn="ctr">
              <a:lnSpc>
                <a:spcPct val="104000"/>
              </a:lnSpc>
              <a:buNone/>
            </a:pPr>
            <a:r>
              <a:rPr lang="en-US" sz="1850" dirty="0">
                <a:solidFill>
                  <a:srgbClr val="1B1B27"/>
                </a:solidFill>
                <a:latin typeface="Raleway" pitchFamily="34" charset="0"/>
                <a:ea typeface="Raleway" pitchFamily="34" charset="-122"/>
                <a:cs typeface="Raleway" pitchFamily="34" charset="-120"/>
              </a:rPr>
              <a:t>SentinelLog</a:t>
            </a:r>
            <a:endParaRPr lang="en-US" sz="1850" dirty="0"/>
          </a:p>
        </p:txBody>
      </p:sp>
      <p:sp>
        <p:nvSpPr>
          <p:cNvPr id="3" name="Text 1"/>
          <p:cNvSpPr/>
          <p:nvPr/>
        </p:nvSpPr>
        <p:spPr>
          <a:xfrm>
            <a:off x="356682" y="909538"/>
            <a:ext cx="11478330" cy="113407"/>
          </a:xfrm>
          <a:prstGeom prst="rect">
            <a:avLst/>
          </a:prstGeom>
          <a:noFill/>
          <a:ln/>
        </p:spPr>
        <p:txBody>
          <a:bodyPr wrap="none" lIns="0" tIns="0" rIns="0" bIns="0" rtlCol="0" anchor="t"/>
          <a:lstStyle/>
          <a:p>
            <a:pPr marL="0" indent="0" algn="ctr">
              <a:lnSpc>
                <a:spcPct val="100000"/>
              </a:lnSpc>
              <a:buNone/>
            </a:pPr>
            <a:r>
              <a:rPr lang="en-US" sz="700" b="1" dirty="0">
                <a:solidFill>
                  <a:srgbClr val="3C3939"/>
                </a:solidFill>
                <a:latin typeface="Roboto Bold" pitchFamily="34" charset="0"/>
                <a:ea typeface="Roboto Bold" pitchFamily="34" charset="-122"/>
                <a:cs typeface="Roboto Bold" pitchFamily="34" charset="-120"/>
              </a:rPr>
              <a:t>Turning authentication telemetry into actionable security signals</a:t>
            </a:r>
            <a:endParaRPr lang="en-US" sz="700" dirty="0"/>
          </a:p>
        </p:txBody>
      </p:sp>
      <p:sp>
        <p:nvSpPr>
          <p:cNvPr id="4" name="Shape 2"/>
          <p:cNvSpPr/>
          <p:nvPr/>
        </p:nvSpPr>
        <p:spPr>
          <a:xfrm>
            <a:off x="4904955" y="1076027"/>
            <a:ext cx="1013494" cy="143470"/>
          </a:xfrm>
          <a:prstGeom prst="roundRect">
            <a:avLst>
              <a:gd name="adj" fmla="val 22134"/>
            </a:avLst>
          </a:prstGeom>
          <a:solidFill>
            <a:srgbClr val="E1E1EA"/>
          </a:solidFill>
          <a:ln/>
        </p:spPr>
        <p:txBody>
          <a:bodyPr/>
          <a:p/>
        </p:txBody>
      </p:sp>
      <p:sp>
        <p:nvSpPr>
          <p:cNvPr id="5" name="Text 3"/>
          <p:cNvSpPr/>
          <p:nvPr/>
        </p:nvSpPr>
        <p:spPr>
          <a:xfrm>
            <a:off x="4961607" y="1104305"/>
            <a:ext cx="1509774" cy="86916"/>
          </a:xfrm>
          <a:prstGeom prst="rect">
            <a:avLst/>
          </a:prstGeom>
          <a:noFill/>
          <a:ln/>
        </p:spPr>
        <p:txBody>
          <a:bodyPr wrap="none" lIns="0" tIns="0" rIns="0" bIns="0" rtlCol="0" anchor="t"/>
          <a:lstStyle/>
          <a:p>
            <a:pPr marL="0" indent="0" algn="l">
              <a:lnSpc>
                <a:spcPct val="96000"/>
              </a:lnSpc>
              <a:buNone/>
            </a:pPr>
            <a:r>
              <a:rPr lang="en-US" sz="550" dirty="0">
                <a:solidFill>
                  <a:srgbClr val="3C3939"/>
                </a:solidFill>
                <a:latin typeface="Roboto" pitchFamily="34" charset="0"/>
                <a:ea typeface="Roboto" pitchFamily="34" charset="-122"/>
                <a:cs typeface="Roboto" pitchFamily="34" charset="-120"/>
              </a:rPr>
              <a:t>DETECTION ENGINEERING</a:t>
            </a:r>
            <a:endParaRPr lang="en-US" sz="550" dirty="0"/>
          </a:p>
        </p:txBody>
      </p:sp>
      <p:sp>
        <p:nvSpPr>
          <p:cNvPr id="6" name="Shape 4"/>
          <p:cNvSpPr/>
          <p:nvPr/>
        </p:nvSpPr>
        <p:spPr>
          <a:xfrm>
            <a:off x="5965676" y="1076027"/>
            <a:ext cx="411648" cy="143470"/>
          </a:xfrm>
          <a:prstGeom prst="roundRect">
            <a:avLst>
              <a:gd name="adj" fmla="val 22134"/>
            </a:avLst>
          </a:prstGeom>
          <a:noFill/>
          <a:ln w="6350">
            <a:solidFill>
              <a:srgbClr val="1B1B27"/>
            </a:solidFill>
            <a:prstDash val="solid"/>
          </a:ln>
        </p:spPr>
        <p:txBody>
          <a:bodyPr/>
          <a:p/>
        </p:txBody>
      </p:sp>
      <p:sp>
        <p:nvSpPr>
          <p:cNvPr id="7" name="Text 5"/>
          <p:cNvSpPr/>
          <p:nvPr/>
        </p:nvSpPr>
        <p:spPr>
          <a:xfrm>
            <a:off x="6022328" y="1104305"/>
            <a:ext cx="907928" cy="86916"/>
          </a:xfrm>
          <a:prstGeom prst="rect">
            <a:avLst/>
          </a:prstGeom>
          <a:noFill/>
          <a:ln/>
        </p:spPr>
        <p:txBody>
          <a:bodyPr wrap="none" lIns="0" tIns="0" rIns="0" bIns="0" rtlCol="0" anchor="t"/>
          <a:lstStyle/>
          <a:p>
            <a:pPr marL="0" indent="0" algn="l">
              <a:lnSpc>
                <a:spcPct val="96000"/>
              </a:lnSpc>
              <a:buNone/>
            </a:pPr>
            <a:r>
              <a:rPr lang="en-US" sz="550" dirty="0">
                <a:solidFill>
                  <a:srgbClr val="1B1B27"/>
                </a:solidFill>
                <a:latin typeface="Roboto" pitchFamily="34" charset="0"/>
                <a:ea typeface="Roboto" pitchFamily="34" charset="-122"/>
                <a:cs typeface="Roboto" pitchFamily="34" charset="-120"/>
              </a:rPr>
              <a:t>PYTHON</a:t>
            </a:r>
            <a:endParaRPr lang="en-US" sz="550" dirty="0"/>
          </a:p>
        </p:txBody>
      </p:sp>
      <p:sp>
        <p:nvSpPr>
          <p:cNvPr id="8" name="Shape 6"/>
          <p:cNvSpPr/>
          <p:nvPr/>
        </p:nvSpPr>
        <p:spPr>
          <a:xfrm>
            <a:off x="6424551" y="1076027"/>
            <a:ext cx="862189" cy="143470"/>
          </a:xfrm>
          <a:prstGeom prst="roundRect">
            <a:avLst>
              <a:gd name="adj" fmla="val 22134"/>
            </a:avLst>
          </a:prstGeom>
          <a:noFill/>
          <a:ln w="6350">
            <a:solidFill>
              <a:srgbClr val="1B1B27"/>
            </a:solidFill>
            <a:prstDash val="solid"/>
          </a:ln>
        </p:spPr>
        <p:txBody>
          <a:bodyPr/>
          <a:p/>
        </p:txBody>
      </p:sp>
      <p:sp>
        <p:nvSpPr>
          <p:cNvPr id="9" name="Text 7"/>
          <p:cNvSpPr/>
          <p:nvPr/>
        </p:nvSpPr>
        <p:spPr>
          <a:xfrm>
            <a:off x="6481203" y="1104305"/>
            <a:ext cx="1358469" cy="86916"/>
          </a:xfrm>
          <a:prstGeom prst="rect">
            <a:avLst/>
          </a:prstGeom>
          <a:noFill/>
          <a:ln/>
        </p:spPr>
        <p:txBody>
          <a:bodyPr wrap="none" lIns="0" tIns="0" rIns="0" bIns="0" rtlCol="0" anchor="t"/>
          <a:lstStyle/>
          <a:p>
            <a:pPr marL="0" indent="0" algn="l">
              <a:lnSpc>
                <a:spcPct val="96000"/>
              </a:lnSpc>
              <a:buNone/>
            </a:pPr>
            <a:r>
              <a:rPr lang="en-US" sz="550" dirty="0">
                <a:solidFill>
                  <a:srgbClr val="1B1B27"/>
                </a:solidFill>
                <a:latin typeface="Roboto" pitchFamily="34" charset="0"/>
                <a:ea typeface="Roboto" pitchFamily="34" charset="-122"/>
                <a:cs typeface="Roboto" pitchFamily="34" charset="-120"/>
              </a:rPr>
              <a:t>DEFENSIVE SECURITY</a:t>
            </a:r>
            <a:endParaRPr lang="en-US" sz="550" dirty="0"/>
          </a:p>
        </p:txBody>
      </p:sp>
      <p:sp>
        <p:nvSpPr>
          <p:cNvPr id="10" name="Shape 8"/>
          <p:cNvSpPr/>
          <p:nvPr/>
        </p:nvSpPr>
        <p:spPr>
          <a:xfrm>
            <a:off x="661475" y="1296194"/>
            <a:ext cx="10868745" cy="12700"/>
          </a:xfrm>
          <a:prstGeom prst="roundRect">
            <a:avLst>
              <a:gd name="adj" fmla="val 49999"/>
            </a:avLst>
          </a:prstGeom>
          <a:solidFill>
            <a:srgbClr val="3C3939">
              <a:alpha val="50000"/>
            </a:srgbClr>
          </a:solidFill>
          <a:ln/>
        </p:spPr>
        <p:txBody>
          <a:bodyPr/>
          <a:p/>
        </p:txBody>
      </p:sp>
      <p:pic>
        <p:nvPicPr>
          <p:cNvPr id="11" name="Picture 10" descr="image.png"/>
          <p:cNvPicPr>
            <a:picLocks noChangeAspect="1"/>
          </p:cNvPicPr>
          <p:nvPr/>
        </p:nvPicPr>
        <p:blipFill>
          <a:blip r:embed="rId2"/>
          <a:srcRect/>
          <a:stretch>
            <a:fillRect/>
          </a:stretch>
        </p:blipFill>
        <p:spPr>
          <a:xfrm>
            <a:off x="3072133" y="1385590"/>
            <a:ext cx="6047331" cy="6047383"/>
          </a:xfrm>
          <a:prstGeom prst="rect">
            <a:avLst/>
          </a:prstGeom>
        </p:spPr>
      </p:pic>
      <p:sp>
        <p:nvSpPr>
          <p:cNvPr id="12" name="Text 9"/>
          <p:cNvSpPr/>
          <p:nvPr/>
        </p:nvSpPr>
        <p:spPr>
          <a:xfrm>
            <a:off x="3659492" y="2475162"/>
            <a:ext cx="1948539" cy="305688"/>
          </a:xfrm>
          <a:prstGeom prst="rect">
            <a:avLst/>
          </a:prstGeom>
          <a:noFill/>
          <a:ln/>
        </p:spPr>
        <p:txBody>
          <a:bodyPr wrap="none" lIns="0" tIns="0" rIns="0" bIns="0" rtlCol="0" anchor="t"/>
          <a:lstStyle/>
          <a:p>
            <a:pPr marL="0" indent="0" algn="ctr">
              <a:lnSpc>
                <a:spcPct val="104000"/>
              </a:lnSpc>
              <a:buNone/>
            </a:pPr>
            <a:r>
              <a:rPr lang="en-US" sz="1900" dirty="0">
                <a:solidFill>
                  <a:srgbClr val="FFFFFF"/>
                </a:solidFill>
                <a:latin typeface="Raleway" pitchFamily="34" charset="0"/>
                <a:ea typeface="Raleway" pitchFamily="34" charset="-122"/>
                <a:cs typeface="Raleway" pitchFamily="34" charset="-120"/>
              </a:rPr>
              <a:t>Telemetry</a:t>
            </a:r>
            <a:endParaRPr lang="en-US" sz="1900" dirty="0"/>
          </a:p>
        </p:txBody>
      </p:sp>
      <p:sp>
        <p:nvSpPr>
          <p:cNvPr id="13" name="Text 10"/>
          <p:cNvSpPr/>
          <p:nvPr/>
        </p:nvSpPr>
        <p:spPr>
          <a:xfrm>
            <a:off x="3659492" y="2867800"/>
            <a:ext cx="1948539" cy="550237"/>
          </a:xfrm>
          <a:prstGeom prst="rect">
            <a:avLst/>
          </a:prstGeom>
          <a:noFill/>
          <a:ln/>
        </p:spPr>
        <p:txBody>
          <a:bodyPr wrap="square" lIns="0" tIns="0" rIns="0" bIns="0" rtlCol="0" anchor="t">
            <a:normAutofit/>
          </a:bodyPr>
          <a:lstStyle/>
          <a:p>
            <a:pPr marL="0" indent="0" algn="ctr">
              <a:lnSpc>
                <a:spcPct val="78000"/>
              </a:lnSpc>
              <a:buNone/>
            </a:pPr>
            <a:r>
              <a:rPr lang="en-US" sz="1500" dirty="0">
                <a:solidFill>
                  <a:srgbClr val="FFFFFF"/>
                </a:solidFill>
                <a:latin typeface="Roboto" pitchFamily="34" charset="0"/>
                <a:ea typeface="Roboto" pitchFamily="34" charset="-122"/>
                <a:cs typeface="Roboto" pitchFamily="34" charset="-120"/>
              </a:rPr>
              <a:t>Collect raw authentication events from sources.</a:t>
            </a:r>
            <a:endParaRPr lang="en-US" sz="1500" dirty="0"/>
          </a:p>
        </p:txBody>
      </p:sp>
      <p:sp>
        <p:nvSpPr>
          <p:cNvPr id="14" name="Text 11"/>
          <p:cNvSpPr/>
          <p:nvPr/>
        </p:nvSpPr>
        <p:spPr>
          <a:xfrm>
            <a:off x="6594018" y="2475162"/>
            <a:ext cx="1948539" cy="305688"/>
          </a:xfrm>
          <a:prstGeom prst="rect">
            <a:avLst/>
          </a:prstGeom>
          <a:noFill/>
          <a:ln/>
        </p:spPr>
        <p:txBody>
          <a:bodyPr wrap="none" lIns="0" tIns="0" rIns="0" bIns="0" rtlCol="0" anchor="t"/>
          <a:lstStyle/>
          <a:p>
            <a:pPr marL="0" indent="0" algn="ctr">
              <a:lnSpc>
                <a:spcPct val="104000"/>
              </a:lnSpc>
              <a:buNone/>
            </a:pPr>
            <a:r>
              <a:rPr lang="en-US" sz="1900" dirty="0">
                <a:solidFill>
                  <a:srgbClr val="FFFFFF"/>
                </a:solidFill>
                <a:latin typeface="Raleway" pitchFamily="34" charset="0"/>
                <a:ea typeface="Raleway" pitchFamily="34" charset="-122"/>
                <a:cs typeface="Raleway" pitchFamily="34" charset="-120"/>
              </a:rPr>
              <a:t>Parse</a:t>
            </a:r>
            <a:endParaRPr lang="en-US" sz="1900" dirty="0"/>
          </a:p>
        </p:txBody>
      </p:sp>
      <p:sp>
        <p:nvSpPr>
          <p:cNvPr id="15" name="Text 12"/>
          <p:cNvSpPr/>
          <p:nvPr/>
        </p:nvSpPr>
        <p:spPr>
          <a:xfrm>
            <a:off x="6594018" y="2867800"/>
            <a:ext cx="1948539" cy="550237"/>
          </a:xfrm>
          <a:prstGeom prst="rect">
            <a:avLst/>
          </a:prstGeom>
          <a:noFill/>
          <a:ln/>
        </p:spPr>
        <p:txBody>
          <a:bodyPr wrap="square" lIns="0" tIns="0" rIns="0" bIns="0" rtlCol="0" anchor="t">
            <a:normAutofit/>
          </a:bodyPr>
          <a:lstStyle/>
          <a:p>
            <a:pPr marL="0" indent="0" algn="ctr">
              <a:lnSpc>
                <a:spcPct val="78000"/>
              </a:lnSpc>
              <a:buNone/>
            </a:pPr>
            <a:r>
              <a:rPr lang="en-US" sz="1500" dirty="0">
                <a:solidFill>
                  <a:srgbClr val="FFFFFF"/>
                </a:solidFill>
                <a:latin typeface="Roboto" pitchFamily="34" charset="0"/>
                <a:ea typeface="Roboto" pitchFamily="34" charset="-122"/>
                <a:cs typeface="Roboto" pitchFamily="34" charset="-120"/>
              </a:rPr>
              <a:t>Normalize logs into structured fields for analysis.</a:t>
            </a:r>
            <a:endParaRPr lang="en-US" sz="1500" dirty="0"/>
          </a:p>
        </p:txBody>
      </p:sp>
      <p:sp>
        <p:nvSpPr>
          <p:cNvPr id="16" name="Text 13"/>
          <p:cNvSpPr/>
          <p:nvPr/>
        </p:nvSpPr>
        <p:spPr>
          <a:xfrm>
            <a:off x="3659662" y="5409591"/>
            <a:ext cx="1948538" cy="305688"/>
          </a:xfrm>
          <a:prstGeom prst="rect">
            <a:avLst/>
          </a:prstGeom>
          <a:noFill/>
          <a:ln/>
        </p:spPr>
        <p:txBody>
          <a:bodyPr wrap="none" lIns="0" tIns="0" rIns="0" bIns="0" rtlCol="0" anchor="t"/>
          <a:lstStyle/>
          <a:p>
            <a:pPr marL="0" indent="0" algn="ctr">
              <a:lnSpc>
                <a:spcPct val="104000"/>
              </a:lnSpc>
              <a:buNone/>
            </a:pPr>
            <a:r>
              <a:rPr lang="en-US" sz="1900" dirty="0">
                <a:solidFill>
                  <a:srgbClr val="FFFFFF"/>
                </a:solidFill>
                <a:latin typeface="Raleway" pitchFamily="34" charset="0"/>
                <a:ea typeface="Raleway" pitchFamily="34" charset="-122"/>
                <a:cs typeface="Raleway" pitchFamily="34" charset="-120"/>
              </a:rPr>
              <a:t>Correlate</a:t>
            </a:r>
            <a:endParaRPr lang="en-US" sz="1900" dirty="0"/>
          </a:p>
        </p:txBody>
      </p:sp>
      <p:sp>
        <p:nvSpPr>
          <p:cNvPr id="17" name="Text 14"/>
          <p:cNvSpPr/>
          <p:nvPr/>
        </p:nvSpPr>
        <p:spPr>
          <a:xfrm>
            <a:off x="3659662" y="5802230"/>
            <a:ext cx="1948538" cy="550237"/>
          </a:xfrm>
          <a:prstGeom prst="rect">
            <a:avLst/>
          </a:prstGeom>
          <a:noFill/>
          <a:ln/>
        </p:spPr>
        <p:txBody>
          <a:bodyPr wrap="square" lIns="0" tIns="0" rIns="0" bIns="0" rtlCol="0" anchor="t">
            <a:normAutofit/>
          </a:bodyPr>
          <a:lstStyle/>
          <a:p>
            <a:pPr marL="0" indent="0" algn="ctr">
              <a:lnSpc>
                <a:spcPct val="78000"/>
              </a:lnSpc>
              <a:buNone/>
            </a:pPr>
            <a:r>
              <a:rPr lang="en-US" sz="1500" dirty="0">
                <a:solidFill>
                  <a:srgbClr val="FFFFFF"/>
                </a:solidFill>
                <a:latin typeface="Roboto" pitchFamily="34" charset="0"/>
                <a:ea typeface="Roboto" pitchFamily="34" charset="-122"/>
                <a:cs typeface="Roboto" pitchFamily="34" charset="-120"/>
              </a:rPr>
              <a:t>Link related events across time and entities.</a:t>
            </a:r>
            <a:endParaRPr lang="en-US" sz="1500" dirty="0"/>
          </a:p>
        </p:txBody>
      </p:sp>
      <p:sp>
        <p:nvSpPr>
          <p:cNvPr id="18" name="Text 15"/>
          <p:cNvSpPr/>
          <p:nvPr/>
        </p:nvSpPr>
        <p:spPr>
          <a:xfrm>
            <a:off x="6594018" y="5409591"/>
            <a:ext cx="1948539" cy="305688"/>
          </a:xfrm>
          <a:prstGeom prst="rect">
            <a:avLst/>
          </a:prstGeom>
          <a:noFill/>
          <a:ln/>
        </p:spPr>
        <p:txBody>
          <a:bodyPr wrap="none" lIns="0" tIns="0" rIns="0" bIns="0" rtlCol="0" anchor="t"/>
          <a:lstStyle/>
          <a:p>
            <a:pPr marL="0" indent="0" algn="ctr">
              <a:lnSpc>
                <a:spcPct val="104000"/>
              </a:lnSpc>
              <a:buNone/>
            </a:pPr>
            <a:r>
              <a:rPr lang="en-US" sz="1900" dirty="0">
                <a:solidFill>
                  <a:srgbClr val="FFFFFF"/>
                </a:solidFill>
                <a:latin typeface="Raleway" pitchFamily="34" charset="0"/>
                <a:ea typeface="Raleway" pitchFamily="34" charset="-122"/>
                <a:cs typeface="Raleway" pitchFamily="34" charset="-120"/>
              </a:rPr>
              <a:t>Detect</a:t>
            </a:r>
            <a:endParaRPr lang="en-US" sz="1900" dirty="0"/>
          </a:p>
        </p:txBody>
      </p:sp>
      <p:sp>
        <p:nvSpPr>
          <p:cNvPr id="19" name="Text 16"/>
          <p:cNvSpPr/>
          <p:nvPr/>
        </p:nvSpPr>
        <p:spPr>
          <a:xfrm>
            <a:off x="6594018" y="5802230"/>
            <a:ext cx="1948539" cy="550237"/>
          </a:xfrm>
          <a:prstGeom prst="rect">
            <a:avLst/>
          </a:prstGeom>
          <a:noFill/>
          <a:ln/>
        </p:spPr>
        <p:txBody>
          <a:bodyPr wrap="square" lIns="0" tIns="0" rIns="0" bIns="0" rtlCol="0" anchor="t">
            <a:normAutofit/>
          </a:bodyPr>
          <a:lstStyle/>
          <a:p>
            <a:pPr marL="0" indent="0" algn="ctr">
              <a:lnSpc>
                <a:spcPct val="78000"/>
              </a:lnSpc>
              <a:buNone/>
            </a:pPr>
            <a:r>
              <a:rPr lang="en-US" sz="1500" dirty="0">
                <a:solidFill>
                  <a:srgbClr val="FFFFFF"/>
                </a:solidFill>
                <a:latin typeface="Roboto" pitchFamily="34" charset="0"/>
                <a:ea typeface="Roboto" pitchFamily="34" charset="-122"/>
                <a:cs typeface="Roboto" pitchFamily="34" charset="-120"/>
              </a:rPr>
              <a:t>Identify suspicious patterns and anomalies.</a:t>
            </a:r>
            <a:endParaRPr lang="en-US" sz="1500" dirty="0"/>
          </a:p>
        </p:txBody>
      </p:sp>
      <p:sp>
        <p:nvSpPr>
          <p:cNvPr id="20" name="Shape 17"/>
          <p:cNvSpPr/>
          <p:nvPr/>
        </p:nvSpPr>
        <p:spPr>
          <a:xfrm>
            <a:off x="661475" y="7509669"/>
            <a:ext cx="10868745" cy="12700"/>
          </a:xfrm>
          <a:prstGeom prst="roundRect">
            <a:avLst>
              <a:gd name="adj" fmla="val 49999"/>
            </a:avLst>
          </a:prstGeom>
          <a:solidFill>
            <a:srgbClr val="3C3939">
              <a:alpha val="50000"/>
            </a:srgbClr>
          </a:solidFill>
          <a:ln/>
        </p:spPr>
        <p:txBody>
          <a:bodyPr/>
          <a:p/>
        </p:txBody>
      </p:sp>
      <p:sp>
        <p:nvSpPr>
          <p:cNvPr id="21" name="Text 18"/>
          <p:cNvSpPr/>
          <p:nvPr/>
        </p:nvSpPr>
        <p:spPr>
          <a:xfrm>
            <a:off x="661475" y="7646293"/>
            <a:ext cx="5319083" cy="147638"/>
          </a:xfrm>
          <a:prstGeom prst="rect">
            <a:avLst/>
          </a:prstGeom>
          <a:noFill/>
          <a:ln/>
        </p:spPr>
        <p:txBody>
          <a:bodyPr wrap="none" lIns="0" tIns="0" rIns="0" bIns="0" rtlCol="0" anchor="t"/>
          <a:lstStyle/>
          <a:p>
            <a:pPr marL="0" indent="0" algn="l">
              <a:lnSpc>
                <a:spcPct val="104000"/>
              </a:lnSpc>
              <a:buNone/>
            </a:pPr>
            <a:r>
              <a:rPr lang="en-US" sz="900" dirty="0">
                <a:solidFill>
                  <a:srgbClr val="64C8FF"/>
                </a:solidFill>
                <a:latin typeface="Raleway" pitchFamily="34" charset="0"/>
                <a:ea typeface="Raleway" pitchFamily="34" charset="-122"/>
                <a:cs typeface="Raleway" pitchFamily="34" charset="-120"/>
              </a:rPr>
              <a:t>GitHub Repository</a:t>
            </a:r>
            <a:endParaRPr lang="en-US" sz="900" dirty="0"/>
          </a:p>
        </p:txBody>
      </p:sp>
      <p:sp>
        <p:nvSpPr>
          <p:cNvPr id="22" name="Text 19"/>
          <p:cNvSpPr/>
          <p:nvPr/>
        </p:nvSpPr>
        <p:spPr>
          <a:xfrm>
            <a:off x="661475" y="7841159"/>
            <a:ext cx="5928668" cy="113407"/>
          </a:xfrm>
          <a:prstGeom prst="rect">
            <a:avLst/>
          </a:prstGeom>
          <a:noFill/>
          <a:ln/>
        </p:spPr>
        <p:txBody>
          <a:bodyPr wrap="none" lIns="0" tIns="0" rIns="0" bIns="0" rtlCol="0" anchor="t"/>
          <a:lstStyle/>
          <a:p>
            <a:pPr marL="0" indent="0" algn="l">
              <a:lnSpc>
                <a:spcPct val="100000"/>
              </a:lnSpc>
              <a:buNone/>
            </a:pPr>
            <a:r>
              <a:rPr lang="en-US" sz="700" b="1" u="sng" dirty="0">
                <a:solidFill>
                  <a:srgbClr val="1B1B27"/>
                </a:solidFill>
                <a:latin typeface="Roboto Bold" pitchFamily="34" charset="0"/>
                <a:ea typeface="Roboto Bold" pitchFamily="34" charset="-122"/>
                <a:cs typeface="Roboto Bold" pitchFamily="34" charset="-120"/>
                <a:hlinkClick r:id="rId4">
                  <a:extLst>
                    <a:ext uri="{A12FA001-AC4F-418D-AE19-62706E023703}">
                      <ahyp:hlinkClr xmlns:ahyp="http://schemas.microsoft.com/office/drawing/2018/hyperlinkcolor" val="tx"/>
                    </a:ext>
                  </a:extLst>
                </a:hlinkClick>
              </a:rPr>
              <a:t>github.com/DebrajDutta-Developer/SentinelLog</a:t>
            </a:r>
            <a:endParaRPr lang="en-US" sz="700" dirty="0"/>
          </a:p>
        </p:txBody>
      </p:sp>
      <p:sp>
        <p:nvSpPr>
          <p:cNvPr id="23" name="Text 20"/>
          <p:cNvSpPr/>
          <p:nvPr/>
        </p:nvSpPr>
        <p:spPr>
          <a:xfrm>
            <a:off x="6217487" y="7646293"/>
            <a:ext cx="5319083" cy="147638"/>
          </a:xfrm>
          <a:prstGeom prst="rect">
            <a:avLst/>
          </a:prstGeom>
          <a:noFill/>
          <a:ln/>
        </p:spPr>
        <p:txBody>
          <a:bodyPr wrap="none" lIns="0" tIns="0" rIns="0" bIns="0" rtlCol="0" anchor="t"/>
          <a:lstStyle/>
          <a:p>
            <a:pPr marL="0" indent="0" algn="l">
              <a:lnSpc>
                <a:spcPct val="104000"/>
              </a:lnSpc>
              <a:buNone/>
            </a:pPr>
            <a:r>
              <a:rPr lang="en-US" sz="900" dirty="0">
                <a:solidFill>
                  <a:srgbClr val="00D9FF"/>
                </a:solidFill>
                <a:latin typeface="Raleway" pitchFamily="34" charset="0"/>
                <a:ea typeface="Raleway" pitchFamily="34" charset="-122"/>
                <a:cs typeface="Raleway" pitchFamily="34" charset="-120"/>
              </a:rPr>
              <a:t>Author</a:t>
            </a:r>
            <a:endParaRPr lang="en-US" sz="900" dirty="0"/>
          </a:p>
        </p:txBody>
      </p:sp>
      <p:sp>
        <p:nvSpPr>
          <p:cNvPr id="24" name="Text 21"/>
          <p:cNvSpPr/>
          <p:nvPr/>
        </p:nvSpPr>
        <p:spPr>
          <a:xfrm>
            <a:off x="6217487" y="7841159"/>
            <a:ext cx="5928668" cy="113407"/>
          </a:xfrm>
          <a:prstGeom prst="rect">
            <a:avLst/>
          </a:prstGeom>
          <a:noFill/>
          <a:ln/>
        </p:spPr>
        <p:txBody>
          <a:bodyPr wrap="none" lIns="0" tIns="0" rIns="0" bIns="0" rtlCol="0" anchor="t"/>
          <a:lstStyle/>
          <a:p>
            <a:pPr marL="0" indent="0" algn="l">
              <a:lnSpc>
                <a:spcPct val="100000"/>
              </a:lnSpc>
              <a:buNone/>
            </a:pPr>
            <a:r>
              <a:rPr lang="en-US" sz="700" b="1" dirty="0">
                <a:solidFill>
                  <a:srgbClr val="3C3939"/>
                </a:solidFill>
                <a:latin typeface="Roboto Bold" pitchFamily="34" charset="0"/>
                <a:ea typeface="Roboto Bold" pitchFamily="34" charset="-122"/>
                <a:cs typeface="Roboto Bold" pitchFamily="34" charset="-120"/>
              </a:rPr>
              <a:t>Debraj Dutta</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2026-10-03T02:59:04Z</dcterms:created>
  <dcterms:modified xsi:type="dcterms:W3CDTF">2026-10-03T02:59:04Z</dcterms:modified>
</cp:coreProperties>
</file>